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sldIdLst>
    <p:sldId id="256" r:id="rId2"/>
    <p:sldId id="363" r:id="rId3"/>
    <p:sldId id="364" r:id="rId4"/>
    <p:sldId id="374" r:id="rId5"/>
    <p:sldId id="259" r:id="rId6"/>
    <p:sldId id="261" r:id="rId7"/>
    <p:sldId id="276" r:id="rId8"/>
    <p:sldId id="277" r:id="rId9"/>
    <p:sldId id="267" r:id="rId10"/>
    <p:sldId id="365" r:id="rId11"/>
    <p:sldId id="282" r:id="rId12"/>
    <p:sldId id="299" r:id="rId13"/>
    <p:sldId id="302" r:id="rId14"/>
    <p:sldId id="326" r:id="rId15"/>
    <p:sldId id="327" r:id="rId16"/>
    <p:sldId id="367" r:id="rId17"/>
    <p:sldId id="331" r:id="rId18"/>
    <p:sldId id="332" r:id="rId19"/>
    <p:sldId id="333" r:id="rId20"/>
    <p:sldId id="334" r:id="rId21"/>
    <p:sldId id="344" r:id="rId22"/>
    <p:sldId id="346" r:id="rId23"/>
    <p:sldId id="353" r:id="rId24"/>
    <p:sldId id="354" r:id="rId25"/>
    <p:sldId id="352" r:id="rId26"/>
    <p:sldId id="357" r:id="rId27"/>
    <p:sldId id="359" r:id="rId28"/>
    <p:sldId id="371" r:id="rId29"/>
    <p:sldId id="358" r:id="rId30"/>
    <p:sldId id="372" r:id="rId31"/>
    <p:sldId id="369" r:id="rId32"/>
    <p:sldId id="262" r:id="rId33"/>
    <p:sldId id="263" r:id="rId34"/>
    <p:sldId id="270" r:id="rId35"/>
    <p:sldId id="271" r:id="rId36"/>
    <p:sldId id="273" r:id="rId37"/>
    <p:sldId id="272" r:id="rId38"/>
    <p:sldId id="366" r:id="rId39"/>
    <p:sldId id="284" r:id="rId40"/>
    <p:sldId id="286" r:id="rId41"/>
    <p:sldId id="297" r:id="rId42"/>
    <p:sldId id="319" r:id="rId43"/>
    <p:sldId id="321" r:id="rId44"/>
    <p:sldId id="323" r:id="rId45"/>
    <p:sldId id="370" r:id="rId46"/>
    <p:sldId id="368" r:id="rId47"/>
    <p:sldId id="289" r:id="rId48"/>
    <p:sldId id="292"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819"/>
    <a:srgbClr val="D98207"/>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59B91A-D029-4229-84FA-359D2271DBC2}"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5CB3AAC4-48A9-4563-8DA4-625B11FAE5B2}">
      <dgm:prSet phldrT="[Text]"/>
      <dgm:spPr/>
      <dgm:t>
        <a:bodyPr/>
        <a:lstStyle/>
        <a:p>
          <a:r>
            <a:rPr lang="en-IN" b="1" dirty="0">
              <a:latin typeface="Arial" panose="020B0604020202020204" pitchFamily="34" charset="0"/>
              <a:cs typeface="Arial" panose="020B0604020202020204" pitchFamily="34" charset="0"/>
            </a:rPr>
            <a:t>Necessary conditions</a:t>
          </a:r>
          <a:endParaRPr lang="en-IN" dirty="0"/>
        </a:p>
      </dgm:t>
    </dgm:pt>
    <dgm:pt modelId="{F559B4D4-5A4C-4E18-AB31-316A0D988089}" type="parTrans" cxnId="{F989731E-0B54-4592-BA5A-AB78BF5D5139}">
      <dgm:prSet/>
      <dgm:spPr/>
      <dgm:t>
        <a:bodyPr/>
        <a:lstStyle/>
        <a:p>
          <a:endParaRPr lang="en-IN"/>
        </a:p>
      </dgm:t>
    </dgm:pt>
    <dgm:pt modelId="{E0EEC61F-2ECB-4F17-B4ED-4B90B4F9F2BC}" type="sibTrans" cxnId="{F989731E-0B54-4592-BA5A-AB78BF5D5139}">
      <dgm:prSet/>
      <dgm:spPr/>
      <dgm:t>
        <a:bodyPr/>
        <a:lstStyle/>
        <a:p>
          <a:endParaRPr lang="en-IN"/>
        </a:p>
      </dgm:t>
    </dgm:pt>
    <dgm:pt modelId="{F1ED698D-ED22-443B-8504-52E562A30465}">
      <dgm:prSet phldrT="[Text]" custT="1"/>
      <dgm:spPr/>
      <dgm:t>
        <a:bodyPr/>
        <a:lstStyle/>
        <a:p>
          <a:r>
            <a:rPr lang="en-IN" sz="2000" dirty="0"/>
            <a:t>The potential curve is monotonically decreasing</a:t>
          </a:r>
        </a:p>
      </dgm:t>
    </dgm:pt>
    <dgm:pt modelId="{6A70EDFB-6F38-4579-B20E-574550F8B9D3}" type="parTrans" cxnId="{D2CCD240-49C6-4ECF-A851-C302E0E58C86}">
      <dgm:prSet/>
      <dgm:spPr/>
      <dgm:t>
        <a:bodyPr/>
        <a:lstStyle/>
        <a:p>
          <a:endParaRPr lang="en-IN"/>
        </a:p>
      </dgm:t>
    </dgm:pt>
    <dgm:pt modelId="{7885DB43-6C8B-417A-8FF1-9A45DC1A807D}" type="sibTrans" cxnId="{D2CCD240-49C6-4ECF-A851-C302E0E58C86}">
      <dgm:prSet/>
      <dgm:spPr/>
      <dgm:t>
        <a:bodyPr/>
        <a:lstStyle/>
        <a:p>
          <a:endParaRPr lang="en-IN"/>
        </a:p>
      </dgm:t>
    </dgm:pt>
    <dgm:pt modelId="{31720A31-9BBB-4D18-83DB-99CE6C8C7C06}">
      <dgm:prSet phldrT="[Text]"/>
      <dgm:spPr/>
      <dgm:t>
        <a:bodyPr/>
        <a:lstStyle/>
        <a:p>
          <a:r>
            <a:rPr lang="en-IN" b="1" dirty="0">
              <a:latin typeface="Arial" panose="020B0604020202020204" pitchFamily="34" charset="0"/>
              <a:cs typeface="Arial" panose="020B0604020202020204" pitchFamily="34" charset="0"/>
            </a:rPr>
            <a:t>Thomson’s theorem</a:t>
          </a:r>
          <a:endParaRPr lang="en-IN" dirty="0"/>
        </a:p>
      </dgm:t>
    </dgm:pt>
    <dgm:pt modelId="{2AD8A155-DE27-407D-BB50-3A32AF8CFC91}" type="parTrans" cxnId="{A1760B90-3F43-420F-9C68-21C712EF08E8}">
      <dgm:prSet/>
      <dgm:spPr/>
      <dgm:t>
        <a:bodyPr/>
        <a:lstStyle/>
        <a:p>
          <a:endParaRPr lang="en-IN"/>
        </a:p>
      </dgm:t>
    </dgm:pt>
    <dgm:pt modelId="{4DAF8A68-FF72-47F0-A1BD-C8F4F7DEAC8B}" type="sibTrans" cxnId="{A1760B90-3F43-420F-9C68-21C712EF08E8}">
      <dgm:prSet/>
      <dgm:spPr/>
      <dgm:t>
        <a:bodyPr/>
        <a:lstStyle/>
        <a:p>
          <a:endParaRPr lang="en-IN"/>
        </a:p>
      </dgm:t>
    </dgm:pt>
    <dgm:pt modelId="{503F0344-4BC8-4853-8790-4F5D4312B452}">
      <dgm:prSet phldrT="[Text]" custT="1"/>
      <dgm:spPr/>
      <dgm:t>
        <a:bodyPr/>
        <a:lstStyle/>
        <a:p>
          <a:r>
            <a:rPr lang="en-IN" sz="2000" dirty="0"/>
            <a:t>The potential curve will follow the shape with minimum energy</a:t>
          </a:r>
        </a:p>
      </dgm:t>
    </dgm:pt>
    <dgm:pt modelId="{71D6FFF1-626F-4415-995A-15F7D2B57CEF}" type="parTrans" cxnId="{D46E000B-5CF5-4592-94AD-CE1F6142DF1C}">
      <dgm:prSet/>
      <dgm:spPr/>
      <dgm:t>
        <a:bodyPr/>
        <a:lstStyle/>
        <a:p>
          <a:endParaRPr lang="en-IN"/>
        </a:p>
      </dgm:t>
    </dgm:pt>
    <dgm:pt modelId="{DED1CD9B-62F0-49A8-9C55-8DECCDC36F24}" type="sibTrans" cxnId="{D46E000B-5CF5-4592-94AD-CE1F6142DF1C}">
      <dgm:prSet/>
      <dgm:spPr/>
      <dgm:t>
        <a:bodyPr/>
        <a:lstStyle/>
        <a:p>
          <a:endParaRPr lang="en-IN"/>
        </a:p>
      </dgm:t>
    </dgm:pt>
    <dgm:pt modelId="{9FD708EF-C3C4-45DD-AEBD-72E4616E3FA4}">
      <dgm:prSet custT="1"/>
      <dgm:spPr/>
      <dgm:t>
        <a:bodyPr/>
        <a:lstStyle/>
        <a:p>
          <a:r>
            <a:rPr lang="en-IN" sz="2000" dirty="0"/>
            <a:t>The potential curve is convex</a:t>
          </a:r>
        </a:p>
      </dgm:t>
    </dgm:pt>
    <dgm:pt modelId="{4BC68F95-A1E9-4C51-BD96-842B9EF6C5C5}" type="parTrans" cxnId="{1143048D-4C97-4AF5-BAEE-606974329A3D}">
      <dgm:prSet/>
      <dgm:spPr/>
      <dgm:t>
        <a:bodyPr/>
        <a:lstStyle/>
        <a:p>
          <a:endParaRPr lang="en-IN"/>
        </a:p>
      </dgm:t>
    </dgm:pt>
    <dgm:pt modelId="{F131F090-1782-4AEB-B2B4-3B5CF3BECA15}" type="sibTrans" cxnId="{1143048D-4C97-4AF5-BAEE-606974329A3D}">
      <dgm:prSet/>
      <dgm:spPr/>
      <dgm:t>
        <a:bodyPr/>
        <a:lstStyle/>
        <a:p>
          <a:endParaRPr lang="en-IN"/>
        </a:p>
      </dgm:t>
    </dgm:pt>
    <dgm:pt modelId="{E844C04F-12CB-4117-BD1E-01E41960E6E6}" type="pres">
      <dgm:prSet presAssocID="{CF59B91A-D029-4229-84FA-359D2271DBC2}" presName="Name0" presStyleCnt="0">
        <dgm:presLayoutVars>
          <dgm:dir/>
          <dgm:animLvl val="lvl"/>
          <dgm:resizeHandles val="exact"/>
        </dgm:presLayoutVars>
      </dgm:prSet>
      <dgm:spPr/>
    </dgm:pt>
    <dgm:pt modelId="{3C7CADE3-999C-4182-A8B5-7F120B424B23}" type="pres">
      <dgm:prSet presAssocID="{5CB3AAC4-48A9-4563-8DA4-625B11FAE5B2}" presName="linNode" presStyleCnt="0"/>
      <dgm:spPr/>
    </dgm:pt>
    <dgm:pt modelId="{8AA421FB-C938-4447-BCBB-EA6EA59A0CD6}" type="pres">
      <dgm:prSet presAssocID="{5CB3AAC4-48A9-4563-8DA4-625B11FAE5B2}" presName="parTx" presStyleLbl="revTx" presStyleIdx="0" presStyleCnt="2">
        <dgm:presLayoutVars>
          <dgm:chMax val="1"/>
          <dgm:bulletEnabled val="1"/>
        </dgm:presLayoutVars>
      </dgm:prSet>
      <dgm:spPr/>
    </dgm:pt>
    <dgm:pt modelId="{00241EAC-65EC-452D-8832-0F8A054C2F72}" type="pres">
      <dgm:prSet presAssocID="{5CB3AAC4-48A9-4563-8DA4-625B11FAE5B2}" presName="bracket" presStyleLbl="parChTrans1D1" presStyleIdx="0" presStyleCnt="2"/>
      <dgm:spPr/>
    </dgm:pt>
    <dgm:pt modelId="{F216AA26-1CEF-4092-A35A-F25A60605A00}" type="pres">
      <dgm:prSet presAssocID="{5CB3AAC4-48A9-4563-8DA4-625B11FAE5B2}" presName="spH" presStyleCnt="0"/>
      <dgm:spPr/>
    </dgm:pt>
    <dgm:pt modelId="{241D0816-5C4C-4E06-B318-71C5FE239D92}" type="pres">
      <dgm:prSet presAssocID="{5CB3AAC4-48A9-4563-8DA4-625B11FAE5B2}" presName="desTx" presStyleLbl="node1" presStyleIdx="0" presStyleCnt="2">
        <dgm:presLayoutVars>
          <dgm:bulletEnabled val="1"/>
        </dgm:presLayoutVars>
      </dgm:prSet>
      <dgm:spPr/>
    </dgm:pt>
    <dgm:pt modelId="{6D9D3899-E38B-4EF1-8FA7-E48862F8A5D0}" type="pres">
      <dgm:prSet presAssocID="{E0EEC61F-2ECB-4F17-B4ED-4B90B4F9F2BC}" presName="spV" presStyleCnt="0"/>
      <dgm:spPr/>
    </dgm:pt>
    <dgm:pt modelId="{0ED168EE-8D75-4A5D-95F1-035EF0E03BFA}" type="pres">
      <dgm:prSet presAssocID="{31720A31-9BBB-4D18-83DB-99CE6C8C7C06}" presName="linNode" presStyleCnt="0"/>
      <dgm:spPr/>
    </dgm:pt>
    <dgm:pt modelId="{6D2BFCA7-B4E3-46C3-9B57-70E0710FD5E8}" type="pres">
      <dgm:prSet presAssocID="{31720A31-9BBB-4D18-83DB-99CE6C8C7C06}" presName="parTx" presStyleLbl="revTx" presStyleIdx="1" presStyleCnt="2">
        <dgm:presLayoutVars>
          <dgm:chMax val="1"/>
          <dgm:bulletEnabled val="1"/>
        </dgm:presLayoutVars>
      </dgm:prSet>
      <dgm:spPr/>
    </dgm:pt>
    <dgm:pt modelId="{9289C64A-6798-4175-983A-3E2CB6BECB5B}" type="pres">
      <dgm:prSet presAssocID="{31720A31-9BBB-4D18-83DB-99CE6C8C7C06}" presName="bracket" presStyleLbl="parChTrans1D1" presStyleIdx="1" presStyleCnt="2"/>
      <dgm:spPr/>
    </dgm:pt>
    <dgm:pt modelId="{43119472-6283-43A6-8174-21333D378B08}" type="pres">
      <dgm:prSet presAssocID="{31720A31-9BBB-4D18-83DB-99CE6C8C7C06}" presName="spH" presStyleCnt="0"/>
      <dgm:spPr/>
    </dgm:pt>
    <dgm:pt modelId="{3BA7FACA-0640-4BE0-8C94-A6C21746E7A8}" type="pres">
      <dgm:prSet presAssocID="{31720A31-9BBB-4D18-83DB-99CE6C8C7C06}" presName="desTx" presStyleLbl="node1" presStyleIdx="1" presStyleCnt="2">
        <dgm:presLayoutVars>
          <dgm:bulletEnabled val="1"/>
        </dgm:presLayoutVars>
      </dgm:prSet>
      <dgm:spPr/>
    </dgm:pt>
  </dgm:ptLst>
  <dgm:cxnLst>
    <dgm:cxn modelId="{D46E000B-5CF5-4592-94AD-CE1F6142DF1C}" srcId="{31720A31-9BBB-4D18-83DB-99CE6C8C7C06}" destId="{503F0344-4BC8-4853-8790-4F5D4312B452}" srcOrd="0" destOrd="0" parTransId="{71D6FFF1-626F-4415-995A-15F7D2B57CEF}" sibTransId="{DED1CD9B-62F0-49A8-9C55-8DECCDC36F24}"/>
    <dgm:cxn modelId="{32602C0B-8387-40C2-8EAD-D90168A51887}" type="presOf" srcId="{5CB3AAC4-48A9-4563-8DA4-625B11FAE5B2}" destId="{8AA421FB-C938-4447-BCBB-EA6EA59A0CD6}" srcOrd="0" destOrd="0" presId="urn:diagrams.loki3.com/BracketList"/>
    <dgm:cxn modelId="{F989731E-0B54-4592-BA5A-AB78BF5D5139}" srcId="{CF59B91A-D029-4229-84FA-359D2271DBC2}" destId="{5CB3AAC4-48A9-4563-8DA4-625B11FAE5B2}" srcOrd="0" destOrd="0" parTransId="{F559B4D4-5A4C-4E18-AB31-316A0D988089}" sibTransId="{E0EEC61F-2ECB-4F17-B4ED-4B90B4F9F2BC}"/>
    <dgm:cxn modelId="{531D7C22-9551-4B4B-AC13-098C5E20957D}" type="presOf" srcId="{F1ED698D-ED22-443B-8504-52E562A30465}" destId="{241D0816-5C4C-4E06-B318-71C5FE239D92}" srcOrd="0" destOrd="0" presId="urn:diagrams.loki3.com/BracketList"/>
    <dgm:cxn modelId="{4CB8D72D-33BD-4F3F-8813-A84742658CC5}" type="presOf" srcId="{503F0344-4BC8-4853-8790-4F5D4312B452}" destId="{3BA7FACA-0640-4BE0-8C94-A6C21746E7A8}" srcOrd="0" destOrd="0" presId="urn:diagrams.loki3.com/BracketList"/>
    <dgm:cxn modelId="{D2CCD240-49C6-4ECF-A851-C302E0E58C86}" srcId="{5CB3AAC4-48A9-4563-8DA4-625B11FAE5B2}" destId="{F1ED698D-ED22-443B-8504-52E562A30465}" srcOrd="0" destOrd="0" parTransId="{6A70EDFB-6F38-4579-B20E-574550F8B9D3}" sibTransId="{7885DB43-6C8B-417A-8FF1-9A45DC1A807D}"/>
    <dgm:cxn modelId="{3D52F368-9E62-462D-B929-AC775957A260}" type="presOf" srcId="{CF59B91A-D029-4229-84FA-359D2271DBC2}" destId="{E844C04F-12CB-4117-BD1E-01E41960E6E6}" srcOrd="0" destOrd="0" presId="urn:diagrams.loki3.com/BracketList"/>
    <dgm:cxn modelId="{1143048D-4C97-4AF5-BAEE-606974329A3D}" srcId="{5CB3AAC4-48A9-4563-8DA4-625B11FAE5B2}" destId="{9FD708EF-C3C4-45DD-AEBD-72E4616E3FA4}" srcOrd="1" destOrd="0" parTransId="{4BC68F95-A1E9-4C51-BD96-842B9EF6C5C5}" sibTransId="{F131F090-1782-4AEB-B2B4-3B5CF3BECA15}"/>
    <dgm:cxn modelId="{A1760B90-3F43-420F-9C68-21C712EF08E8}" srcId="{CF59B91A-D029-4229-84FA-359D2271DBC2}" destId="{31720A31-9BBB-4D18-83DB-99CE6C8C7C06}" srcOrd="1" destOrd="0" parTransId="{2AD8A155-DE27-407D-BB50-3A32AF8CFC91}" sibTransId="{4DAF8A68-FF72-47F0-A1BD-C8F4F7DEAC8B}"/>
    <dgm:cxn modelId="{9DCB24C3-A030-4049-AFB7-37FEBA59CC50}" type="presOf" srcId="{31720A31-9BBB-4D18-83DB-99CE6C8C7C06}" destId="{6D2BFCA7-B4E3-46C3-9B57-70E0710FD5E8}" srcOrd="0" destOrd="0" presId="urn:diagrams.loki3.com/BracketList"/>
    <dgm:cxn modelId="{1AE99EF7-82E7-4ECC-A5FC-CC1462D12D55}" type="presOf" srcId="{9FD708EF-C3C4-45DD-AEBD-72E4616E3FA4}" destId="{241D0816-5C4C-4E06-B318-71C5FE239D92}" srcOrd="0" destOrd="1" presId="urn:diagrams.loki3.com/BracketList"/>
    <dgm:cxn modelId="{011D5759-FCE5-47FD-8723-21727CC2D470}" type="presParOf" srcId="{E844C04F-12CB-4117-BD1E-01E41960E6E6}" destId="{3C7CADE3-999C-4182-A8B5-7F120B424B23}" srcOrd="0" destOrd="0" presId="urn:diagrams.loki3.com/BracketList"/>
    <dgm:cxn modelId="{C69A9607-3EE3-410C-8671-065E3F6D8FAF}" type="presParOf" srcId="{3C7CADE3-999C-4182-A8B5-7F120B424B23}" destId="{8AA421FB-C938-4447-BCBB-EA6EA59A0CD6}" srcOrd="0" destOrd="0" presId="urn:diagrams.loki3.com/BracketList"/>
    <dgm:cxn modelId="{841F9193-7CF4-47A1-B653-FDA98D8E7524}" type="presParOf" srcId="{3C7CADE3-999C-4182-A8B5-7F120B424B23}" destId="{00241EAC-65EC-452D-8832-0F8A054C2F72}" srcOrd="1" destOrd="0" presId="urn:diagrams.loki3.com/BracketList"/>
    <dgm:cxn modelId="{AD3E2F09-83F0-43A2-B997-D7FB21D5E261}" type="presParOf" srcId="{3C7CADE3-999C-4182-A8B5-7F120B424B23}" destId="{F216AA26-1CEF-4092-A35A-F25A60605A00}" srcOrd="2" destOrd="0" presId="urn:diagrams.loki3.com/BracketList"/>
    <dgm:cxn modelId="{6AE55FD9-38CF-447D-80B6-5685B10E91FD}" type="presParOf" srcId="{3C7CADE3-999C-4182-A8B5-7F120B424B23}" destId="{241D0816-5C4C-4E06-B318-71C5FE239D92}" srcOrd="3" destOrd="0" presId="urn:diagrams.loki3.com/BracketList"/>
    <dgm:cxn modelId="{ECA16D9A-A7BB-4159-A9D2-57E33785B0DD}" type="presParOf" srcId="{E844C04F-12CB-4117-BD1E-01E41960E6E6}" destId="{6D9D3899-E38B-4EF1-8FA7-E48862F8A5D0}" srcOrd="1" destOrd="0" presId="urn:diagrams.loki3.com/BracketList"/>
    <dgm:cxn modelId="{61BA26CB-9B2A-409D-8B6C-EE305FF4F52B}" type="presParOf" srcId="{E844C04F-12CB-4117-BD1E-01E41960E6E6}" destId="{0ED168EE-8D75-4A5D-95F1-035EF0E03BFA}" srcOrd="2" destOrd="0" presId="urn:diagrams.loki3.com/BracketList"/>
    <dgm:cxn modelId="{18622E88-DBEC-4BC8-BB69-F31496BE297A}" type="presParOf" srcId="{0ED168EE-8D75-4A5D-95F1-035EF0E03BFA}" destId="{6D2BFCA7-B4E3-46C3-9B57-70E0710FD5E8}" srcOrd="0" destOrd="0" presId="urn:diagrams.loki3.com/BracketList"/>
    <dgm:cxn modelId="{0194A0BA-B3E7-494F-BE57-240B1F73424A}" type="presParOf" srcId="{0ED168EE-8D75-4A5D-95F1-035EF0E03BFA}" destId="{9289C64A-6798-4175-983A-3E2CB6BECB5B}" srcOrd="1" destOrd="0" presId="urn:diagrams.loki3.com/BracketList"/>
    <dgm:cxn modelId="{8D4F369B-D8A2-4F34-AA23-62330EE5CD54}" type="presParOf" srcId="{0ED168EE-8D75-4A5D-95F1-035EF0E03BFA}" destId="{43119472-6283-43A6-8174-21333D378B08}" srcOrd="2" destOrd="0" presId="urn:diagrams.loki3.com/BracketList"/>
    <dgm:cxn modelId="{1587BA69-75A3-4320-B35D-D8AC7A9A5296}" type="presParOf" srcId="{0ED168EE-8D75-4A5D-95F1-035EF0E03BFA}" destId="{3BA7FACA-0640-4BE0-8C94-A6C21746E7A8}"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E616D0-8C82-4BD1-B333-C33BB59D57B8}"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5470AC68-D03A-46A6-82F9-0803C21AEBA2}">
      <dgm:prSet phldrT="[Text]"/>
      <dgm:spPr/>
      <dgm:t>
        <a:bodyPr/>
        <a:lstStyle/>
        <a:p>
          <a:r>
            <a:rPr lang="en-IN" dirty="0"/>
            <a:t>Shape Optimisation</a:t>
          </a:r>
        </a:p>
      </dgm:t>
    </dgm:pt>
    <dgm:pt modelId="{7AFF1AFB-8223-4E00-9D41-DA2E2318A4B9}" type="parTrans" cxnId="{E0E84B6B-F74D-4817-8E9F-4AAC8C64F195}">
      <dgm:prSet/>
      <dgm:spPr/>
      <dgm:t>
        <a:bodyPr/>
        <a:lstStyle/>
        <a:p>
          <a:endParaRPr lang="en-IN"/>
        </a:p>
      </dgm:t>
    </dgm:pt>
    <dgm:pt modelId="{83D63705-7337-4133-B394-356B404BDE98}" type="sibTrans" cxnId="{E0E84B6B-F74D-4817-8E9F-4AAC8C64F195}">
      <dgm:prSet/>
      <dgm:spPr/>
      <dgm:t>
        <a:bodyPr/>
        <a:lstStyle/>
        <a:p>
          <a:endParaRPr lang="en-IN"/>
        </a:p>
      </dgm:t>
    </dgm:pt>
    <dgm:pt modelId="{CA036B11-8351-4F9A-8ACF-74D239C19B4F}">
      <dgm:prSet phldrT="[Text]"/>
      <dgm:spPr/>
      <dgm:t>
        <a:bodyPr/>
        <a:lstStyle/>
        <a:p>
          <a:r>
            <a:rPr lang="en-IN" dirty="0"/>
            <a:t>Gradient-Based</a:t>
          </a:r>
        </a:p>
      </dgm:t>
    </dgm:pt>
    <dgm:pt modelId="{293B96FC-A37A-4153-BC3F-239795247F1E}" type="parTrans" cxnId="{DFDC10BB-B8DC-41F6-8322-2289C5A6B5FD}">
      <dgm:prSet/>
      <dgm:spPr/>
      <dgm:t>
        <a:bodyPr/>
        <a:lstStyle/>
        <a:p>
          <a:endParaRPr lang="en-IN"/>
        </a:p>
      </dgm:t>
    </dgm:pt>
    <dgm:pt modelId="{F08D3CA7-6DC8-42D4-9CD4-DDC8215F6BC3}" type="sibTrans" cxnId="{DFDC10BB-B8DC-41F6-8322-2289C5A6B5FD}">
      <dgm:prSet/>
      <dgm:spPr/>
      <dgm:t>
        <a:bodyPr/>
        <a:lstStyle/>
        <a:p>
          <a:endParaRPr lang="en-IN"/>
        </a:p>
      </dgm:t>
    </dgm:pt>
    <dgm:pt modelId="{C939EE55-1F78-4E44-B244-EE549B18FC71}">
      <dgm:prSet phldrT="[Text]"/>
      <dgm:spPr/>
      <dgm:t>
        <a:bodyPr/>
        <a:lstStyle/>
        <a:p>
          <a:r>
            <a:rPr lang="en-IN" dirty="0"/>
            <a:t>Gradient-Free</a:t>
          </a:r>
        </a:p>
      </dgm:t>
    </dgm:pt>
    <dgm:pt modelId="{1E0A350F-CD2D-4C14-87D8-63DEA0135AA3}" type="parTrans" cxnId="{24BA1479-DD37-4AFD-B083-B4E0ED307937}">
      <dgm:prSet/>
      <dgm:spPr/>
      <dgm:t>
        <a:bodyPr/>
        <a:lstStyle/>
        <a:p>
          <a:endParaRPr lang="en-IN"/>
        </a:p>
      </dgm:t>
    </dgm:pt>
    <dgm:pt modelId="{ADDE9693-B919-4406-8FCA-34DE14D627EA}" type="sibTrans" cxnId="{24BA1479-DD37-4AFD-B083-B4E0ED307937}">
      <dgm:prSet/>
      <dgm:spPr/>
      <dgm:t>
        <a:bodyPr/>
        <a:lstStyle/>
        <a:p>
          <a:endParaRPr lang="en-IN"/>
        </a:p>
      </dgm:t>
    </dgm:pt>
    <dgm:pt modelId="{62049E6B-D487-46DB-A958-83834E6FC093}">
      <dgm:prSet phldrT="[Text]"/>
      <dgm:spPr/>
      <dgm:t>
        <a:bodyPr/>
        <a:lstStyle/>
        <a:p>
          <a:pPr>
            <a:buFont typeface="+mj-lt"/>
            <a:buAutoNum type="arabicPeriod"/>
          </a:pPr>
          <a:r>
            <a:rPr lang="en-IN" dirty="0"/>
            <a:t>Genetic Algorithm</a:t>
          </a:r>
        </a:p>
        <a:p>
          <a:pPr>
            <a:buFont typeface="+mj-lt"/>
            <a:buNone/>
          </a:pPr>
          <a:endParaRPr lang="en-IN" dirty="0"/>
        </a:p>
      </dgm:t>
    </dgm:pt>
    <dgm:pt modelId="{A5507A44-A693-44CD-BBA0-58B0328C0F3D}" type="parTrans" cxnId="{849C8CD2-D917-4754-B2F1-C7613F89A853}">
      <dgm:prSet/>
      <dgm:spPr/>
      <dgm:t>
        <a:bodyPr/>
        <a:lstStyle/>
        <a:p>
          <a:endParaRPr lang="en-IN"/>
        </a:p>
      </dgm:t>
    </dgm:pt>
    <dgm:pt modelId="{63526884-97FD-4113-9259-1C38EB6A7368}" type="sibTrans" cxnId="{849C8CD2-D917-4754-B2F1-C7613F89A853}">
      <dgm:prSet/>
      <dgm:spPr/>
      <dgm:t>
        <a:bodyPr/>
        <a:lstStyle/>
        <a:p>
          <a:endParaRPr lang="en-IN"/>
        </a:p>
      </dgm:t>
    </dgm:pt>
    <dgm:pt modelId="{77D9C0BA-B3D9-48D4-B316-C09F6EBA28E0}">
      <dgm:prSet phldrT="[Text]"/>
      <dgm:spPr/>
      <dgm:t>
        <a:bodyPr/>
        <a:lstStyle/>
        <a:p>
          <a:pPr>
            <a:buFont typeface="Arial" panose="020B0604020202020204" pitchFamily="34" charset="0"/>
            <a:buChar char="•"/>
          </a:pPr>
          <a:r>
            <a:rPr lang="en-IN" dirty="0"/>
            <a:t>Particle Swarm Optimisation</a:t>
          </a:r>
        </a:p>
      </dgm:t>
    </dgm:pt>
    <dgm:pt modelId="{D348E0FF-3F17-419E-A682-926D2875AD5F}" type="parTrans" cxnId="{9B10EFE5-4FC1-45DC-A21A-277433E8F9A2}">
      <dgm:prSet/>
      <dgm:spPr/>
      <dgm:t>
        <a:bodyPr/>
        <a:lstStyle/>
        <a:p>
          <a:endParaRPr lang="en-IN"/>
        </a:p>
      </dgm:t>
    </dgm:pt>
    <dgm:pt modelId="{F42EA1C1-36CF-4A90-B29A-642CCAB72E67}" type="sibTrans" cxnId="{9B10EFE5-4FC1-45DC-A21A-277433E8F9A2}">
      <dgm:prSet/>
      <dgm:spPr/>
      <dgm:t>
        <a:bodyPr/>
        <a:lstStyle/>
        <a:p>
          <a:endParaRPr lang="en-IN"/>
        </a:p>
      </dgm:t>
    </dgm:pt>
    <dgm:pt modelId="{2C54A8CC-CEC8-4594-BE9F-E643005F040C}" type="pres">
      <dgm:prSet presAssocID="{6CE616D0-8C82-4BD1-B333-C33BB59D57B8}" presName="hierChild1" presStyleCnt="0">
        <dgm:presLayoutVars>
          <dgm:chPref val="1"/>
          <dgm:dir/>
          <dgm:animOne val="branch"/>
          <dgm:animLvl val="lvl"/>
          <dgm:resizeHandles/>
        </dgm:presLayoutVars>
      </dgm:prSet>
      <dgm:spPr/>
    </dgm:pt>
    <dgm:pt modelId="{DE116F55-2C51-4B71-9568-3EE6683679FA}" type="pres">
      <dgm:prSet presAssocID="{5470AC68-D03A-46A6-82F9-0803C21AEBA2}" presName="hierRoot1" presStyleCnt="0"/>
      <dgm:spPr/>
    </dgm:pt>
    <dgm:pt modelId="{4B67C230-6C20-4F61-A12F-D143903B0E2F}" type="pres">
      <dgm:prSet presAssocID="{5470AC68-D03A-46A6-82F9-0803C21AEBA2}" presName="composite" presStyleCnt="0"/>
      <dgm:spPr/>
    </dgm:pt>
    <dgm:pt modelId="{BB7DDA27-E9F6-45AA-9433-A17F5025391E}" type="pres">
      <dgm:prSet presAssocID="{5470AC68-D03A-46A6-82F9-0803C21AEBA2}" presName="background" presStyleLbl="node0" presStyleIdx="0" presStyleCnt="1"/>
      <dgm:spPr/>
    </dgm:pt>
    <dgm:pt modelId="{446FC072-18B2-4FED-AFE5-54AAD160C5BC}" type="pres">
      <dgm:prSet presAssocID="{5470AC68-D03A-46A6-82F9-0803C21AEBA2}" presName="text" presStyleLbl="fgAcc0" presStyleIdx="0" presStyleCnt="1" custLinFactNeighborX="-3945" custLinFactNeighborY="-65137">
        <dgm:presLayoutVars>
          <dgm:chPref val="3"/>
        </dgm:presLayoutVars>
      </dgm:prSet>
      <dgm:spPr/>
    </dgm:pt>
    <dgm:pt modelId="{B5F76206-FF8A-40E2-B920-3D152380E20B}" type="pres">
      <dgm:prSet presAssocID="{5470AC68-D03A-46A6-82F9-0803C21AEBA2}" presName="hierChild2" presStyleCnt="0"/>
      <dgm:spPr/>
    </dgm:pt>
    <dgm:pt modelId="{B732BA02-0F27-4B45-AFB8-BB213A924EE2}" type="pres">
      <dgm:prSet presAssocID="{293B96FC-A37A-4153-BC3F-239795247F1E}" presName="Name10" presStyleLbl="parChTrans1D2" presStyleIdx="0" presStyleCnt="2"/>
      <dgm:spPr/>
    </dgm:pt>
    <dgm:pt modelId="{BFD979ED-208F-41F5-ADC1-ED283BC4DC6C}" type="pres">
      <dgm:prSet presAssocID="{CA036B11-8351-4F9A-8ACF-74D239C19B4F}" presName="hierRoot2" presStyleCnt="0"/>
      <dgm:spPr/>
    </dgm:pt>
    <dgm:pt modelId="{F500EF7F-77EF-4AB0-BD4F-38A4BA4B4111}" type="pres">
      <dgm:prSet presAssocID="{CA036B11-8351-4F9A-8ACF-74D239C19B4F}" presName="composite2" presStyleCnt="0"/>
      <dgm:spPr/>
    </dgm:pt>
    <dgm:pt modelId="{9669BC0F-5FD1-4F0C-8CB5-40E9AC8F5084}" type="pres">
      <dgm:prSet presAssocID="{CA036B11-8351-4F9A-8ACF-74D239C19B4F}" presName="background2" presStyleLbl="node2" presStyleIdx="0" presStyleCnt="2"/>
      <dgm:spPr/>
    </dgm:pt>
    <dgm:pt modelId="{5034CDAE-0B73-440F-9844-75C77CB90981}" type="pres">
      <dgm:prSet presAssocID="{CA036B11-8351-4F9A-8ACF-74D239C19B4F}" presName="text2" presStyleLbl="fgAcc2" presStyleIdx="0" presStyleCnt="2" custLinFactNeighborX="-98429" custLinFactNeighborY="-19876">
        <dgm:presLayoutVars>
          <dgm:chPref val="3"/>
        </dgm:presLayoutVars>
      </dgm:prSet>
      <dgm:spPr/>
    </dgm:pt>
    <dgm:pt modelId="{ED6695B9-F3BE-4D8A-8CCB-7CE06601AF56}" type="pres">
      <dgm:prSet presAssocID="{CA036B11-8351-4F9A-8ACF-74D239C19B4F}" presName="hierChild3" presStyleCnt="0"/>
      <dgm:spPr/>
    </dgm:pt>
    <dgm:pt modelId="{6B365836-8B5E-421C-92EB-7C1F4DD59BC1}" type="pres">
      <dgm:prSet presAssocID="{1E0A350F-CD2D-4C14-87D8-63DEA0135AA3}" presName="Name10" presStyleLbl="parChTrans1D2" presStyleIdx="1" presStyleCnt="2"/>
      <dgm:spPr/>
    </dgm:pt>
    <dgm:pt modelId="{9327FD99-1A84-4525-9812-2A0C4366647E}" type="pres">
      <dgm:prSet presAssocID="{C939EE55-1F78-4E44-B244-EE549B18FC71}" presName="hierRoot2" presStyleCnt="0"/>
      <dgm:spPr/>
    </dgm:pt>
    <dgm:pt modelId="{39E69341-01AE-4191-8E5C-9BC606706B3D}" type="pres">
      <dgm:prSet presAssocID="{C939EE55-1F78-4E44-B244-EE549B18FC71}" presName="composite2" presStyleCnt="0"/>
      <dgm:spPr/>
    </dgm:pt>
    <dgm:pt modelId="{34EC3E40-C1AE-4D42-8B0E-E683D34F71BB}" type="pres">
      <dgm:prSet presAssocID="{C939EE55-1F78-4E44-B244-EE549B18FC71}" presName="background2" presStyleLbl="node2" presStyleIdx="1" presStyleCnt="2"/>
      <dgm:spPr/>
    </dgm:pt>
    <dgm:pt modelId="{A01F8B66-D724-4B1E-A3BF-F9330E3CA31D}" type="pres">
      <dgm:prSet presAssocID="{C939EE55-1F78-4E44-B244-EE549B18FC71}" presName="text2" presStyleLbl="fgAcc2" presStyleIdx="1" presStyleCnt="2" custLinFactNeighborX="59129" custLinFactNeighborY="-25016">
        <dgm:presLayoutVars>
          <dgm:chPref val="3"/>
        </dgm:presLayoutVars>
      </dgm:prSet>
      <dgm:spPr/>
    </dgm:pt>
    <dgm:pt modelId="{2C2133F3-AD1D-4A8A-B909-BDA6A69DF3ED}" type="pres">
      <dgm:prSet presAssocID="{C939EE55-1F78-4E44-B244-EE549B18FC71}" presName="hierChild3" presStyleCnt="0"/>
      <dgm:spPr/>
    </dgm:pt>
    <dgm:pt modelId="{FC48A183-69EB-4A72-A590-DEAC568C256E}" type="pres">
      <dgm:prSet presAssocID="{A5507A44-A693-44CD-BBA0-58B0328C0F3D}" presName="Name17" presStyleLbl="parChTrans1D3" presStyleIdx="0" presStyleCnt="2"/>
      <dgm:spPr/>
    </dgm:pt>
    <dgm:pt modelId="{85B87811-1274-4AFE-BC07-115851C534F9}" type="pres">
      <dgm:prSet presAssocID="{62049E6B-D487-46DB-A958-83834E6FC093}" presName="hierRoot3" presStyleCnt="0"/>
      <dgm:spPr/>
    </dgm:pt>
    <dgm:pt modelId="{7A37060B-AE67-492D-B91F-6FF7A2F5AA8D}" type="pres">
      <dgm:prSet presAssocID="{62049E6B-D487-46DB-A958-83834E6FC093}" presName="composite3" presStyleCnt="0"/>
      <dgm:spPr/>
    </dgm:pt>
    <dgm:pt modelId="{CC6617E9-0303-4422-8BBD-D47FBE9F936C}" type="pres">
      <dgm:prSet presAssocID="{62049E6B-D487-46DB-A958-83834E6FC093}" presName="background3" presStyleLbl="node3" presStyleIdx="0" presStyleCnt="2"/>
      <dgm:spPr/>
    </dgm:pt>
    <dgm:pt modelId="{383DC7E1-4D59-4C51-9EB3-95D98F5541D0}" type="pres">
      <dgm:prSet presAssocID="{62049E6B-D487-46DB-A958-83834E6FC093}" presName="text3" presStyleLbl="fgAcc3" presStyleIdx="0" presStyleCnt="2" custLinFactNeighborX="1820" custLinFactNeighborY="-24574">
        <dgm:presLayoutVars>
          <dgm:chPref val="3"/>
        </dgm:presLayoutVars>
      </dgm:prSet>
      <dgm:spPr/>
    </dgm:pt>
    <dgm:pt modelId="{D87DBE02-8EBA-41CF-A0C5-7993E5AE4CFE}" type="pres">
      <dgm:prSet presAssocID="{62049E6B-D487-46DB-A958-83834E6FC093}" presName="hierChild4" presStyleCnt="0"/>
      <dgm:spPr/>
    </dgm:pt>
    <dgm:pt modelId="{B5ADBA18-15D3-4113-A3C8-A89D4A4E135E}" type="pres">
      <dgm:prSet presAssocID="{D348E0FF-3F17-419E-A682-926D2875AD5F}" presName="Name17" presStyleLbl="parChTrans1D3" presStyleIdx="1" presStyleCnt="2"/>
      <dgm:spPr/>
    </dgm:pt>
    <dgm:pt modelId="{1356718B-5B08-4510-8DDB-FF4E1A1D7433}" type="pres">
      <dgm:prSet presAssocID="{77D9C0BA-B3D9-48D4-B316-C09F6EBA28E0}" presName="hierRoot3" presStyleCnt="0"/>
      <dgm:spPr/>
    </dgm:pt>
    <dgm:pt modelId="{D3067E43-E49F-45EF-A37B-6044938F1C86}" type="pres">
      <dgm:prSet presAssocID="{77D9C0BA-B3D9-48D4-B316-C09F6EBA28E0}" presName="composite3" presStyleCnt="0"/>
      <dgm:spPr/>
    </dgm:pt>
    <dgm:pt modelId="{8FA3A7CE-DD5E-4F3D-ADF5-775F1302380E}" type="pres">
      <dgm:prSet presAssocID="{77D9C0BA-B3D9-48D4-B316-C09F6EBA28E0}" presName="background3" presStyleLbl="node3" presStyleIdx="1" presStyleCnt="2"/>
      <dgm:spPr/>
    </dgm:pt>
    <dgm:pt modelId="{435D3CE5-550B-4ADD-B6E9-1E6167FD8B9C}" type="pres">
      <dgm:prSet presAssocID="{77D9C0BA-B3D9-48D4-B316-C09F6EBA28E0}" presName="text3" presStyleLbl="fgAcc3" presStyleIdx="1" presStyleCnt="2" custLinFactX="82376" custLinFactNeighborX="100000" custLinFactNeighborY="-23629">
        <dgm:presLayoutVars>
          <dgm:chPref val="3"/>
        </dgm:presLayoutVars>
      </dgm:prSet>
      <dgm:spPr/>
    </dgm:pt>
    <dgm:pt modelId="{FD22683C-2D72-488C-89F0-919743123741}" type="pres">
      <dgm:prSet presAssocID="{77D9C0BA-B3D9-48D4-B316-C09F6EBA28E0}" presName="hierChild4" presStyleCnt="0"/>
      <dgm:spPr/>
    </dgm:pt>
  </dgm:ptLst>
  <dgm:cxnLst>
    <dgm:cxn modelId="{E2C2C708-E614-474E-8CDF-0D5948BF9717}" type="presOf" srcId="{D348E0FF-3F17-419E-A682-926D2875AD5F}" destId="{B5ADBA18-15D3-4113-A3C8-A89D4A4E135E}" srcOrd="0" destOrd="0" presId="urn:microsoft.com/office/officeart/2005/8/layout/hierarchy1"/>
    <dgm:cxn modelId="{730CF822-9EC9-49F5-A557-1936B331807A}" type="presOf" srcId="{CA036B11-8351-4F9A-8ACF-74D239C19B4F}" destId="{5034CDAE-0B73-440F-9844-75C77CB90981}" srcOrd="0" destOrd="0" presId="urn:microsoft.com/office/officeart/2005/8/layout/hierarchy1"/>
    <dgm:cxn modelId="{D4A3032F-B157-4672-B599-E4601EB4401F}" type="presOf" srcId="{6CE616D0-8C82-4BD1-B333-C33BB59D57B8}" destId="{2C54A8CC-CEC8-4594-BE9F-E643005F040C}" srcOrd="0" destOrd="0" presId="urn:microsoft.com/office/officeart/2005/8/layout/hierarchy1"/>
    <dgm:cxn modelId="{660C4460-4074-47E2-8546-A89E962DB8E7}" type="presOf" srcId="{62049E6B-D487-46DB-A958-83834E6FC093}" destId="{383DC7E1-4D59-4C51-9EB3-95D98F5541D0}" srcOrd="0" destOrd="0" presId="urn:microsoft.com/office/officeart/2005/8/layout/hierarchy1"/>
    <dgm:cxn modelId="{E0E84B6B-F74D-4817-8E9F-4AAC8C64F195}" srcId="{6CE616D0-8C82-4BD1-B333-C33BB59D57B8}" destId="{5470AC68-D03A-46A6-82F9-0803C21AEBA2}" srcOrd="0" destOrd="0" parTransId="{7AFF1AFB-8223-4E00-9D41-DA2E2318A4B9}" sibTransId="{83D63705-7337-4133-B394-356B404BDE98}"/>
    <dgm:cxn modelId="{24BA1479-DD37-4AFD-B083-B4E0ED307937}" srcId="{5470AC68-D03A-46A6-82F9-0803C21AEBA2}" destId="{C939EE55-1F78-4E44-B244-EE549B18FC71}" srcOrd="1" destOrd="0" parTransId="{1E0A350F-CD2D-4C14-87D8-63DEA0135AA3}" sibTransId="{ADDE9693-B919-4406-8FCA-34DE14D627EA}"/>
    <dgm:cxn modelId="{315588A2-164A-4CA2-97DA-1976CC518570}" type="presOf" srcId="{C939EE55-1F78-4E44-B244-EE549B18FC71}" destId="{A01F8B66-D724-4B1E-A3BF-F9330E3CA31D}" srcOrd="0" destOrd="0" presId="urn:microsoft.com/office/officeart/2005/8/layout/hierarchy1"/>
    <dgm:cxn modelId="{3558E5A6-73EF-4FBF-944F-7E8A0F17E35C}" type="presOf" srcId="{293B96FC-A37A-4153-BC3F-239795247F1E}" destId="{B732BA02-0F27-4B45-AFB8-BB213A924EE2}" srcOrd="0" destOrd="0" presId="urn:microsoft.com/office/officeart/2005/8/layout/hierarchy1"/>
    <dgm:cxn modelId="{0AA258AA-6CB0-4C97-95B5-485EE10F0C07}" type="presOf" srcId="{5470AC68-D03A-46A6-82F9-0803C21AEBA2}" destId="{446FC072-18B2-4FED-AFE5-54AAD160C5BC}" srcOrd="0" destOrd="0" presId="urn:microsoft.com/office/officeart/2005/8/layout/hierarchy1"/>
    <dgm:cxn modelId="{73F3EEBA-0062-4C3D-971C-DC2933049548}" type="presOf" srcId="{A5507A44-A693-44CD-BBA0-58B0328C0F3D}" destId="{FC48A183-69EB-4A72-A590-DEAC568C256E}" srcOrd="0" destOrd="0" presId="urn:microsoft.com/office/officeart/2005/8/layout/hierarchy1"/>
    <dgm:cxn modelId="{DFDC10BB-B8DC-41F6-8322-2289C5A6B5FD}" srcId="{5470AC68-D03A-46A6-82F9-0803C21AEBA2}" destId="{CA036B11-8351-4F9A-8ACF-74D239C19B4F}" srcOrd="0" destOrd="0" parTransId="{293B96FC-A37A-4153-BC3F-239795247F1E}" sibTransId="{F08D3CA7-6DC8-42D4-9CD4-DDC8215F6BC3}"/>
    <dgm:cxn modelId="{B02184C0-0338-4A24-B090-2518157CA370}" type="presOf" srcId="{1E0A350F-CD2D-4C14-87D8-63DEA0135AA3}" destId="{6B365836-8B5E-421C-92EB-7C1F4DD59BC1}" srcOrd="0" destOrd="0" presId="urn:microsoft.com/office/officeart/2005/8/layout/hierarchy1"/>
    <dgm:cxn modelId="{ABE692D0-54A3-4431-BFFE-6022BF28A90D}" type="presOf" srcId="{77D9C0BA-B3D9-48D4-B316-C09F6EBA28E0}" destId="{435D3CE5-550B-4ADD-B6E9-1E6167FD8B9C}" srcOrd="0" destOrd="0" presId="urn:microsoft.com/office/officeart/2005/8/layout/hierarchy1"/>
    <dgm:cxn modelId="{849C8CD2-D917-4754-B2F1-C7613F89A853}" srcId="{C939EE55-1F78-4E44-B244-EE549B18FC71}" destId="{62049E6B-D487-46DB-A958-83834E6FC093}" srcOrd="0" destOrd="0" parTransId="{A5507A44-A693-44CD-BBA0-58B0328C0F3D}" sibTransId="{63526884-97FD-4113-9259-1C38EB6A7368}"/>
    <dgm:cxn modelId="{9B10EFE5-4FC1-45DC-A21A-277433E8F9A2}" srcId="{C939EE55-1F78-4E44-B244-EE549B18FC71}" destId="{77D9C0BA-B3D9-48D4-B316-C09F6EBA28E0}" srcOrd="1" destOrd="0" parTransId="{D348E0FF-3F17-419E-A682-926D2875AD5F}" sibTransId="{F42EA1C1-36CF-4A90-B29A-642CCAB72E67}"/>
    <dgm:cxn modelId="{275F73C4-8C1B-4C69-905E-83A66C357024}" type="presParOf" srcId="{2C54A8CC-CEC8-4594-BE9F-E643005F040C}" destId="{DE116F55-2C51-4B71-9568-3EE6683679FA}" srcOrd="0" destOrd="0" presId="urn:microsoft.com/office/officeart/2005/8/layout/hierarchy1"/>
    <dgm:cxn modelId="{254BD2D1-AEDF-4790-9DF4-259E55D98B45}" type="presParOf" srcId="{DE116F55-2C51-4B71-9568-3EE6683679FA}" destId="{4B67C230-6C20-4F61-A12F-D143903B0E2F}" srcOrd="0" destOrd="0" presId="urn:microsoft.com/office/officeart/2005/8/layout/hierarchy1"/>
    <dgm:cxn modelId="{905E6BA4-82C9-46AF-8701-CDC18C7DB0F3}" type="presParOf" srcId="{4B67C230-6C20-4F61-A12F-D143903B0E2F}" destId="{BB7DDA27-E9F6-45AA-9433-A17F5025391E}" srcOrd="0" destOrd="0" presId="urn:microsoft.com/office/officeart/2005/8/layout/hierarchy1"/>
    <dgm:cxn modelId="{1E9E9A7E-5D6E-4109-B7DA-79B1DFE7AA65}" type="presParOf" srcId="{4B67C230-6C20-4F61-A12F-D143903B0E2F}" destId="{446FC072-18B2-4FED-AFE5-54AAD160C5BC}" srcOrd="1" destOrd="0" presId="urn:microsoft.com/office/officeart/2005/8/layout/hierarchy1"/>
    <dgm:cxn modelId="{5AFBE0E5-DFB7-4679-975E-FA2F4097FDEF}" type="presParOf" srcId="{DE116F55-2C51-4B71-9568-3EE6683679FA}" destId="{B5F76206-FF8A-40E2-B920-3D152380E20B}" srcOrd="1" destOrd="0" presId="urn:microsoft.com/office/officeart/2005/8/layout/hierarchy1"/>
    <dgm:cxn modelId="{E42D664D-EA98-4DD8-8897-5B81B63451EB}" type="presParOf" srcId="{B5F76206-FF8A-40E2-B920-3D152380E20B}" destId="{B732BA02-0F27-4B45-AFB8-BB213A924EE2}" srcOrd="0" destOrd="0" presId="urn:microsoft.com/office/officeart/2005/8/layout/hierarchy1"/>
    <dgm:cxn modelId="{36430FBF-5EF6-4A2E-9535-0F1DB4DABCB7}" type="presParOf" srcId="{B5F76206-FF8A-40E2-B920-3D152380E20B}" destId="{BFD979ED-208F-41F5-ADC1-ED283BC4DC6C}" srcOrd="1" destOrd="0" presId="urn:microsoft.com/office/officeart/2005/8/layout/hierarchy1"/>
    <dgm:cxn modelId="{F85592B3-8065-4A86-BD6C-3CC4530449A9}" type="presParOf" srcId="{BFD979ED-208F-41F5-ADC1-ED283BC4DC6C}" destId="{F500EF7F-77EF-4AB0-BD4F-38A4BA4B4111}" srcOrd="0" destOrd="0" presId="urn:microsoft.com/office/officeart/2005/8/layout/hierarchy1"/>
    <dgm:cxn modelId="{6A6C2832-2ADF-474B-8A61-BEE2446BB8DB}" type="presParOf" srcId="{F500EF7F-77EF-4AB0-BD4F-38A4BA4B4111}" destId="{9669BC0F-5FD1-4F0C-8CB5-40E9AC8F5084}" srcOrd="0" destOrd="0" presId="urn:microsoft.com/office/officeart/2005/8/layout/hierarchy1"/>
    <dgm:cxn modelId="{5FB3CD9C-B012-41E8-BCBA-8510B91C1482}" type="presParOf" srcId="{F500EF7F-77EF-4AB0-BD4F-38A4BA4B4111}" destId="{5034CDAE-0B73-440F-9844-75C77CB90981}" srcOrd="1" destOrd="0" presId="urn:microsoft.com/office/officeart/2005/8/layout/hierarchy1"/>
    <dgm:cxn modelId="{FEC6EDA7-D832-4970-ACDC-E57952CAD523}" type="presParOf" srcId="{BFD979ED-208F-41F5-ADC1-ED283BC4DC6C}" destId="{ED6695B9-F3BE-4D8A-8CCB-7CE06601AF56}" srcOrd="1" destOrd="0" presId="urn:microsoft.com/office/officeart/2005/8/layout/hierarchy1"/>
    <dgm:cxn modelId="{35246F40-A995-406C-896B-6DC0CDCB4381}" type="presParOf" srcId="{B5F76206-FF8A-40E2-B920-3D152380E20B}" destId="{6B365836-8B5E-421C-92EB-7C1F4DD59BC1}" srcOrd="2" destOrd="0" presId="urn:microsoft.com/office/officeart/2005/8/layout/hierarchy1"/>
    <dgm:cxn modelId="{36D4C82E-5083-4B3D-A472-0CD62334C5B0}" type="presParOf" srcId="{B5F76206-FF8A-40E2-B920-3D152380E20B}" destId="{9327FD99-1A84-4525-9812-2A0C4366647E}" srcOrd="3" destOrd="0" presId="urn:microsoft.com/office/officeart/2005/8/layout/hierarchy1"/>
    <dgm:cxn modelId="{BBDAE683-C2EE-4BFC-AF56-B99BC9FA4F15}" type="presParOf" srcId="{9327FD99-1A84-4525-9812-2A0C4366647E}" destId="{39E69341-01AE-4191-8E5C-9BC606706B3D}" srcOrd="0" destOrd="0" presId="urn:microsoft.com/office/officeart/2005/8/layout/hierarchy1"/>
    <dgm:cxn modelId="{764820F3-5E99-4C31-B0E4-46611E23F237}" type="presParOf" srcId="{39E69341-01AE-4191-8E5C-9BC606706B3D}" destId="{34EC3E40-C1AE-4D42-8B0E-E683D34F71BB}" srcOrd="0" destOrd="0" presId="urn:microsoft.com/office/officeart/2005/8/layout/hierarchy1"/>
    <dgm:cxn modelId="{77F24A24-A82D-4FDC-A4E8-B3B97ED8D506}" type="presParOf" srcId="{39E69341-01AE-4191-8E5C-9BC606706B3D}" destId="{A01F8B66-D724-4B1E-A3BF-F9330E3CA31D}" srcOrd="1" destOrd="0" presId="urn:microsoft.com/office/officeart/2005/8/layout/hierarchy1"/>
    <dgm:cxn modelId="{72D128CF-6C85-4ED7-9AAB-32336821AAC5}" type="presParOf" srcId="{9327FD99-1A84-4525-9812-2A0C4366647E}" destId="{2C2133F3-AD1D-4A8A-B909-BDA6A69DF3ED}" srcOrd="1" destOrd="0" presId="urn:microsoft.com/office/officeart/2005/8/layout/hierarchy1"/>
    <dgm:cxn modelId="{CE1F88C4-6AB0-448C-88FC-10CEAFE7ED5B}" type="presParOf" srcId="{2C2133F3-AD1D-4A8A-B909-BDA6A69DF3ED}" destId="{FC48A183-69EB-4A72-A590-DEAC568C256E}" srcOrd="0" destOrd="0" presId="urn:microsoft.com/office/officeart/2005/8/layout/hierarchy1"/>
    <dgm:cxn modelId="{639DD66E-77B6-49DB-83E4-202DDF59C36A}" type="presParOf" srcId="{2C2133F3-AD1D-4A8A-B909-BDA6A69DF3ED}" destId="{85B87811-1274-4AFE-BC07-115851C534F9}" srcOrd="1" destOrd="0" presId="urn:microsoft.com/office/officeart/2005/8/layout/hierarchy1"/>
    <dgm:cxn modelId="{328F685C-6CA3-447D-8F44-BD87636EDCB1}" type="presParOf" srcId="{85B87811-1274-4AFE-BC07-115851C534F9}" destId="{7A37060B-AE67-492D-B91F-6FF7A2F5AA8D}" srcOrd="0" destOrd="0" presId="urn:microsoft.com/office/officeart/2005/8/layout/hierarchy1"/>
    <dgm:cxn modelId="{05FB17C1-2772-4ACD-8DAC-2ADC70A7AA1C}" type="presParOf" srcId="{7A37060B-AE67-492D-B91F-6FF7A2F5AA8D}" destId="{CC6617E9-0303-4422-8BBD-D47FBE9F936C}" srcOrd="0" destOrd="0" presId="urn:microsoft.com/office/officeart/2005/8/layout/hierarchy1"/>
    <dgm:cxn modelId="{FC946F7E-7BEC-4EF4-B3A7-6CB82F85A459}" type="presParOf" srcId="{7A37060B-AE67-492D-B91F-6FF7A2F5AA8D}" destId="{383DC7E1-4D59-4C51-9EB3-95D98F5541D0}" srcOrd="1" destOrd="0" presId="urn:microsoft.com/office/officeart/2005/8/layout/hierarchy1"/>
    <dgm:cxn modelId="{61C7F46A-1ED5-41B6-983B-41F3B3B764DE}" type="presParOf" srcId="{85B87811-1274-4AFE-BC07-115851C534F9}" destId="{D87DBE02-8EBA-41CF-A0C5-7993E5AE4CFE}" srcOrd="1" destOrd="0" presId="urn:microsoft.com/office/officeart/2005/8/layout/hierarchy1"/>
    <dgm:cxn modelId="{EFD96CFD-238C-4144-A59C-DD04B568850F}" type="presParOf" srcId="{2C2133F3-AD1D-4A8A-B909-BDA6A69DF3ED}" destId="{B5ADBA18-15D3-4113-A3C8-A89D4A4E135E}" srcOrd="2" destOrd="0" presId="urn:microsoft.com/office/officeart/2005/8/layout/hierarchy1"/>
    <dgm:cxn modelId="{37CEDF03-5907-4ADD-84B6-403F03C8F04B}" type="presParOf" srcId="{2C2133F3-AD1D-4A8A-B909-BDA6A69DF3ED}" destId="{1356718B-5B08-4510-8DDB-FF4E1A1D7433}" srcOrd="3" destOrd="0" presId="urn:microsoft.com/office/officeart/2005/8/layout/hierarchy1"/>
    <dgm:cxn modelId="{BF218491-4120-4632-8115-044A7AA4FCC9}" type="presParOf" srcId="{1356718B-5B08-4510-8DDB-FF4E1A1D7433}" destId="{D3067E43-E49F-45EF-A37B-6044938F1C86}" srcOrd="0" destOrd="0" presId="urn:microsoft.com/office/officeart/2005/8/layout/hierarchy1"/>
    <dgm:cxn modelId="{957080DF-C8DE-440F-A1D6-781EBAC32A40}" type="presParOf" srcId="{D3067E43-E49F-45EF-A37B-6044938F1C86}" destId="{8FA3A7CE-DD5E-4F3D-ADF5-775F1302380E}" srcOrd="0" destOrd="0" presId="urn:microsoft.com/office/officeart/2005/8/layout/hierarchy1"/>
    <dgm:cxn modelId="{9DEA8384-14D0-4031-9C8D-93F88ED2B46C}" type="presParOf" srcId="{D3067E43-E49F-45EF-A37B-6044938F1C86}" destId="{435D3CE5-550B-4ADD-B6E9-1E6167FD8B9C}" srcOrd="1" destOrd="0" presId="urn:microsoft.com/office/officeart/2005/8/layout/hierarchy1"/>
    <dgm:cxn modelId="{BBC95EB2-98E9-48BC-9D51-ABDECA6EA5B8}" type="presParOf" srcId="{1356718B-5B08-4510-8DDB-FF4E1A1D7433}" destId="{FD22683C-2D72-488C-89F0-91974312374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485DD2-329C-41C3-A5E7-08BBC3F6F52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6834119-4F10-4618-A756-E8BB88B9FACD}">
      <dgm:prSet phldrT="[Text]" custT="1"/>
      <dgm:spPr/>
      <dgm:t>
        <a:bodyPr/>
        <a:lstStyle/>
        <a:p>
          <a:r>
            <a:rPr lang="en-IN" sz="2000" dirty="0"/>
            <a:t>PPO</a:t>
          </a:r>
        </a:p>
      </dgm:t>
    </dgm:pt>
    <dgm:pt modelId="{D7E00C26-C94D-4990-BF9B-025FEFCD01C2}" type="parTrans" cxnId="{748ED2A6-B38B-4A40-9FA3-D15724CAA251}">
      <dgm:prSet/>
      <dgm:spPr/>
      <dgm:t>
        <a:bodyPr/>
        <a:lstStyle/>
        <a:p>
          <a:endParaRPr lang="en-IN"/>
        </a:p>
      </dgm:t>
    </dgm:pt>
    <dgm:pt modelId="{1F1A031C-18AD-43D6-ABF4-70EB2174DBA4}" type="sibTrans" cxnId="{748ED2A6-B38B-4A40-9FA3-D15724CAA251}">
      <dgm:prSet/>
      <dgm:spPr/>
      <dgm:t>
        <a:bodyPr/>
        <a:lstStyle/>
        <a:p>
          <a:endParaRPr lang="en-IN"/>
        </a:p>
      </dgm:t>
    </dgm:pt>
    <dgm:pt modelId="{12DE0875-A996-4075-8A5A-CE69757E66D3}">
      <dgm:prSet phldrT="[Text]" custT="1"/>
      <dgm:spPr/>
      <dgm:t>
        <a:bodyPr/>
        <a:lstStyle/>
        <a:p>
          <a:r>
            <a:rPr lang="en-IN" sz="2000" dirty="0"/>
            <a:t>A2C</a:t>
          </a:r>
        </a:p>
      </dgm:t>
    </dgm:pt>
    <dgm:pt modelId="{0F0F42BD-7DC0-471C-BF5B-2A43B31B93F4}" type="parTrans" cxnId="{EC645330-23B8-450A-920E-55265B33D64B}">
      <dgm:prSet/>
      <dgm:spPr/>
      <dgm:t>
        <a:bodyPr/>
        <a:lstStyle/>
        <a:p>
          <a:endParaRPr lang="en-IN"/>
        </a:p>
      </dgm:t>
    </dgm:pt>
    <dgm:pt modelId="{FC9D63A8-AFB6-4F67-814B-985296C2F08D}" type="sibTrans" cxnId="{EC645330-23B8-450A-920E-55265B33D64B}">
      <dgm:prSet/>
      <dgm:spPr/>
      <dgm:t>
        <a:bodyPr/>
        <a:lstStyle/>
        <a:p>
          <a:endParaRPr lang="en-IN"/>
        </a:p>
      </dgm:t>
    </dgm:pt>
    <dgm:pt modelId="{B49E0811-230C-44EE-856E-85CC2DA90AA7}">
      <dgm:prSet phldrT="[Text]" custT="1"/>
      <dgm:spPr/>
      <dgm:t>
        <a:bodyPr/>
        <a:lstStyle/>
        <a:p>
          <a:r>
            <a:rPr lang="en-IN" sz="1400" dirty="0"/>
            <a:t>On-Policy</a:t>
          </a:r>
        </a:p>
      </dgm:t>
    </dgm:pt>
    <dgm:pt modelId="{BC274012-8F6E-4101-A876-3D1D5611CDF4}" type="parTrans" cxnId="{97F7773E-7F75-4FB7-9BBE-A8119763BBC5}">
      <dgm:prSet/>
      <dgm:spPr/>
      <dgm:t>
        <a:bodyPr/>
        <a:lstStyle/>
        <a:p>
          <a:endParaRPr lang="en-IN"/>
        </a:p>
      </dgm:t>
    </dgm:pt>
    <dgm:pt modelId="{54CE32F1-C175-4C50-BC4C-627BD2C9A175}" type="sibTrans" cxnId="{97F7773E-7F75-4FB7-9BBE-A8119763BBC5}">
      <dgm:prSet/>
      <dgm:spPr/>
      <dgm:t>
        <a:bodyPr/>
        <a:lstStyle/>
        <a:p>
          <a:endParaRPr lang="en-IN"/>
        </a:p>
      </dgm:t>
    </dgm:pt>
    <dgm:pt modelId="{64E65941-7296-4581-B8BF-F47119DD8BB9}">
      <dgm:prSet phldrT="[Text]" custT="1"/>
      <dgm:spPr/>
      <dgm:t>
        <a:bodyPr/>
        <a:lstStyle/>
        <a:p>
          <a:r>
            <a:rPr lang="en-IN" sz="2000" dirty="0"/>
            <a:t>DDPG</a:t>
          </a:r>
        </a:p>
      </dgm:t>
    </dgm:pt>
    <dgm:pt modelId="{097D25C6-FE09-44F5-9B3E-0D5039C8EFFF}" type="parTrans" cxnId="{8CD7A44A-1ABC-483B-9B5E-312C02D5E358}">
      <dgm:prSet/>
      <dgm:spPr/>
      <dgm:t>
        <a:bodyPr/>
        <a:lstStyle/>
        <a:p>
          <a:endParaRPr lang="en-IN"/>
        </a:p>
      </dgm:t>
    </dgm:pt>
    <dgm:pt modelId="{D94C7149-CB74-457D-9676-CA60E384BFBB}" type="sibTrans" cxnId="{8CD7A44A-1ABC-483B-9B5E-312C02D5E358}">
      <dgm:prSet/>
      <dgm:spPr/>
      <dgm:t>
        <a:bodyPr/>
        <a:lstStyle/>
        <a:p>
          <a:endParaRPr lang="en-IN"/>
        </a:p>
      </dgm:t>
    </dgm:pt>
    <dgm:pt modelId="{9BD547FB-7C66-4565-8061-7A4BFD622C1C}">
      <dgm:prSet phldrT="[Text]" custT="1"/>
      <dgm:spPr/>
      <dgm:t>
        <a:bodyPr/>
        <a:lstStyle/>
        <a:p>
          <a:r>
            <a:rPr lang="en-IN" sz="1400" dirty="0"/>
            <a:t>Off-Policy</a:t>
          </a:r>
        </a:p>
      </dgm:t>
    </dgm:pt>
    <dgm:pt modelId="{4A7CF2EA-7502-40DF-917B-F527BA3759F7}" type="parTrans" cxnId="{91A9EFDA-CA6F-4264-88D5-88F089544163}">
      <dgm:prSet/>
      <dgm:spPr/>
      <dgm:t>
        <a:bodyPr/>
        <a:lstStyle/>
        <a:p>
          <a:endParaRPr lang="en-IN"/>
        </a:p>
      </dgm:t>
    </dgm:pt>
    <dgm:pt modelId="{8A0890A5-1478-4FE7-B901-A954B018FC4A}" type="sibTrans" cxnId="{91A9EFDA-CA6F-4264-88D5-88F089544163}">
      <dgm:prSet/>
      <dgm:spPr/>
      <dgm:t>
        <a:bodyPr/>
        <a:lstStyle/>
        <a:p>
          <a:endParaRPr lang="en-IN"/>
        </a:p>
      </dgm:t>
    </dgm:pt>
    <dgm:pt modelId="{1152D8CA-FC51-435B-B994-7480F9E70DFE}">
      <dgm:prSet phldrT="[Text]" custT="1"/>
      <dgm:spPr/>
      <dgm:t>
        <a:bodyPr/>
        <a:lstStyle/>
        <a:p>
          <a:r>
            <a:rPr lang="en-IN" sz="2000" dirty="0"/>
            <a:t>TD3</a:t>
          </a:r>
        </a:p>
      </dgm:t>
    </dgm:pt>
    <dgm:pt modelId="{8A70382D-79C8-4749-8EBD-FD8D95B70D9B}" type="parTrans" cxnId="{553C0051-08A6-47FF-ACB0-01E4D473723F}">
      <dgm:prSet/>
      <dgm:spPr/>
      <dgm:t>
        <a:bodyPr/>
        <a:lstStyle/>
        <a:p>
          <a:endParaRPr lang="en-IN"/>
        </a:p>
      </dgm:t>
    </dgm:pt>
    <dgm:pt modelId="{070E4B43-5107-4C98-92F5-562A0C32DBDA}" type="sibTrans" cxnId="{553C0051-08A6-47FF-ACB0-01E4D473723F}">
      <dgm:prSet/>
      <dgm:spPr/>
      <dgm:t>
        <a:bodyPr/>
        <a:lstStyle/>
        <a:p>
          <a:endParaRPr lang="en-IN"/>
        </a:p>
      </dgm:t>
    </dgm:pt>
    <dgm:pt modelId="{E4C7485A-FCE6-4A5A-8C63-3EF9C2583209}">
      <dgm:prSet phldrT="[Text]" custT="1"/>
      <dgm:spPr/>
      <dgm:t>
        <a:bodyPr/>
        <a:lstStyle/>
        <a:p>
          <a:r>
            <a:rPr lang="en-IN" sz="2000" dirty="0"/>
            <a:t>SAC</a:t>
          </a:r>
        </a:p>
      </dgm:t>
    </dgm:pt>
    <dgm:pt modelId="{05A56D9E-FCDA-4742-9793-029DE3ED8E8B}" type="parTrans" cxnId="{5E1102CF-0788-4358-BD02-3ABE6B6E3658}">
      <dgm:prSet/>
      <dgm:spPr/>
      <dgm:t>
        <a:bodyPr/>
        <a:lstStyle/>
        <a:p>
          <a:endParaRPr lang="en-IN"/>
        </a:p>
      </dgm:t>
    </dgm:pt>
    <dgm:pt modelId="{F0BECD2C-C65B-4185-BBF6-C186B8BEA237}" type="sibTrans" cxnId="{5E1102CF-0788-4358-BD02-3ABE6B6E3658}">
      <dgm:prSet/>
      <dgm:spPr/>
      <dgm:t>
        <a:bodyPr/>
        <a:lstStyle/>
        <a:p>
          <a:endParaRPr lang="en-IN"/>
        </a:p>
      </dgm:t>
    </dgm:pt>
    <dgm:pt modelId="{B05F58B0-3C91-4DC9-AF71-9D21A48519B3}">
      <dgm:prSet phldrT="[Text]" custT="1"/>
      <dgm:spPr/>
      <dgm:t>
        <a:bodyPr/>
        <a:lstStyle/>
        <a:p>
          <a:r>
            <a:rPr lang="en-IN" sz="1400" dirty="0"/>
            <a:t>Off-Policy</a:t>
          </a:r>
        </a:p>
      </dgm:t>
    </dgm:pt>
    <dgm:pt modelId="{59FE7ED1-E408-47A7-AEEC-942A3A408F3E}" type="parTrans" cxnId="{2F58549D-4E8B-4FBE-99A9-42E67A22F5DE}">
      <dgm:prSet/>
      <dgm:spPr/>
      <dgm:t>
        <a:bodyPr/>
        <a:lstStyle/>
        <a:p>
          <a:endParaRPr lang="en-IN"/>
        </a:p>
      </dgm:t>
    </dgm:pt>
    <dgm:pt modelId="{0D9FA12B-7575-493E-9316-16EFB174988E}" type="sibTrans" cxnId="{2F58549D-4E8B-4FBE-99A9-42E67A22F5DE}">
      <dgm:prSet/>
      <dgm:spPr/>
      <dgm:t>
        <a:bodyPr/>
        <a:lstStyle/>
        <a:p>
          <a:endParaRPr lang="en-IN"/>
        </a:p>
      </dgm:t>
    </dgm:pt>
    <dgm:pt modelId="{55E199D5-1664-4986-AC0B-C411B50E3634}">
      <dgm:prSet phldrT="[Text]" custT="1"/>
      <dgm:spPr/>
      <dgm:t>
        <a:bodyPr/>
        <a:lstStyle/>
        <a:p>
          <a:r>
            <a:rPr lang="en-IN" sz="1400" dirty="0"/>
            <a:t>Off-Policy</a:t>
          </a:r>
        </a:p>
      </dgm:t>
    </dgm:pt>
    <dgm:pt modelId="{3478A2F8-C908-430D-A30B-E0C0ADF89CD7}" type="parTrans" cxnId="{5DF88826-CA76-4706-B50A-6635DCC11F85}">
      <dgm:prSet/>
      <dgm:spPr/>
      <dgm:t>
        <a:bodyPr/>
        <a:lstStyle/>
        <a:p>
          <a:endParaRPr lang="en-IN"/>
        </a:p>
      </dgm:t>
    </dgm:pt>
    <dgm:pt modelId="{7681C8C3-D324-4216-ACA8-8733DEFFDF17}" type="sibTrans" cxnId="{5DF88826-CA76-4706-B50A-6635DCC11F85}">
      <dgm:prSet/>
      <dgm:spPr/>
      <dgm:t>
        <a:bodyPr/>
        <a:lstStyle/>
        <a:p>
          <a:endParaRPr lang="en-IN"/>
        </a:p>
      </dgm:t>
    </dgm:pt>
    <dgm:pt modelId="{3EF52602-35C5-4BBB-AB99-6180B82ED64C}">
      <dgm:prSet phldrT="[Text]" custT="1"/>
      <dgm:spPr/>
      <dgm:t>
        <a:bodyPr/>
        <a:lstStyle/>
        <a:p>
          <a:r>
            <a:rPr lang="en-IN" sz="1400" dirty="0"/>
            <a:t>On-Policy</a:t>
          </a:r>
        </a:p>
      </dgm:t>
    </dgm:pt>
    <dgm:pt modelId="{DB59D508-08D4-4E42-82E7-7C7A45DAF860}" type="sibTrans" cxnId="{7E3CB971-9E4A-4DEB-8123-34EF970779DE}">
      <dgm:prSet/>
      <dgm:spPr/>
      <dgm:t>
        <a:bodyPr/>
        <a:lstStyle/>
        <a:p>
          <a:endParaRPr lang="en-IN"/>
        </a:p>
      </dgm:t>
    </dgm:pt>
    <dgm:pt modelId="{B70405CD-C42A-4F41-8E46-E8624CBDDA2A}" type="parTrans" cxnId="{7E3CB971-9E4A-4DEB-8123-34EF970779DE}">
      <dgm:prSet/>
      <dgm:spPr/>
      <dgm:t>
        <a:bodyPr/>
        <a:lstStyle/>
        <a:p>
          <a:endParaRPr lang="en-IN"/>
        </a:p>
      </dgm:t>
    </dgm:pt>
    <dgm:pt modelId="{B07E6C8C-BD4B-4BBE-B8BE-1A03B4F71CEA}">
      <dgm:prSet custT="1"/>
      <dgm:spPr/>
      <dgm:t>
        <a:bodyPr/>
        <a:lstStyle/>
        <a:p>
          <a:r>
            <a:rPr lang="en-IN" sz="1400" dirty="0"/>
            <a:t>Stable and reliable performance</a:t>
          </a:r>
        </a:p>
      </dgm:t>
    </dgm:pt>
    <dgm:pt modelId="{DBAF2DFE-92D4-4C41-B871-1DB97A9F0533}" type="parTrans" cxnId="{F5DDF831-D19F-40BC-835E-33664BF8E699}">
      <dgm:prSet/>
      <dgm:spPr/>
      <dgm:t>
        <a:bodyPr/>
        <a:lstStyle/>
        <a:p>
          <a:endParaRPr lang="en-IN"/>
        </a:p>
      </dgm:t>
    </dgm:pt>
    <dgm:pt modelId="{E4183D17-E63D-4195-8910-7D26500C779A}" type="sibTrans" cxnId="{F5DDF831-D19F-40BC-835E-33664BF8E699}">
      <dgm:prSet/>
      <dgm:spPr/>
      <dgm:t>
        <a:bodyPr/>
        <a:lstStyle/>
        <a:p>
          <a:endParaRPr lang="en-IN"/>
        </a:p>
      </dgm:t>
    </dgm:pt>
    <dgm:pt modelId="{C60F766C-C50E-4B0E-B604-E3B5B8056E69}">
      <dgm:prSet custT="1"/>
      <dgm:spPr/>
      <dgm:t>
        <a:bodyPr/>
        <a:lstStyle/>
        <a:p>
          <a:r>
            <a:rPr lang="en-US" sz="1400" dirty="0"/>
            <a:t>Struggles with environments requiring precise fine-tuning</a:t>
          </a:r>
          <a:endParaRPr lang="en-IN" sz="1400" dirty="0"/>
        </a:p>
      </dgm:t>
    </dgm:pt>
    <dgm:pt modelId="{3B3EB01D-6B76-4D77-A6E7-D79859752DFC}" type="parTrans" cxnId="{68BCDFE3-F848-4D7C-8716-4DE4AF741CCC}">
      <dgm:prSet/>
      <dgm:spPr/>
      <dgm:t>
        <a:bodyPr/>
        <a:lstStyle/>
        <a:p>
          <a:endParaRPr lang="en-IN"/>
        </a:p>
      </dgm:t>
    </dgm:pt>
    <dgm:pt modelId="{FC5DDA29-EAEA-4669-BB3B-05C882713F6F}" type="sibTrans" cxnId="{68BCDFE3-F848-4D7C-8716-4DE4AF741CCC}">
      <dgm:prSet/>
      <dgm:spPr/>
      <dgm:t>
        <a:bodyPr/>
        <a:lstStyle/>
        <a:p>
          <a:endParaRPr lang="en-IN"/>
        </a:p>
      </dgm:t>
    </dgm:pt>
    <dgm:pt modelId="{20E6B789-D93A-4E08-A427-24118935143F}">
      <dgm:prSet custT="1"/>
      <dgm:spPr/>
      <dgm:t>
        <a:bodyPr/>
        <a:lstStyle/>
        <a:p>
          <a:r>
            <a:rPr lang="en-US" sz="1400" dirty="0"/>
            <a:t>Simple and fast to train</a:t>
          </a:r>
          <a:endParaRPr lang="en-IN" sz="1400" dirty="0"/>
        </a:p>
      </dgm:t>
    </dgm:pt>
    <dgm:pt modelId="{4CC665D5-7F2F-475D-8E43-0E94D72661CB}" type="parTrans" cxnId="{12C37503-09AF-4F75-92F0-76BE8E327E7B}">
      <dgm:prSet/>
      <dgm:spPr/>
      <dgm:t>
        <a:bodyPr/>
        <a:lstStyle/>
        <a:p>
          <a:endParaRPr lang="en-IN"/>
        </a:p>
      </dgm:t>
    </dgm:pt>
    <dgm:pt modelId="{C48BD43F-33F3-4D96-9D9E-32697E6E023F}" type="sibTrans" cxnId="{12C37503-09AF-4F75-92F0-76BE8E327E7B}">
      <dgm:prSet/>
      <dgm:spPr/>
      <dgm:t>
        <a:bodyPr/>
        <a:lstStyle/>
        <a:p>
          <a:endParaRPr lang="en-IN"/>
        </a:p>
      </dgm:t>
    </dgm:pt>
    <dgm:pt modelId="{6DD3F09E-0045-4221-B02E-1CC276B65275}">
      <dgm:prSet custT="1"/>
      <dgm:spPr/>
      <dgm:t>
        <a:bodyPr/>
        <a:lstStyle/>
        <a:p>
          <a:r>
            <a:rPr lang="en-US" sz="1400" dirty="0"/>
            <a:t>High variance in policy gradient compared to other advanced algorithms</a:t>
          </a:r>
          <a:endParaRPr lang="en-IN" sz="1400" dirty="0"/>
        </a:p>
      </dgm:t>
    </dgm:pt>
    <dgm:pt modelId="{F6F70A1B-7C73-4CEA-AAA5-B8419D325F3B}" type="parTrans" cxnId="{1346C8BB-5592-483B-ABAF-A3E2F37FCCD9}">
      <dgm:prSet/>
      <dgm:spPr/>
      <dgm:t>
        <a:bodyPr/>
        <a:lstStyle/>
        <a:p>
          <a:endParaRPr lang="en-IN"/>
        </a:p>
      </dgm:t>
    </dgm:pt>
    <dgm:pt modelId="{A10CF91A-0DDA-434A-83FE-446255C25020}" type="sibTrans" cxnId="{1346C8BB-5592-483B-ABAF-A3E2F37FCCD9}">
      <dgm:prSet/>
      <dgm:spPr/>
      <dgm:t>
        <a:bodyPr/>
        <a:lstStyle/>
        <a:p>
          <a:endParaRPr lang="en-IN"/>
        </a:p>
      </dgm:t>
    </dgm:pt>
    <dgm:pt modelId="{0C72D95F-4EF9-4893-A900-E6672B5C81B1}">
      <dgm:prSet custT="1"/>
      <dgm:spPr/>
      <dgm:t>
        <a:bodyPr/>
        <a:lstStyle/>
        <a:p>
          <a:r>
            <a:rPr lang="en-US" sz="1400" dirty="0"/>
            <a:t>Suited for continuous action spaces</a:t>
          </a:r>
          <a:endParaRPr lang="en-IN" sz="1400" dirty="0"/>
        </a:p>
      </dgm:t>
    </dgm:pt>
    <dgm:pt modelId="{D3E21CC5-8B98-43BF-A075-19BC0F1305A0}" type="parTrans" cxnId="{14484CC9-40AF-4D07-B27C-CAA3E6AC6404}">
      <dgm:prSet/>
      <dgm:spPr/>
      <dgm:t>
        <a:bodyPr/>
        <a:lstStyle/>
        <a:p>
          <a:endParaRPr lang="en-IN"/>
        </a:p>
      </dgm:t>
    </dgm:pt>
    <dgm:pt modelId="{98ACCAF6-9F16-4B5B-ADB5-5EDB07674D7E}" type="sibTrans" cxnId="{14484CC9-40AF-4D07-B27C-CAA3E6AC6404}">
      <dgm:prSet/>
      <dgm:spPr/>
      <dgm:t>
        <a:bodyPr/>
        <a:lstStyle/>
        <a:p>
          <a:endParaRPr lang="en-IN"/>
        </a:p>
      </dgm:t>
    </dgm:pt>
    <dgm:pt modelId="{628E2AF7-7D16-4249-B694-988BEDB19D24}">
      <dgm:prSet custT="1"/>
      <dgm:spPr/>
      <dgm:t>
        <a:bodyPr/>
        <a:lstStyle/>
        <a:p>
          <a:r>
            <a:rPr lang="en-US" sz="1400" dirty="0"/>
            <a:t>Sensitive to hyperparameters and noise</a:t>
          </a:r>
          <a:endParaRPr lang="en-IN" sz="1400" dirty="0"/>
        </a:p>
      </dgm:t>
    </dgm:pt>
    <dgm:pt modelId="{85DA3913-DDE4-4447-B4A0-BB7DF812D022}" type="parTrans" cxnId="{68406AC6-B3C7-4BA8-BC4A-219978FE2AB7}">
      <dgm:prSet/>
      <dgm:spPr/>
      <dgm:t>
        <a:bodyPr/>
        <a:lstStyle/>
        <a:p>
          <a:endParaRPr lang="en-IN"/>
        </a:p>
      </dgm:t>
    </dgm:pt>
    <dgm:pt modelId="{C4226903-1F50-4B5C-87E7-75D6D23260C3}" type="sibTrans" cxnId="{68406AC6-B3C7-4BA8-BC4A-219978FE2AB7}">
      <dgm:prSet/>
      <dgm:spPr/>
      <dgm:t>
        <a:bodyPr/>
        <a:lstStyle/>
        <a:p>
          <a:endParaRPr lang="en-IN"/>
        </a:p>
      </dgm:t>
    </dgm:pt>
    <dgm:pt modelId="{0326EC29-BEBF-4730-8EB2-0785796539AF}">
      <dgm:prSet phldrT="[Text]" custT="1"/>
      <dgm:spPr/>
      <dgm:t>
        <a:bodyPr/>
        <a:lstStyle/>
        <a:p>
          <a:r>
            <a:rPr lang="en-US" sz="1400" dirty="0"/>
            <a:t>Delayed policy updates and target smoothing enhance robustness</a:t>
          </a:r>
          <a:endParaRPr lang="en-IN" sz="1400" dirty="0"/>
        </a:p>
      </dgm:t>
    </dgm:pt>
    <dgm:pt modelId="{BD22E72F-3F16-4EA7-BF5C-8CD65CE3A33E}" type="parTrans" cxnId="{BA20A392-EAFA-4473-8A9D-9B80888D42E1}">
      <dgm:prSet/>
      <dgm:spPr/>
      <dgm:t>
        <a:bodyPr/>
        <a:lstStyle/>
        <a:p>
          <a:endParaRPr lang="en-IN"/>
        </a:p>
      </dgm:t>
    </dgm:pt>
    <dgm:pt modelId="{3CD69D21-3E19-4EBF-8215-66A069F408D2}" type="sibTrans" cxnId="{BA20A392-EAFA-4473-8A9D-9B80888D42E1}">
      <dgm:prSet/>
      <dgm:spPr/>
      <dgm:t>
        <a:bodyPr/>
        <a:lstStyle/>
        <a:p>
          <a:endParaRPr lang="en-IN"/>
        </a:p>
      </dgm:t>
    </dgm:pt>
    <dgm:pt modelId="{3641A51D-EE87-4921-A4CD-F276087BDDFD}">
      <dgm:prSet phldrT="[Text]" custT="1"/>
      <dgm:spPr/>
      <dgm:t>
        <a:bodyPr/>
        <a:lstStyle/>
        <a:p>
          <a:r>
            <a:rPr lang="en-US" sz="1400" dirty="0"/>
            <a:t>More complex and computationally intensive</a:t>
          </a:r>
          <a:endParaRPr lang="en-IN" sz="1400" dirty="0"/>
        </a:p>
      </dgm:t>
    </dgm:pt>
    <dgm:pt modelId="{0C5776A9-F2D8-4C6E-BD17-156D68814F21}" type="parTrans" cxnId="{2C634A49-000F-40E0-B578-1FAF60EBBB7A}">
      <dgm:prSet/>
      <dgm:spPr/>
      <dgm:t>
        <a:bodyPr/>
        <a:lstStyle/>
        <a:p>
          <a:endParaRPr lang="en-IN"/>
        </a:p>
      </dgm:t>
    </dgm:pt>
    <dgm:pt modelId="{F62E83D7-EEE1-423D-BC8D-D7AAC4B259AC}" type="sibTrans" cxnId="{2C634A49-000F-40E0-B578-1FAF60EBBB7A}">
      <dgm:prSet/>
      <dgm:spPr/>
      <dgm:t>
        <a:bodyPr/>
        <a:lstStyle/>
        <a:p>
          <a:endParaRPr lang="en-IN"/>
        </a:p>
      </dgm:t>
    </dgm:pt>
    <dgm:pt modelId="{1A87FB3C-09D6-4AB8-9D79-A185059A69C8}">
      <dgm:prSet phldrT="[Text]" custT="1"/>
      <dgm:spPr/>
      <dgm:t>
        <a:bodyPr/>
        <a:lstStyle/>
        <a:p>
          <a:r>
            <a:rPr lang="en-US" sz="1400" dirty="0"/>
            <a:t>Encourages exploration with entropy term</a:t>
          </a:r>
          <a:endParaRPr lang="en-IN" sz="1400" dirty="0"/>
        </a:p>
      </dgm:t>
    </dgm:pt>
    <dgm:pt modelId="{E758BA42-EF71-485E-9EB8-42B683B1084B}" type="parTrans" cxnId="{48E1486B-30E4-4B22-B939-B43BCC20BC08}">
      <dgm:prSet/>
      <dgm:spPr/>
      <dgm:t>
        <a:bodyPr/>
        <a:lstStyle/>
        <a:p>
          <a:endParaRPr lang="en-IN"/>
        </a:p>
      </dgm:t>
    </dgm:pt>
    <dgm:pt modelId="{880BAE9B-5FBD-4C13-9D0C-BD09693921B5}" type="sibTrans" cxnId="{48E1486B-30E4-4B22-B939-B43BCC20BC08}">
      <dgm:prSet/>
      <dgm:spPr/>
      <dgm:t>
        <a:bodyPr/>
        <a:lstStyle/>
        <a:p>
          <a:endParaRPr lang="en-IN"/>
        </a:p>
      </dgm:t>
    </dgm:pt>
    <dgm:pt modelId="{1431A17F-2B10-4D7F-AD75-2CBDEDD99A0A}">
      <dgm:prSet phldrT="[Text]" custT="1"/>
      <dgm:spPr/>
      <dgm:t>
        <a:bodyPr/>
        <a:lstStyle/>
        <a:p>
          <a:r>
            <a:rPr lang="en-IN" sz="1400" dirty="0"/>
            <a:t>Less sensitive to hyperparameters</a:t>
          </a:r>
          <a:r>
            <a:rPr lang="en-US" sz="1400" dirty="0"/>
            <a:t>
May underperform in low-exploration environments</a:t>
          </a:r>
          <a:endParaRPr lang="en-IN" sz="1400" dirty="0"/>
        </a:p>
      </dgm:t>
    </dgm:pt>
    <dgm:pt modelId="{2BA3F610-EC5D-4E61-A3C0-10376A03BA90}" type="parTrans" cxnId="{0F1BBCD2-619E-4436-87B3-65375C687386}">
      <dgm:prSet/>
      <dgm:spPr/>
      <dgm:t>
        <a:bodyPr/>
        <a:lstStyle/>
        <a:p>
          <a:endParaRPr lang="en-IN"/>
        </a:p>
      </dgm:t>
    </dgm:pt>
    <dgm:pt modelId="{23F30972-6357-4648-878B-5E86B04E4C63}" type="sibTrans" cxnId="{0F1BBCD2-619E-4436-87B3-65375C687386}">
      <dgm:prSet/>
      <dgm:spPr/>
      <dgm:t>
        <a:bodyPr/>
        <a:lstStyle/>
        <a:p>
          <a:endParaRPr lang="en-IN"/>
        </a:p>
      </dgm:t>
    </dgm:pt>
    <dgm:pt modelId="{B5138845-9E4E-40D9-B977-3303FD61F239}" type="pres">
      <dgm:prSet presAssocID="{92485DD2-329C-41C3-A5E7-08BBC3F6F520}" presName="Name0" presStyleCnt="0">
        <dgm:presLayoutVars>
          <dgm:dir/>
          <dgm:animLvl val="lvl"/>
          <dgm:resizeHandles val="exact"/>
        </dgm:presLayoutVars>
      </dgm:prSet>
      <dgm:spPr/>
    </dgm:pt>
    <dgm:pt modelId="{2EFF8CDE-C13B-4C6A-813C-53F8F716F894}" type="pres">
      <dgm:prSet presAssocID="{C6834119-4F10-4618-A756-E8BB88B9FACD}" presName="composite" presStyleCnt="0"/>
      <dgm:spPr/>
    </dgm:pt>
    <dgm:pt modelId="{AAA5D57B-A957-4FC3-8777-0A5EEEA5EC15}" type="pres">
      <dgm:prSet presAssocID="{C6834119-4F10-4618-A756-E8BB88B9FACD}" presName="parTx" presStyleLbl="alignNode1" presStyleIdx="0" presStyleCnt="5">
        <dgm:presLayoutVars>
          <dgm:chMax val="0"/>
          <dgm:chPref val="0"/>
          <dgm:bulletEnabled val="1"/>
        </dgm:presLayoutVars>
      </dgm:prSet>
      <dgm:spPr/>
    </dgm:pt>
    <dgm:pt modelId="{E609F12B-A3B0-4A0E-B722-4ED40B57E0E3}" type="pres">
      <dgm:prSet presAssocID="{C6834119-4F10-4618-A756-E8BB88B9FACD}" presName="desTx" presStyleLbl="alignAccFollowNode1" presStyleIdx="0" presStyleCnt="5" custScaleY="99924">
        <dgm:presLayoutVars>
          <dgm:bulletEnabled val="1"/>
        </dgm:presLayoutVars>
      </dgm:prSet>
      <dgm:spPr/>
    </dgm:pt>
    <dgm:pt modelId="{9D9742DF-FB56-473B-95DF-0EF1E66626CF}" type="pres">
      <dgm:prSet presAssocID="{1F1A031C-18AD-43D6-ABF4-70EB2174DBA4}" presName="space" presStyleCnt="0"/>
      <dgm:spPr/>
    </dgm:pt>
    <dgm:pt modelId="{646483E5-E203-4FDF-9671-1B38C59401A3}" type="pres">
      <dgm:prSet presAssocID="{12DE0875-A996-4075-8A5A-CE69757E66D3}" presName="composite" presStyleCnt="0"/>
      <dgm:spPr/>
    </dgm:pt>
    <dgm:pt modelId="{6FA94EC0-1023-4417-B747-E61692AE24DA}" type="pres">
      <dgm:prSet presAssocID="{12DE0875-A996-4075-8A5A-CE69757E66D3}" presName="parTx" presStyleLbl="alignNode1" presStyleIdx="1" presStyleCnt="5">
        <dgm:presLayoutVars>
          <dgm:chMax val="0"/>
          <dgm:chPref val="0"/>
          <dgm:bulletEnabled val="1"/>
        </dgm:presLayoutVars>
      </dgm:prSet>
      <dgm:spPr/>
    </dgm:pt>
    <dgm:pt modelId="{B68813CC-32B3-4EA4-B0D1-D20B44BBF304}" type="pres">
      <dgm:prSet presAssocID="{12DE0875-A996-4075-8A5A-CE69757E66D3}" presName="desTx" presStyleLbl="alignAccFollowNode1" presStyleIdx="1" presStyleCnt="5">
        <dgm:presLayoutVars>
          <dgm:bulletEnabled val="1"/>
        </dgm:presLayoutVars>
      </dgm:prSet>
      <dgm:spPr/>
    </dgm:pt>
    <dgm:pt modelId="{0C7B5675-8649-486B-BF6E-FD6FDCFA4962}" type="pres">
      <dgm:prSet presAssocID="{FC9D63A8-AFB6-4F67-814B-985296C2F08D}" presName="space" presStyleCnt="0"/>
      <dgm:spPr/>
    </dgm:pt>
    <dgm:pt modelId="{22870EAF-4047-48E9-A46F-FFCB87DF7774}" type="pres">
      <dgm:prSet presAssocID="{64E65941-7296-4581-B8BF-F47119DD8BB9}" presName="composite" presStyleCnt="0"/>
      <dgm:spPr/>
    </dgm:pt>
    <dgm:pt modelId="{5B4F8257-DED0-41BE-8BCA-D5E5F43BD66B}" type="pres">
      <dgm:prSet presAssocID="{64E65941-7296-4581-B8BF-F47119DD8BB9}" presName="parTx" presStyleLbl="alignNode1" presStyleIdx="2" presStyleCnt="5">
        <dgm:presLayoutVars>
          <dgm:chMax val="0"/>
          <dgm:chPref val="0"/>
          <dgm:bulletEnabled val="1"/>
        </dgm:presLayoutVars>
      </dgm:prSet>
      <dgm:spPr/>
    </dgm:pt>
    <dgm:pt modelId="{05A1EA31-73B5-4D46-B4B6-7E4D60728381}" type="pres">
      <dgm:prSet presAssocID="{64E65941-7296-4581-B8BF-F47119DD8BB9}" presName="desTx" presStyleLbl="alignAccFollowNode1" presStyleIdx="2" presStyleCnt="5">
        <dgm:presLayoutVars>
          <dgm:bulletEnabled val="1"/>
        </dgm:presLayoutVars>
      </dgm:prSet>
      <dgm:spPr/>
    </dgm:pt>
    <dgm:pt modelId="{9DADF745-6887-40BB-AF03-8F1CA3E5AC37}" type="pres">
      <dgm:prSet presAssocID="{D94C7149-CB74-457D-9676-CA60E384BFBB}" presName="space" presStyleCnt="0"/>
      <dgm:spPr/>
    </dgm:pt>
    <dgm:pt modelId="{E502DAB1-2036-412A-8EA6-CB55631DB671}" type="pres">
      <dgm:prSet presAssocID="{1152D8CA-FC51-435B-B994-7480F9E70DFE}" presName="composite" presStyleCnt="0"/>
      <dgm:spPr/>
    </dgm:pt>
    <dgm:pt modelId="{C4409222-1A65-405C-A02C-EC2118CE14A0}" type="pres">
      <dgm:prSet presAssocID="{1152D8CA-FC51-435B-B994-7480F9E70DFE}" presName="parTx" presStyleLbl="alignNode1" presStyleIdx="3" presStyleCnt="5">
        <dgm:presLayoutVars>
          <dgm:chMax val="0"/>
          <dgm:chPref val="0"/>
          <dgm:bulletEnabled val="1"/>
        </dgm:presLayoutVars>
      </dgm:prSet>
      <dgm:spPr/>
    </dgm:pt>
    <dgm:pt modelId="{04593C45-59A3-43C4-B4D9-4EA5EE185D28}" type="pres">
      <dgm:prSet presAssocID="{1152D8CA-FC51-435B-B994-7480F9E70DFE}" presName="desTx" presStyleLbl="alignAccFollowNode1" presStyleIdx="3" presStyleCnt="5">
        <dgm:presLayoutVars>
          <dgm:bulletEnabled val="1"/>
        </dgm:presLayoutVars>
      </dgm:prSet>
      <dgm:spPr/>
    </dgm:pt>
    <dgm:pt modelId="{FBBC457D-EBD8-4710-8346-204EBCEF00C4}" type="pres">
      <dgm:prSet presAssocID="{070E4B43-5107-4C98-92F5-562A0C32DBDA}" presName="space" presStyleCnt="0"/>
      <dgm:spPr/>
    </dgm:pt>
    <dgm:pt modelId="{6259B31E-5368-487B-94E5-59D4D222ACAD}" type="pres">
      <dgm:prSet presAssocID="{E4C7485A-FCE6-4A5A-8C63-3EF9C2583209}" presName="composite" presStyleCnt="0"/>
      <dgm:spPr/>
    </dgm:pt>
    <dgm:pt modelId="{30222077-9F6F-46DA-BE30-E04BDCB95F3E}" type="pres">
      <dgm:prSet presAssocID="{E4C7485A-FCE6-4A5A-8C63-3EF9C2583209}" presName="parTx" presStyleLbl="alignNode1" presStyleIdx="4" presStyleCnt="5">
        <dgm:presLayoutVars>
          <dgm:chMax val="0"/>
          <dgm:chPref val="0"/>
          <dgm:bulletEnabled val="1"/>
        </dgm:presLayoutVars>
      </dgm:prSet>
      <dgm:spPr/>
    </dgm:pt>
    <dgm:pt modelId="{96DEB2A7-BCEA-4047-AD2C-AB09C5711FB9}" type="pres">
      <dgm:prSet presAssocID="{E4C7485A-FCE6-4A5A-8C63-3EF9C2583209}" presName="desTx" presStyleLbl="alignAccFollowNode1" presStyleIdx="4" presStyleCnt="5">
        <dgm:presLayoutVars>
          <dgm:bulletEnabled val="1"/>
        </dgm:presLayoutVars>
      </dgm:prSet>
      <dgm:spPr/>
    </dgm:pt>
  </dgm:ptLst>
  <dgm:cxnLst>
    <dgm:cxn modelId="{12C37503-09AF-4F75-92F0-76BE8E327E7B}" srcId="{12DE0875-A996-4075-8A5A-CE69757E66D3}" destId="{20E6B789-D93A-4E08-A427-24118935143F}" srcOrd="1" destOrd="0" parTransId="{4CC665D5-7F2F-475D-8E43-0E94D72661CB}" sibTransId="{C48BD43F-33F3-4D96-9D9E-32697E6E023F}"/>
    <dgm:cxn modelId="{85FD9705-A079-4F01-85AE-94F1E4F26BCC}" type="presOf" srcId="{B49E0811-230C-44EE-856E-85CC2DA90AA7}" destId="{B68813CC-32B3-4EA4-B0D1-D20B44BBF304}" srcOrd="0" destOrd="0" presId="urn:microsoft.com/office/officeart/2005/8/layout/hList1"/>
    <dgm:cxn modelId="{5DF88826-CA76-4706-B50A-6635DCC11F85}" srcId="{E4C7485A-FCE6-4A5A-8C63-3EF9C2583209}" destId="{55E199D5-1664-4986-AC0B-C411B50E3634}" srcOrd="0" destOrd="0" parTransId="{3478A2F8-C908-430D-A30B-E0C0ADF89CD7}" sibTransId="{7681C8C3-D324-4216-ACA8-8733DEFFDF17}"/>
    <dgm:cxn modelId="{8501582B-BCA0-4F94-8545-2E3106F5D60F}" type="presOf" srcId="{0326EC29-BEBF-4730-8EB2-0785796539AF}" destId="{04593C45-59A3-43C4-B4D9-4EA5EE185D28}" srcOrd="0" destOrd="1" presId="urn:microsoft.com/office/officeart/2005/8/layout/hList1"/>
    <dgm:cxn modelId="{8DA9A52F-A779-4749-87B7-E92DAD55FD28}" type="presOf" srcId="{B07E6C8C-BD4B-4BBE-B8BE-1A03B4F71CEA}" destId="{E609F12B-A3B0-4A0E-B722-4ED40B57E0E3}" srcOrd="0" destOrd="1" presId="urn:microsoft.com/office/officeart/2005/8/layout/hList1"/>
    <dgm:cxn modelId="{EC645330-23B8-450A-920E-55265B33D64B}" srcId="{92485DD2-329C-41C3-A5E7-08BBC3F6F520}" destId="{12DE0875-A996-4075-8A5A-CE69757E66D3}" srcOrd="1" destOrd="0" parTransId="{0F0F42BD-7DC0-471C-BF5B-2A43B31B93F4}" sibTransId="{FC9D63A8-AFB6-4F67-814B-985296C2F08D}"/>
    <dgm:cxn modelId="{F5DDF831-D19F-40BC-835E-33664BF8E699}" srcId="{C6834119-4F10-4618-A756-E8BB88B9FACD}" destId="{B07E6C8C-BD4B-4BBE-B8BE-1A03B4F71CEA}" srcOrd="1" destOrd="0" parTransId="{DBAF2DFE-92D4-4C41-B871-1DB97A9F0533}" sibTransId="{E4183D17-E63D-4195-8910-7D26500C779A}"/>
    <dgm:cxn modelId="{1533A132-1ACC-400E-9E49-CEE9FB2508A7}" type="presOf" srcId="{1152D8CA-FC51-435B-B994-7480F9E70DFE}" destId="{C4409222-1A65-405C-A02C-EC2118CE14A0}" srcOrd="0" destOrd="0" presId="urn:microsoft.com/office/officeart/2005/8/layout/hList1"/>
    <dgm:cxn modelId="{C8C85D33-43B8-4EDF-A4DB-2F2C73D620D4}" type="presOf" srcId="{1A87FB3C-09D6-4AB8-9D79-A185059A69C8}" destId="{96DEB2A7-BCEA-4047-AD2C-AB09C5711FB9}" srcOrd="0" destOrd="1" presId="urn:microsoft.com/office/officeart/2005/8/layout/hList1"/>
    <dgm:cxn modelId="{97F7773E-7F75-4FB7-9BBE-A8119763BBC5}" srcId="{12DE0875-A996-4075-8A5A-CE69757E66D3}" destId="{B49E0811-230C-44EE-856E-85CC2DA90AA7}" srcOrd="0" destOrd="0" parTransId="{BC274012-8F6E-4101-A876-3D1D5611CDF4}" sibTransId="{54CE32F1-C175-4C50-BC4C-627BD2C9A175}"/>
    <dgm:cxn modelId="{91D49344-93F4-4E55-AF52-4A2F2063637C}" type="presOf" srcId="{92485DD2-329C-41C3-A5E7-08BBC3F6F520}" destId="{B5138845-9E4E-40D9-B977-3303FD61F239}" srcOrd="0" destOrd="0" presId="urn:microsoft.com/office/officeart/2005/8/layout/hList1"/>
    <dgm:cxn modelId="{2C634A49-000F-40E0-B578-1FAF60EBBB7A}" srcId="{1152D8CA-FC51-435B-B994-7480F9E70DFE}" destId="{3641A51D-EE87-4921-A4CD-F276087BDDFD}" srcOrd="2" destOrd="0" parTransId="{0C5776A9-F2D8-4C6E-BD17-156D68814F21}" sibTransId="{F62E83D7-EEE1-423D-BC8D-D7AAC4B259AC}"/>
    <dgm:cxn modelId="{8CD7A44A-1ABC-483B-9B5E-312C02D5E358}" srcId="{92485DD2-329C-41C3-A5E7-08BBC3F6F520}" destId="{64E65941-7296-4581-B8BF-F47119DD8BB9}" srcOrd="2" destOrd="0" parTransId="{097D25C6-FE09-44F5-9B3E-0D5039C8EFFF}" sibTransId="{D94C7149-CB74-457D-9676-CA60E384BFBB}"/>
    <dgm:cxn modelId="{48E1486B-30E4-4B22-B939-B43BCC20BC08}" srcId="{E4C7485A-FCE6-4A5A-8C63-3EF9C2583209}" destId="{1A87FB3C-09D6-4AB8-9D79-A185059A69C8}" srcOrd="1" destOrd="0" parTransId="{E758BA42-EF71-485E-9EB8-42B683B1084B}" sibTransId="{880BAE9B-5FBD-4C13-9D0C-BD09693921B5}"/>
    <dgm:cxn modelId="{6E18A06C-2B35-4606-8323-A0217F8B20A9}" type="presOf" srcId="{3EF52602-35C5-4BBB-AB99-6180B82ED64C}" destId="{E609F12B-A3B0-4A0E-B722-4ED40B57E0E3}" srcOrd="0" destOrd="0" presId="urn:microsoft.com/office/officeart/2005/8/layout/hList1"/>
    <dgm:cxn modelId="{F97EA550-149E-4ABD-AD55-E906F2322401}" type="presOf" srcId="{20E6B789-D93A-4E08-A427-24118935143F}" destId="{B68813CC-32B3-4EA4-B0D1-D20B44BBF304}" srcOrd="0" destOrd="1" presId="urn:microsoft.com/office/officeart/2005/8/layout/hList1"/>
    <dgm:cxn modelId="{553C0051-08A6-47FF-ACB0-01E4D473723F}" srcId="{92485DD2-329C-41C3-A5E7-08BBC3F6F520}" destId="{1152D8CA-FC51-435B-B994-7480F9E70DFE}" srcOrd="3" destOrd="0" parTransId="{8A70382D-79C8-4749-8EBD-FD8D95B70D9B}" sibTransId="{070E4B43-5107-4C98-92F5-562A0C32DBDA}"/>
    <dgm:cxn modelId="{A6963151-A1C8-4F67-85C7-080E01F18D2E}" type="presOf" srcId="{C6834119-4F10-4618-A756-E8BB88B9FACD}" destId="{AAA5D57B-A957-4FC3-8777-0A5EEEA5EC15}" srcOrd="0" destOrd="0" presId="urn:microsoft.com/office/officeart/2005/8/layout/hList1"/>
    <dgm:cxn modelId="{7E3CB971-9E4A-4DEB-8123-34EF970779DE}" srcId="{C6834119-4F10-4618-A756-E8BB88B9FACD}" destId="{3EF52602-35C5-4BBB-AB99-6180B82ED64C}" srcOrd="0" destOrd="0" parTransId="{B70405CD-C42A-4F41-8E46-E8624CBDDA2A}" sibTransId="{DB59D508-08D4-4E42-82E7-7C7A45DAF860}"/>
    <dgm:cxn modelId="{5F0C4257-614B-4472-904F-D837A7CDA968}" type="presOf" srcId="{628E2AF7-7D16-4249-B694-988BEDB19D24}" destId="{05A1EA31-73B5-4D46-B4B6-7E4D60728381}" srcOrd="0" destOrd="2" presId="urn:microsoft.com/office/officeart/2005/8/layout/hList1"/>
    <dgm:cxn modelId="{FF6CD68A-9097-499C-97BC-BEAB901EFFB1}" type="presOf" srcId="{12DE0875-A996-4075-8A5A-CE69757E66D3}" destId="{6FA94EC0-1023-4417-B747-E61692AE24DA}" srcOrd="0" destOrd="0" presId="urn:microsoft.com/office/officeart/2005/8/layout/hList1"/>
    <dgm:cxn modelId="{BA20A392-EAFA-4473-8A9D-9B80888D42E1}" srcId="{1152D8CA-FC51-435B-B994-7480F9E70DFE}" destId="{0326EC29-BEBF-4730-8EB2-0785796539AF}" srcOrd="1" destOrd="0" parTransId="{BD22E72F-3F16-4EA7-BF5C-8CD65CE3A33E}" sibTransId="{3CD69D21-3E19-4EBF-8215-66A069F408D2}"/>
    <dgm:cxn modelId="{63AF5F95-8280-4277-9CA8-452674DF7725}" type="presOf" srcId="{9BD547FB-7C66-4565-8061-7A4BFD622C1C}" destId="{05A1EA31-73B5-4D46-B4B6-7E4D60728381}" srcOrd="0" destOrd="0" presId="urn:microsoft.com/office/officeart/2005/8/layout/hList1"/>
    <dgm:cxn modelId="{2F58549D-4E8B-4FBE-99A9-42E67A22F5DE}" srcId="{1152D8CA-FC51-435B-B994-7480F9E70DFE}" destId="{B05F58B0-3C91-4DC9-AF71-9D21A48519B3}" srcOrd="0" destOrd="0" parTransId="{59FE7ED1-E408-47A7-AEEC-942A3A408F3E}" sibTransId="{0D9FA12B-7575-493E-9316-16EFB174988E}"/>
    <dgm:cxn modelId="{E30D93A2-85C3-4D51-A607-3D0137FBEDCA}" type="presOf" srcId="{3641A51D-EE87-4921-A4CD-F276087BDDFD}" destId="{04593C45-59A3-43C4-B4D9-4EA5EE185D28}" srcOrd="0" destOrd="2" presId="urn:microsoft.com/office/officeart/2005/8/layout/hList1"/>
    <dgm:cxn modelId="{748ED2A6-B38B-4A40-9FA3-D15724CAA251}" srcId="{92485DD2-329C-41C3-A5E7-08BBC3F6F520}" destId="{C6834119-4F10-4618-A756-E8BB88B9FACD}" srcOrd="0" destOrd="0" parTransId="{D7E00C26-C94D-4990-BF9B-025FEFCD01C2}" sibTransId="{1F1A031C-18AD-43D6-ABF4-70EB2174DBA4}"/>
    <dgm:cxn modelId="{FC1513B5-E9F5-4023-BF0A-B969A0F0BBB0}" type="presOf" srcId="{B05F58B0-3C91-4DC9-AF71-9D21A48519B3}" destId="{04593C45-59A3-43C4-B4D9-4EA5EE185D28}" srcOrd="0" destOrd="0" presId="urn:microsoft.com/office/officeart/2005/8/layout/hList1"/>
    <dgm:cxn modelId="{9F7542B6-29C2-4673-B41E-99F073F89987}" type="presOf" srcId="{E4C7485A-FCE6-4A5A-8C63-3EF9C2583209}" destId="{30222077-9F6F-46DA-BE30-E04BDCB95F3E}" srcOrd="0" destOrd="0" presId="urn:microsoft.com/office/officeart/2005/8/layout/hList1"/>
    <dgm:cxn modelId="{1346C8BB-5592-483B-ABAF-A3E2F37FCCD9}" srcId="{12DE0875-A996-4075-8A5A-CE69757E66D3}" destId="{6DD3F09E-0045-4221-B02E-1CC276B65275}" srcOrd="2" destOrd="0" parTransId="{F6F70A1B-7C73-4CEA-AAA5-B8419D325F3B}" sibTransId="{A10CF91A-0DDA-434A-83FE-446255C25020}"/>
    <dgm:cxn modelId="{8DA136C2-B23D-4152-A368-A1E14486045D}" type="presOf" srcId="{1431A17F-2B10-4D7F-AD75-2CBDEDD99A0A}" destId="{96DEB2A7-BCEA-4047-AD2C-AB09C5711FB9}" srcOrd="0" destOrd="2" presId="urn:microsoft.com/office/officeart/2005/8/layout/hList1"/>
    <dgm:cxn modelId="{68406AC6-B3C7-4BA8-BC4A-219978FE2AB7}" srcId="{64E65941-7296-4581-B8BF-F47119DD8BB9}" destId="{628E2AF7-7D16-4249-B694-988BEDB19D24}" srcOrd="2" destOrd="0" parTransId="{85DA3913-DDE4-4447-B4A0-BB7DF812D022}" sibTransId="{C4226903-1F50-4B5C-87E7-75D6D23260C3}"/>
    <dgm:cxn modelId="{14484CC9-40AF-4D07-B27C-CAA3E6AC6404}" srcId="{64E65941-7296-4581-B8BF-F47119DD8BB9}" destId="{0C72D95F-4EF9-4893-A900-E6672B5C81B1}" srcOrd="1" destOrd="0" parTransId="{D3E21CC5-8B98-43BF-A075-19BC0F1305A0}" sibTransId="{98ACCAF6-9F16-4B5B-ADB5-5EDB07674D7E}"/>
    <dgm:cxn modelId="{5E1102CF-0788-4358-BD02-3ABE6B6E3658}" srcId="{92485DD2-329C-41C3-A5E7-08BBC3F6F520}" destId="{E4C7485A-FCE6-4A5A-8C63-3EF9C2583209}" srcOrd="4" destOrd="0" parTransId="{05A56D9E-FCDA-4742-9793-029DE3ED8E8B}" sibTransId="{F0BECD2C-C65B-4185-BBF6-C186B8BEA237}"/>
    <dgm:cxn modelId="{AD03DDCF-97F1-4C57-A77A-B699B51245D1}" type="presOf" srcId="{C60F766C-C50E-4B0E-B604-E3B5B8056E69}" destId="{E609F12B-A3B0-4A0E-B722-4ED40B57E0E3}" srcOrd="0" destOrd="2" presId="urn:microsoft.com/office/officeart/2005/8/layout/hList1"/>
    <dgm:cxn modelId="{0F1BBCD2-619E-4436-87B3-65375C687386}" srcId="{E4C7485A-FCE6-4A5A-8C63-3EF9C2583209}" destId="{1431A17F-2B10-4D7F-AD75-2CBDEDD99A0A}" srcOrd="2" destOrd="0" parTransId="{2BA3F610-EC5D-4E61-A3C0-10376A03BA90}" sibTransId="{23F30972-6357-4648-878B-5E86B04E4C63}"/>
    <dgm:cxn modelId="{91A9EFDA-CA6F-4264-88D5-88F089544163}" srcId="{64E65941-7296-4581-B8BF-F47119DD8BB9}" destId="{9BD547FB-7C66-4565-8061-7A4BFD622C1C}" srcOrd="0" destOrd="0" parTransId="{4A7CF2EA-7502-40DF-917B-F527BA3759F7}" sibTransId="{8A0890A5-1478-4FE7-B901-A954B018FC4A}"/>
    <dgm:cxn modelId="{CA44B1E1-C372-493C-BBD2-F72B4C7B8F79}" type="presOf" srcId="{64E65941-7296-4581-B8BF-F47119DD8BB9}" destId="{5B4F8257-DED0-41BE-8BCA-D5E5F43BD66B}" srcOrd="0" destOrd="0" presId="urn:microsoft.com/office/officeart/2005/8/layout/hList1"/>
    <dgm:cxn modelId="{68BCDFE3-F848-4D7C-8716-4DE4AF741CCC}" srcId="{C6834119-4F10-4618-A756-E8BB88B9FACD}" destId="{C60F766C-C50E-4B0E-B604-E3B5B8056E69}" srcOrd="2" destOrd="0" parTransId="{3B3EB01D-6B76-4D77-A6E7-D79859752DFC}" sibTransId="{FC5DDA29-EAEA-4669-BB3B-05C882713F6F}"/>
    <dgm:cxn modelId="{CD4175F5-D9D5-419B-B005-A8566D790207}" type="presOf" srcId="{6DD3F09E-0045-4221-B02E-1CC276B65275}" destId="{B68813CC-32B3-4EA4-B0D1-D20B44BBF304}" srcOrd="0" destOrd="2" presId="urn:microsoft.com/office/officeart/2005/8/layout/hList1"/>
    <dgm:cxn modelId="{957C3CF8-9516-4E61-AFD3-AAA3C337E4FE}" type="presOf" srcId="{0C72D95F-4EF9-4893-A900-E6672B5C81B1}" destId="{05A1EA31-73B5-4D46-B4B6-7E4D60728381}" srcOrd="0" destOrd="1" presId="urn:microsoft.com/office/officeart/2005/8/layout/hList1"/>
    <dgm:cxn modelId="{54565DFC-24BD-4869-BAB8-DE5E2F020E0D}" type="presOf" srcId="{55E199D5-1664-4986-AC0B-C411B50E3634}" destId="{96DEB2A7-BCEA-4047-AD2C-AB09C5711FB9}" srcOrd="0" destOrd="0" presId="urn:microsoft.com/office/officeart/2005/8/layout/hList1"/>
    <dgm:cxn modelId="{E1CC0C84-9773-4982-8BC8-BC6A4C760121}" type="presParOf" srcId="{B5138845-9E4E-40D9-B977-3303FD61F239}" destId="{2EFF8CDE-C13B-4C6A-813C-53F8F716F894}" srcOrd="0" destOrd="0" presId="urn:microsoft.com/office/officeart/2005/8/layout/hList1"/>
    <dgm:cxn modelId="{2CFD2DFC-EDF1-421E-AA50-22F8430450D6}" type="presParOf" srcId="{2EFF8CDE-C13B-4C6A-813C-53F8F716F894}" destId="{AAA5D57B-A957-4FC3-8777-0A5EEEA5EC15}" srcOrd="0" destOrd="0" presId="urn:microsoft.com/office/officeart/2005/8/layout/hList1"/>
    <dgm:cxn modelId="{D9B7F316-4F02-43C5-B980-3FEFD6470BC5}" type="presParOf" srcId="{2EFF8CDE-C13B-4C6A-813C-53F8F716F894}" destId="{E609F12B-A3B0-4A0E-B722-4ED40B57E0E3}" srcOrd="1" destOrd="0" presId="urn:microsoft.com/office/officeart/2005/8/layout/hList1"/>
    <dgm:cxn modelId="{36810606-FA60-41CC-941E-9477307EC187}" type="presParOf" srcId="{B5138845-9E4E-40D9-B977-3303FD61F239}" destId="{9D9742DF-FB56-473B-95DF-0EF1E66626CF}" srcOrd="1" destOrd="0" presId="urn:microsoft.com/office/officeart/2005/8/layout/hList1"/>
    <dgm:cxn modelId="{08BD1672-8A95-456B-AF03-3DCCBB09347E}" type="presParOf" srcId="{B5138845-9E4E-40D9-B977-3303FD61F239}" destId="{646483E5-E203-4FDF-9671-1B38C59401A3}" srcOrd="2" destOrd="0" presId="urn:microsoft.com/office/officeart/2005/8/layout/hList1"/>
    <dgm:cxn modelId="{9890543C-CB27-4531-9F27-DA596E891DD7}" type="presParOf" srcId="{646483E5-E203-4FDF-9671-1B38C59401A3}" destId="{6FA94EC0-1023-4417-B747-E61692AE24DA}" srcOrd="0" destOrd="0" presId="urn:microsoft.com/office/officeart/2005/8/layout/hList1"/>
    <dgm:cxn modelId="{1504F97C-FF2B-4A81-9638-B60377D4B251}" type="presParOf" srcId="{646483E5-E203-4FDF-9671-1B38C59401A3}" destId="{B68813CC-32B3-4EA4-B0D1-D20B44BBF304}" srcOrd="1" destOrd="0" presId="urn:microsoft.com/office/officeart/2005/8/layout/hList1"/>
    <dgm:cxn modelId="{63B79E38-989B-40C4-BDCE-E5C807600359}" type="presParOf" srcId="{B5138845-9E4E-40D9-B977-3303FD61F239}" destId="{0C7B5675-8649-486B-BF6E-FD6FDCFA4962}" srcOrd="3" destOrd="0" presId="urn:microsoft.com/office/officeart/2005/8/layout/hList1"/>
    <dgm:cxn modelId="{50BBC1FB-D4F9-45EC-AD77-B147486FAA11}" type="presParOf" srcId="{B5138845-9E4E-40D9-B977-3303FD61F239}" destId="{22870EAF-4047-48E9-A46F-FFCB87DF7774}" srcOrd="4" destOrd="0" presId="urn:microsoft.com/office/officeart/2005/8/layout/hList1"/>
    <dgm:cxn modelId="{AC901EBC-1CDF-4CAE-8533-490AF3226022}" type="presParOf" srcId="{22870EAF-4047-48E9-A46F-FFCB87DF7774}" destId="{5B4F8257-DED0-41BE-8BCA-D5E5F43BD66B}" srcOrd="0" destOrd="0" presId="urn:microsoft.com/office/officeart/2005/8/layout/hList1"/>
    <dgm:cxn modelId="{D1A6CFD9-17B4-482F-B486-815D4B57E665}" type="presParOf" srcId="{22870EAF-4047-48E9-A46F-FFCB87DF7774}" destId="{05A1EA31-73B5-4D46-B4B6-7E4D60728381}" srcOrd="1" destOrd="0" presId="urn:microsoft.com/office/officeart/2005/8/layout/hList1"/>
    <dgm:cxn modelId="{05F69903-AF90-4B8B-BE85-CAD1DBA3604A}" type="presParOf" srcId="{B5138845-9E4E-40D9-B977-3303FD61F239}" destId="{9DADF745-6887-40BB-AF03-8F1CA3E5AC37}" srcOrd="5" destOrd="0" presId="urn:microsoft.com/office/officeart/2005/8/layout/hList1"/>
    <dgm:cxn modelId="{A4325256-931E-4142-BBCA-044F05591033}" type="presParOf" srcId="{B5138845-9E4E-40D9-B977-3303FD61F239}" destId="{E502DAB1-2036-412A-8EA6-CB55631DB671}" srcOrd="6" destOrd="0" presId="urn:microsoft.com/office/officeart/2005/8/layout/hList1"/>
    <dgm:cxn modelId="{105CD43E-F90B-4D36-94D7-D0B3D70465AE}" type="presParOf" srcId="{E502DAB1-2036-412A-8EA6-CB55631DB671}" destId="{C4409222-1A65-405C-A02C-EC2118CE14A0}" srcOrd="0" destOrd="0" presId="urn:microsoft.com/office/officeart/2005/8/layout/hList1"/>
    <dgm:cxn modelId="{440264AC-7810-4797-B651-6C5008BC3211}" type="presParOf" srcId="{E502DAB1-2036-412A-8EA6-CB55631DB671}" destId="{04593C45-59A3-43C4-B4D9-4EA5EE185D28}" srcOrd="1" destOrd="0" presId="urn:microsoft.com/office/officeart/2005/8/layout/hList1"/>
    <dgm:cxn modelId="{093D913F-516C-410E-B5E6-E643134FAEC0}" type="presParOf" srcId="{B5138845-9E4E-40D9-B977-3303FD61F239}" destId="{FBBC457D-EBD8-4710-8346-204EBCEF00C4}" srcOrd="7" destOrd="0" presId="urn:microsoft.com/office/officeart/2005/8/layout/hList1"/>
    <dgm:cxn modelId="{DD616F31-56CE-406A-97A4-78DC83C7636A}" type="presParOf" srcId="{B5138845-9E4E-40D9-B977-3303FD61F239}" destId="{6259B31E-5368-487B-94E5-59D4D222ACAD}" srcOrd="8" destOrd="0" presId="urn:microsoft.com/office/officeart/2005/8/layout/hList1"/>
    <dgm:cxn modelId="{8F797E4F-4D8D-4F2A-BFA0-15E78CE2E0F8}" type="presParOf" srcId="{6259B31E-5368-487B-94E5-59D4D222ACAD}" destId="{30222077-9F6F-46DA-BE30-E04BDCB95F3E}" srcOrd="0" destOrd="0" presId="urn:microsoft.com/office/officeart/2005/8/layout/hList1"/>
    <dgm:cxn modelId="{9C4818B3-2DDE-4D19-AC14-5D818EEFABDB}" type="presParOf" srcId="{6259B31E-5368-487B-94E5-59D4D222ACAD}" destId="{96DEB2A7-BCEA-4047-AD2C-AB09C5711FB9}"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421FB-C938-4447-BCBB-EA6EA59A0CD6}">
      <dsp:nvSpPr>
        <dsp:cNvPr id="0" name=""/>
        <dsp:cNvSpPr/>
      </dsp:nvSpPr>
      <dsp:spPr>
        <a:xfrm>
          <a:off x="3038" y="1744294"/>
          <a:ext cx="1554151" cy="611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IN" sz="1900" b="1" kern="1200" dirty="0">
              <a:latin typeface="Arial" panose="020B0604020202020204" pitchFamily="34" charset="0"/>
              <a:cs typeface="Arial" panose="020B0604020202020204" pitchFamily="34" charset="0"/>
            </a:rPr>
            <a:t>Necessary conditions</a:t>
          </a:r>
          <a:endParaRPr lang="en-IN" sz="1900" kern="1200" dirty="0"/>
        </a:p>
      </dsp:txBody>
      <dsp:txXfrm>
        <a:off x="3038" y="1744294"/>
        <a:ext cx="1554151" cy="611325"/>
      </dsp:txXfrm>
    </dsp:sp>
    <dsp:sp modelId="{00241EAC-65EC-452D-8832-0F8A054C2F72}">
      <dsp:nvSpPr>
        <dsp:cNvPr id="0" name=""/>
        <dsp:cNvSpPr/>
      </dsp:nvSpPr>
      <dsp:spPr>
        <a:xfrm>
          <a:off x="1557189" y="1524599"/>
          <a:ext cx="310830" cy="1050714"/>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1D0816-5C4C-4E06-B318-71C5FE239D92}">
      <dsp:nvSpPr>
        <dsp:cNvPr id="0" name=""/>
        <dsp:cNvSpPr/>
      </dsp:nvSpPr>
      <dsp:spPr>
        <a:xfrm>
          <a:off x="1992352" y="1524599"/>
          <a:ext cx="4227291" cy="10507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t>The potential curve is monotonically decreasing</a:t>
          </a:r>
        </a:p>
        <a:p>
          <a:pPr marL="228600" lvl="1" indent="-228600" algn="l" defTabSz="889000">
            <a:lnSpc>
              <a:spcPct val="90000"/>
            </a:lnSpc>
            <a:spcBef>
              <a:spcPct val="0"/>
            </a:spcBef>
            <a:spcAft>
              <a:spcPct val="15000"/>
            </a:spcAft>
            <a:buChar char="•"/>
          </a:pPr>
          <a:r>
            <a:rPr lang="en-IN" sz="2000" kern="1200" dirty="0"/>
            <a:t>The potential curve is convex</a:t>
          </a:r>
        </a:p>
      </dsp:txBody>
      <dsp:txXfrm>
        <a:off x="1992352" y="1524599"/>
        <a:ext cx="4227291" cy="1050714"/>
      </dsp:txXfrm>
    </dsp:sp>
    <dsp:sp modelId="{6D2BFCA7-B4E3-46C3-9B57-70E0710FD5E8}">
      <dsp:nvSpPr>
        <dsp:cNvPr id="0" name=""/>
        <dsp:cNvSpPr/>
      </dsp:nvSpPr>
      <dsp:spPr>
        <a:xfrm>
          <a:off x="3038" y="2701025"/>
          <a:ext cx="1554151" cy="611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IN" sz="1900" b="1" kern="1200" dirty="0">
              <a:latin typeface="Arial" panose="020B0604020202020204" pitchFamily="34" charset="0"/>
              <a:cs typeface="Arial" panose="020B0604020202020204" pitchFamily="34" charset="0"/>
            </a:rPr>
            <a:t>Thomson’s theorem</a:t>
          </a:r>
          <a:endParaRPr lang="en-IN" sz="1900" kern="1200" dirty="0"/>
        </a:p>
      </dsp:txBody>
      <dsp:txXfrm>
        <a:off x="3038" y="2701025"/>
        <a:ext cx="1554151" cy="611325"/>
      </dsp:txXfrm>
    </dsp:sp>
    <dsp:sp modelId="{9289C64A-6798-4175-983A-3E2CB6BECB5B}">
      <dsp:nvSpPr>
        <dsp:cNvPr id="0" name=""/>
        <dsp:cNvSpPr/>
      </dsp:nvSpPr>
      <dsp:spPr>
        <a:xfrm>
          <a:off x="1557189" y="2643714"/>
          <a:ext cx="310830" cy="725948"/>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A7FACA-0640-4BE0-8C94-A6C21746E7A8}">
      <dsp:nvSpPr>
        <dsp:cNvPr id="0" name=""/>
        <dsp:cNvSpPr/>
      </dsp:nvSpPr>
      <dsp:spPr>
        <a:xfrm>
          <a:off x="1992352" y="2643714"/>
          <a:ext cx="4227291" cy="7259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t>The potential curve will follow the shape with minimum energy</a:t>
          </a:r>
        </a:p>
      </dsp:txBody>
      <dsp:txXfrm>
        <a:off x="1992352" y="2643714"/>
        <a:ext cx="4227291" cy="72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ADBA18-15D3-4113-A3C8-A89D4A4E135E}">
      <dsp:nvSpPr>
        <dsp:cNvPr id="0" name=""/>
        <dsp:cNvSpPr/>
      </dsp:nvSpPr>
      <dsp:spPr>
        <a:xfrm>
          <a:off x="4320312" y="1998792"/>
          <a:ext cx="1053679" cy="426742"/>
        </a:xfrm>
        <a:custGeom>
          <a:avLst/>
          <a:gdLst/>
          <a:ahLst/>
          <a:cxnLst/>
          <a:rect l="0" t="0" r="0" b="0"/>
          <a:pathLst>
            <a:path>
              <a:moveTo>
                <a:pt x="0" y="0"/>
              </a:moveTo>
              <a:lnTo>
                <a:pt x="0" y="294808"/>
              </a:lnTo>
              <a:lnTo>
                <a:pt x="1053679" y="294808"/>
              </a:lnTo>
              <a:lnTo>
                <a:pt x="1053679" y="4267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48A183-69EB-4A72-A590-DEAC568C256E}">
      <dsp:nvSpPr>
        <dsp:cNvPr id="0" name=""/>
        <dsp:cNvSpPr/>
      </dsp:nvSpPr>
      <dsp:spPr>
        <a:xfrm>
          <a:off x="2633794" y="1998792"/>
          <a:ext cx="1686517" cy="418196"/>
        </a:xfrm>
        <a:custGeom>
          <a:avLst/>
          <a:gdLst/>
          <a:ahLst/>
          <a:cxnLst/>
          <a:rect l="0" t="0" r="0" b="0"/>
          <a:pathLst>
            <a:path>
              <a:moveTo>
                <a:pt x="1686517" y="0"/>
              </a:moveTo>
              <a:lnTo>
                <a:pt x="1686517" y="286262"/>
              </a:lnTo>
              <a:lnTo>
                <a:pt x="0" y="286262"/>
              </a:lnTo>
              <a:lnTo>
                <a:pt x="0" y="4181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365836-8B5E-421C-92EB-7C1F4DD59BC1}">
      <dsp:nvSpPr>
        <dsp:cNvPr id="0" name=""/>
        <dsp:cNvSpPr/>
      </dsp:nvSpPr>
      <dsp:spPr>
        <a:xfrm>
          <a:off x="2551690" y="754025"/>
          <a:ext cx="1768621" cy="340411"/>
        </a:xfrm>
        <a:custGeom>
          <a:avLst/>
          <a:gdLst/>
          <a:ahLst/>
          <a:cxnLst/>
          <a:rect l="0" t="0" r="0" b="0"/>
          <a:pathLst>
            <a:path>
              <a:moveTo>
                <a:pt x="0" y="0"/>
              </a:moveTo>
              <a:lnTo>
                <a:pt x="0" y="208476"/>
              </a:lnTo>
              <a:lnTo>
                <a:pt x="1768621" y="208476"/>
              </a:lnTo>
              <a:lnTo>
                <a:pt x="1768621" y="3404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32BA02-0F27-4B45-AFB8-BB213A924EE2}">
      <dsp:nvSpPr>
        <dsp:cNvPr id="0" name=""/>
        <dsp:cNvSpPr/>
      </dsp:nvSpPr>
      <dsp:spPr>
        <a:xfrm>
          <a:off x="553848" y="754025"/>
          <a:ext cx="1997842" cy="386895"/>
        </a:xfrm>
        <a:custGeom>
          <a:avLst/>
          <a:gdLst/>
          <a:ahLst/>
          <a:cxnLst/>
          <a:rect l="0" t="0" r="0" b="0"/>
          <a:pathLst>
            <a:path>
              <a:moveTo>
                <a:pt x="1997842" y="0"/>
              </a:moveTo>
              <a:lnTo>
                <a:pt x="1997842" y="254960"/>
              </a:lnTo>
              <a:lnTo>
                <a:pt x="0" y="254960"/>
              </a:lnTo>
              <a:lnTo>
                <a:pt x="0" y="3868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7DDA27-E9F6-45AA-9433-A17F5025391E}">
      <dsp:nvSpPr>
        <dsp:cNvPr id="0" name=""/>
        <dsp:cNvSpPr/>
      </dsp:nvSpPr>
      <dsp:spPr>
        <a:xfrm>
          <a:off x="1839599" y="-150330"/>
          <a:ext cx="1424181" cy="9043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6FC072-18B2-4FED-AFE5-54AAD160C5BC}">
      <dsp:nvSpPr>
        <dsp:cNvPr id="0" name=""/>
        <dsp:cNvSpPr/>
      </dsp:nvSpPr>
      <dsp:spPr>
        <a:xfrm>
          <a:off x="1997842" y="0"/>
          <a:ext cx="1424181" cy="9043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Shape Optimisation</a:t>
          </a:r>
        </a:p>
      </dsp:txBody>
      <dsp:txXfrm>
        <a:off x="2024330" y="26488"/>
        <a:ext cx="1371205" cy="851379"/>
      </dsp:txXfrm>
    </dsp:sp>
    <dsp:sp modelId="{9669BC0F-5FD1-4F0C-8CB5-40E9AC8F5084}">
      <dsp:nvSpPr>
        <dsp:cNvPr id="0" name=""/>
        <dsp:cNvSpPr/>
      </dsp:nvSpPr>
      <dsp:spPr>
        <a:xfrm>
          <a:off x="-158242" y="1140920"/>
          <a:ext cx="1424181" cy="9043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34CDAE-0B73-440F-9844-75C77CB90981}">
      <dsp:nvSpPr>
        <dsp:cNvPr id="0" name=""/>
        <dsp:cNvSpPr/>
      </dsp:nvSpPr>
      <dsp:spPr>
        <a:xfrm>
          <a:off x="0" y="1291250"/>
          <a:ext cx="1424181" cy="9043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Gradient-Based</a:t>
          </a:r>
        </a:p>
      </dsp:txBody>
      <dsp:txXfrm>
        <a:off x="26488" y="1317738"/>
        <a:ext cx="1371205" cy="851379"/>
      </dsp:txXfrm>
    </dsp:sp>
    <dsp:sp modelId="{34EC3E40-C1AE-4D42-8B0E-E683D34F71BB}">
      <dsp:nvSpPr>
        <dsp:cNvPr id="0" name=""/>
        <dsp:cNvSpPr/>
      </dsp:nvSpPr>
      <dsp:spPr>
        <a:xfrm>
          <a:off x="3608221" y="1094436"/>
          <a:ext cx="1424181" cy="9043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1F8B66-D724-4B1E-A3BF-F9330E3CA31D}">
      <dsp:nvSpPr>
        <dsp:cNvPr id="0" name=""/>
        <dsp:cNvSpPr/>
      </dsp:nvSpPr>
      <dsp:spPr>
        <a:xfrm>
          <a:off x="3766463" y="1244766"/>
          <a:ext cx="1424181" cy="9043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Gradient-Free</a:t>
          </a:r>
        </a:p>
      </dsp:txBody>
      <dsp:txXfrm>
        <a:off x="3792951" y="1271254"/>
        <a:ext cx="1371205" cy="851379"/>
      </dsp:txXfrm>
    </dsp:sp>
    <dsp:sp modelId="{CC6617E9-0303-4422-8BBD-D47FBE9F936C}">
      <dsp:nvSpPr>
        <dsp:cNvPr id="0" name=""/>
        <dsp:cNvSpPr/>
      </dsp:nvSpPr>
      <dsp:spPr>
        <a:xfrm>
          <a:off x="1921703" y="2416988"/>
          <a:ext cx="1424181" cy="9043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3DC7E1-4D59-4C51-9EB3-95D98F5541D0}">
      <dsp:nvSpPr>
        <dsp:cNvPr id="0" name=""/>
        <dsp:cNvSpPr/>
      </dsp:nvSpPr>
      <dsp:spPr>
        <a:xfrm>
          <a:off x="2079946" y="2567319"/>
          <a:ext cx="1424181" cy="9043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n-IN" sz="1500" kern="1200" dirty="0"/>
            <a:t>Genetic Algorithm</a:t>
          </a:r>
        </a:p>
        <a:p>
          <a:pPr marL="0" lvl="0" indent="0" algn="ctr" defTabSz="666750">
            <a:lnSpc>
              <a:spcPct val="90000"/>
            </a:lnSpc>
            <a:spcBef>
              <a:spcPct val="0"/>
            </a:spcBef>
            <a:spcAft>
              <a:spcPct val="35000"/>
            </a:spcAft>
            <a:buFont typeface="+mj-lt"/>
            <a:buNone/>
          </a:pPr>
          <a:endParaRPr lang="en-IN" sz="1500" kern="1200" dirty="0"/>
        </a:p>
      </dsp:txBody>
      <dsp:txXfrm>
        <a:off x="2106434" y="2593807"/>
        <a:ext cx="1371205" cy="851379"/>
      </dsp:txXfrm>
    </dsp:sp>
    <dsp:sp modelId="{8FA3A7CE-DD5E-4F3D-ADF5-775F1302380E}">
      <dsp:nvSpPr>
        <dsp:cNvPr id="0" name=""/>
        <dsp:cNvSpPr/>
      </dsp:nvSpPr>
      <dsp:spPr>
        <a:xfrm>
          <a:off x="4661900" y="2425534"/>
          <a:ext cx="1424181" cy="9043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5D3CE5-550B-4ADD-B6E9-1E6167FD8B9C}">
      <dsp:nvSpPr>
        <dsp:cNvPr id="0" name=""/>
        <dsp:cNvSpPr/>
      </dsp:nvSpPr>
      <dsp:spPr>
        <a:xfrm>
          <a:off x="4820143" y="2575865"/>
          <a:ext cx="1424181" cy="9043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IN" sz="1500" kern="1200" dirty="0"/>
            <a:t>Particle Swarm Optimisation</a:t>
          </a:r>
        </a:p>
      </dsp:txBody>
      <dsp:txXfrm>
        <a:off x="4846631" y="2602353"/>
        <a:ext cx="1371205" cy="8513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5D57B-A957-4FC3-8777-0A5EEEA5EC15}">
      <dsp:nvSpPr>
        <dsp:cNvPr id="0" name=""/>
        <dsp:cNvSpPr/>
      </dsp:nvSpPr>
      <dsp:spPr>
        <a:xfrm>
          <a:off x="15934" y="-15113"/>
          <a:ext cx="2109024" cy="4504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kern="1200" dirty="0"/>
            <a:t>PPO</a:t>
          </a:r>
        </a:p>
      </dsp:txBody>
      <dsp:txXfrm>
        <a:off x="15934" y="-15113"/>
        <a:ext cx="2109024" cy="450440"/>
      </dsp:txXfrm>
    </dsp:sp>
    <dsp:sp modelId="{E609F12B-A3B0-4A0E-B722-4ED40B57E0E3}">
      <dsp:nvSpPr>
        <dsp:cNvPr id="0" name=""/>
        <dsp:cNvSpPr/>
      </dsp:nvSpPr>
      <dsp:spPr>
        <a:xfrm>
          <a:off x="15934" y="436026"/>
          <a:ext cx="2109024" cy="183847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dirty="0"/>
            <a:t>On-Policy</a:t>
          </a:r>
        </a:p>
        <a:p>
          <a:pPr marL="114300" lvl="1" indent="-114300" algn="l" defTabSz="622300">
            <a:lnSpc>
              <a:spcPct val="90000"/>
            </a:lnSpc>
            <a:spcBef>
              <a:spcPct val="0"/>
            </a:spcBef>
            <a:spcAft>
              <a:spcPct val="15000"/>
            </a:spcAft>
            <a:buChar char="•"/>
          </a:pPr>
          <a:r>
            <a:rPr lang="en-IN" sz="1400" kern="1200" dirty="0"/>
            <a:t>Stable and reliable performance</a:t>
          </a:r>
        </a:p>
        <a:p>
          <a:pPr marL="114300" lvl="1" indent="-114300" algn="l" defTabSz="622300">
            <a:lnSpc>
              <a:spcPct val="90000"/>
            </a:lnSpc>
            <a:spcBef>
              <a:spcPct val="0"/>
            </a:spcBef>
            <a:spcAft>
              <a:spcPct val="15000"/>
            </a:spcAft>
            <a:buChar char="•"/>
          </a:pPr>
          <a:r>
            <a:rPr lang="en-US" sz="1400" kern="1200" dirty="0"/>
            <a:t>Struggles with environments requiring precise fine-tuning</a:t>
          </a:r>
          <a:endParaRPr lang="en-IN" sz="1400" kern="1200" dirty="0"/>
        </a:p>
      </dsp:txBody>
      <dsp:txXfrm>
        <a:off x="15934" y="436026"/>
        <a:ext cx="2109024" cy="1838474"/>
      </dsp:txXfrm>
    </dsp:sp>
    <dsp:sp modelId="{6FA94EC0-1023-4417-B747-E61692AE24DA}">
      <dsp:nvSpPr>
        <dsp:cNvPr id="0" name=""/>
        <dsp:cNvSpPr/>
      </dsp:nvSpPr>
      <dsp:spPr>
        <a:xfrm>
          <a:off x="2419934" y="0"/>
          <a:ext cx="2106965" cy="4504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kern="1200" dirty="0"/>
            <a:t>A2C</a:t>
          </a:r>
        </a:p>
      </dsp:txBody>
      <dsp:txXfrm>
        <a:off x="2419934" y="0"/>
        <a:ext cx="2106965" cy="450440"/>
      </dsp:txXfrm>
    </dsp:sp>
    <dsp:sp modelId="{B68813CC-32B3-4EA4-B0D1-D20B44BBF304}">
      <dsp:nvSpPr>
        <dsp:cNvPr id="0" name=""/>
        <dsp:cNvSpPr/>
      </dsp:nvSpPr>
      <dsp:spPr>
        <a:xfrm>
          <a:off x="2419934" y="450440"/>
          <a:ext cx="2106965" cy="180894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dirty="0"/>
            <a:t>On-Policy</a:t>
          </a:r>
        </a:p>
        <a:p>
          <a:pPr marL="114300" lvl="1" indent="-114300" algn="l" defTabSz="622300">
            <a:lnSpc>
              <a:spcPct val="90000"/>
            </a:lnSpc>
            <a:spcBef>
              <a:spcPct val="0"/>
            </a:spcBef>
            <a:spcAft>
              <a:spcPct val="15000"/>
            </a:spcAft>
            <a:buChar char="•"/>
          </a:pPr>
          <a:r>
            <a:rPr lang="en-US" sz="1400" kern="1200" dirty="0"/>
            <a:t>Simple and fast to train</a:t>
          </a:r>
          <a:endParaRPr lang="en-IN" sz="1400" kern="1200" dirty="0"/>
        </a:p>
        <a:p>
          <a:pPr marL="114300" lvl="1" indent="-114300" algn="l" defTabSz="622300">
            <a:lnSpc>
              <a:spcPct val="90000"/>
            </a:lnSpc>
            <a:spcBef>
              <a:spcPct val="0"/>
            </a:spcBef>
            <a:spcAft>
              <a:spcPct val="15000"/>
            </a:spcAft>
            <a:buChar char="•"/>
          </a:pPr>
          <a:r>
            <a:rPr lang="en-US" sz="1400" kern="1200" dirty="0"/>
            <a:t>High variance in policy gradient compared to other advanced algorithms</a:t>
          </a:r>
          <a:endParaRPr lang="en-IN" sz="1400" kern="1200" dirty="0"/>
        </a:p>
      </dsp:txBody>
      <dsp:txXfrm>
        <a:off x="2419934" y="450440"/>
        <a:ext cx="2106965" cy="1808946"/>
      </dsp:txXfrm>
    </dsp:sp>
    <dsp:sp modelId="{5B4F8257-DED0-41BE-8BCA-D5E5F43BD66B}">
      <dsp:nvSpPr>
        <dsp:cNvPr id="0" name=""/>
        <dsp:cNvSpPr/>
      </dsp:nvSpPr>
      <dsp:spPr>
        <a:xfrm>
          <a:off x="4821874" y="0"/>
          <a:ext cx="2106965" cy="4504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kern="1200" dirty="0"/>
            <a:t>DDPG</a:t>
          </a:r>
        </a:p>
      </dsp:txBody>
      <dsp:txXfrm>
        <a:off x="4821874" y="0"/>
        <a:ext cx="2106965" cy="450440"/>
      </dsp:txXfrm>
    </dsp:sp>
    <dsp:sp modelId="{05A1EA31-73B5-4D46-B4B6-7E4D60728381}">
      <dsp:nvSpPr>
        <dsp:cNvPr id="0" name=""/>
        <dsp:cNvSpPr/>
      </dsp:nvSpPr>
      <dsp:spPr>
        <a:xfrm>
          <a:off x="4821874" y="450440"/>
          <a:ext cx="2106965" cy="180894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dirty="0"/>
            <a:t>Off-Policy</a:t>
          </a:r>
        </a:p>
        <a:p>
          <a:pPr marL="114300" lvl="1" indent="-114300" algn="l" defTabSz="622300">
            <a:lnSpc>
              <a:spcPct val="90000"/>
            </a:lnSpc>
            <a:spcBef>
              <a:spcPct val="0"/>
            </a:spcBef>
            <a:spcAft>
              <a:spcPct val="15000"/>
            </a:spcAft>
            <a:buChar char="•"/>
          </a:pPr>
          <a:r>
            <a:rPr lang="en-US" sz="1400" kern="1200" dirty="0"/>
            <a:t>Suited for continuous action spaces</a:t>
          </a:r>
          <a:endParaRPr lang="en-IN" sz="1400" kern="1200" dirty="0"/>
        </a:p>
        <a:p>
          <a:pPr marL="114300" lvl="1" indent="-114300" algn="l" defTabSz="622300">
            <a:lnSpc>
              <a:spcPct val="90000"/>
            </a:lnSpc>
            <a:spcBef>
              <a:spcPct val="0"/>
            </a:spcBef>
            <a:spcAft>
              <a:spcPct val="15000"/>
            </a:spcAft>
            <a:buChar char="•"/>
          </a:pPr>
          <a:r>
            <a:rPr lang="en-US" sz="1400" kern="1200" dirty="0"/>
            <a:t>Sensitive to hyperparameters and noise</a:t>
          </a:r>
          <a:endParaRPr lang="en-IN" sz="1400" kern="1200" dirty="0"/>
        </a:p>
      </dsp:txBody>
      <dsp:txXfrm>
        <a:off x="4821874" y="450440"/>
        <a:ext cx="2106965" cy="1808946"/>
      </dsp:txXfrm>
    </dsp:sp>
    <dsp:sp modelId="{C4409222-1A65-405C-A02C-EC2118CE14A0}">
      <dsp:nvSpPr>
        <dsp:cNvPr id="0" name=""/>
        <dsp:cNvSpPr/>
      </dsp:nvSpPr>
      <dsp:spPr>
        <a:xfrm>
          <a:off x="7223815" y="0"/>
          <a:ext cx="2106965" cy="4504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kern="1200" dirty="0"/>
            <a:t>TD3</a:t>
          </a:r>
        </a:p>
      </dsp:txBody>
      <dsp:txXfrm>
        <a:off x="7223815" y="0"/>
        <a:ext cx="2106965" cy="450440"/>
      </dsp:txXfrm>
    </dsp:sp>
    <dsp:sp modelId="{04593C45-59A3-43C4-B4D9-4EA5EE185D28}">
      <dsp:nvSpPr>
        <dsp:cNvPr id="0" name=""/>
        <dsp:cNvSpPr/>
      </dsp:nvSpPr>
      <dsp:spPr>
        <a:xfrm>
          <a:off x="7223815" y="450440"/>
          <a:ext cx="2106965" cy="180894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dirty="0"/>
            <a:t>Off-Policy</a:t>
          </a:r>
        </a:p>
        <a:p>
          <a:pPr marL="114300" lvl="1" indent="-114300" algn="l" defTabSz="622300">
            <a:lnSpc>
              <a:spcPct val="90000"/>
            </a:lnSpc>
            <a:spcBef>
              <a:spcPct val="0"/>
            </a:spcBef>
            <a:spcAft>
              <a:spcPct val="15000"/>
            </a:spcAft>
            <a:buChar char="•"/>
          </a:pPr>
          <a:r>
            <a:rPr lang="en-US" sz="1400" kern="1200" dirty="0"/>
            <a:t>Delayed policy updates and target smoothing enhance robustness</a:t>
          </a:r>
          <a:endParaRPr lang="en-IN" sz="1400" kern="1200" dirty="0"/>
        </a:p>
        <a:p>
          <a:pPr marL="114300" lvl="1" indent="-114300" algn="l" defTabSz="622300">
            <a:lnSpc>
              <a:spcPct val="90000"/>
            </a:lnSpc>
            <a:spcBef>
              <a:spcPct val="0"/>
            </a:spcBef>
            <a:spcAft>
              <a:spcPct val="15000"/>
            </a:spcAft>
            <a:buChar char="•"/>
          </a:pPr>
          <a:r>
            <a:rPr lang="en-US" sz="1400" kern="1200" dirty="0"/>
            <a:t>More complex and computationally intensive</a:t>
          </a:r>
          <a:endParaRPr lang="en-IN" sz="1400" kern="1200" dirty="0"/>
        </a:p>
      </dsp:txBody>
      <dsp:txXfrm>
        <a:off x="7223815" y="450440"/>
        <a:ext cx="2106965" cy="1808946"/>
      </dsp:txXfrm>
    </dsp:sp>
    <dsp:sp modelId="{30222077-9F6F-46DA-BE30-E04BDCB95F3E}">
      <dsp:nvSpPr>
        <dsp:cNvPr id="0" name=""/>
        <dsp:cNvSpPr/>
      </dsp:nvSpPr>
      <dsp:spPr>
        <a:xfrm>
          <a:off x="9625755" y="0"/>
          <a:ext cx="2106965" cy="45044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kern="1200" dirty="0"/>
            <a:t>SAC</a:t>
          </a:r>
        </a:p>
      </dsp:txBody>
      <dsp:txXfrm>
        <a:off x="9625755" y="0"/>
        <a:ext cx="2106965" cy="450440"/>
      </dsp:txXfrm>
    </dsp:sp>
    <dsp:sp modelId="{96DEB2A7-BCEA-4047-AD2C-AB09C5711FB9}">
      <dsp:nvSpPr>
        <dsp:cNvPr id="0" name=""/>
        <dsp:cNvSpPr/>
      </dsp:nvSpPr>
      <dsp:spPr>
        <a:xfrm>
          <a:off x="9625755" y="450440"/>
          <a:ext cx="2106965" cy="180894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dirty="0"/>
            <a:t>Off-Policy</a:t>
          </a:r>
        </a:p>
        <a:p>
          <a:pPr marL="114300" lvl="1" indent="-114300" algn="l" defTabSz="622300">
            <a:lnSpc>
              <a:spcPct val="90000"/>
            </a:lnSpc>
            <a:spcBef>
              <a:spcPct val="0"/>
            </a:spcBef>
            <a:spcAft>
              <a:spcPct val="15000"/>
            </a:spcAft>
            <a:buChar char="•"/>
          </a:pPr>
          <a:r>
            <a:rPr lang="en-US" sz="1400" kern="1200" dirty="0"/>
            <a:t>Encourages exploration with entropy term</a:t>
          </a:r>
          <a:endParaRPr lang="en-IN" sz="1400" kern="1200" dirty="0"/>
        </a:p>
        <a:p>
          <a:pPr marL="114300" lvl="1" indent="-114300" algn="l" defTabSz="622300">
            <a:lnSpc>
              <a:spcPct val="90000"/>
            </a:lnSpc>
            <a:spcBef>
              <a:spcPct val="0"/>
            </a:spcBef>
            <a:spcAft>
              <a:spcPct val="15000"/>
            </a:spcAft>
            <a:buChar char="•"/>
          </a:pPr>
          <a:r>
            <a:rPr lang="en-IN" sz="1400" kern="1200" dirty="0"/>
            <a:t>Less sensitive to hyperparameters</a:t>
          </a:r>
          <a:r>
            <a:rPr lang="en-US" sz="1400" kern="1200" dirty="0"/>
            <a:t>
May underperform in low-exploration environments</a:t>
          </a:r>
          <a:endParaRPr lang="en-IN" sz="1400" kern="1200" dirty="0"/>
        </a:p>
      </dsp:txBody>
      <dsp:txXfrm>
        <a:off x="9625755" y="450440"/>
        <a:ext cx="2106965" cy="1808946"/>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B10705-EE40-4691-93A6-30CB0C53AEE7}" type="datetimeFigureOut">
              <a:rPr lang="en-GB" smtClean="0"/>
              <a:t>12/09/2024</a:t>
            </a:fld>
            <a:endParaRPr lang="en-GB"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CA089A-78F2-43A3-A017-FA6D64D81B71}" type="slidenum">
              <a:rPr lang="en-GB" smtClean="0"/>
              <a:t>‹#›</a:t>
            </a:fld>
            <a:endParaRPr lang="en-GB" dirty="0"/>
          </a:p>
        </p:txBody>
      </p:sp>
    </p:spTree>
    <p:extLst>
      <p:ext uri="{BB962C8B-B14F-4D97-AF65-F5344CB8AC3E}">
        <p14:creationId xmlns:p14="http://schemas.microsoft.com/office/powerpoint/2010/main" val="3145413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3</a:t>
            </a:fld>
            <a:endParaRPr lang="en-GB" dirty="0"/>
          </a:p>
        </p:txBody>
      </p:sp>
    </p:spTree>
    <p:extLst>
      <p:ext uri="{BB962C8B-B14F-4D97-AF65-F5344CB8AC3E}">
        <p14:creationId xmlns:p14="http://schemas.microsoft.com/office/powerpoint/2010/main" val="1091256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4</a:t>
            </a:fld>
            <a:endParaRPr lang="en-GB" dirty="0"/>
          </a:p>
        </p:txBody>
      </p:sp>
    </p:spTree>
    <p:extLst>
      <p:ext uri="{BB962C8B-B14F-4D97-AF65-F5344CB8AC3E}">
        <p14:creationId xmlns:p14="http://schemas.microsoft.com/office/powerpoint/2010/main" val="422175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5</a:t>
            </a:fld>
            <a:endParaRPr lang="en-GB" dirty="0"/>
          </a:p>
        </p:txBody>
      </p:sp>
    </p:spTree>
    <p:extLst>
      <p:ext uri="{BB962C8B-B14F-4D97-AF65-F5344CB8AC3E}">
        <p14:creationId xmlns:p14="http://schemas.microsoft.com/office/powerpoint/2010/main" val="4146119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6</a:t>
            </a:fld>
            <a:endParaRPr lang="en-GB" dirty="0"/>
          </a:p>
        </p:txBody>
      </p:sp>
    </p:spTree>
    <p:extLst>
      <p:ext uri="{BB962C8B-B14F-4D97-AF65-F5344CB8AC3E}">
        <p14:creationId xmlns:p14="http://schemas.microsoft.com/office/powerpoint/2010/main" val="379524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7</a:t>
            </a:fld>
            <a:endParaRPr lang="en-GB" dirty="0"/>
          </a:p>
        </p:txBody>
      </p:sp>
    </p:spTree>
    <p:extLst>
      <p:ext uri="{BB962C8B-B14F-4D97-AF65-F5344CB8AC3E}">
        <p14:creationId xmlns:p14="http://schemas.microsoft.com/office/powerpoint/2010/main" val="2181388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8</a:t>
            </a:fld>
            <a:endParaRPr lang="en-GB" dirty="0"/>
          </a:p>
        </p:txBody>
      </p:sp>
    </p:spTree>
    <p:extLst>
      <p:ext uri="{BB962C8B-B14F-4D97-AF65-F5344CB8AC3E}">
        <p14:creationId xmlns:p14="http://schemas.microsoft.com/office/powerpoint/2010/main" val="995044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22</a:t>
            </a:fld>
            <a:endParaRPr lang="en-GB" dirty="0"/>
          </a:p>
        </p:txBody>
      </p:sp>
    </p:spTree>
    <p:extLst>
      <p:ext uri="{BB962C8B-B14F-4D97-AF65-F5344CB8AC3E}">
        <p14:creationId xmlns:p14="http://schemas.microsoft.com/office/powerpoint/2010/main" val="406923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32</a:t>
            </a:fld>
            <a:endParaRPr lang="en-GB" dirty="0"/>
          </a:p>
        </p:txBody>
      </p:sp>
    </p:spTree>
    <p:extLst>
      <p:ext uri="{BB962C8B-B14F-4D97-AF65-F5344CB8AC3E}">
        <p14:creationId xmlns:p14="http://schemas.microsoft.com/office/powerpoint/2010/main" val="4111224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microstrip transmission line consists of a very thin strip of</a:t>
            </a:r>
          </a:p>
          <a:p>
            <a:r>
              <a:rPr lang="en-US" dirty="0"/>
              <a:t>conductive material on a dielectric substrate that propagates an electromagnetic</a:t>
            </a:r>
          </a:p>
          <a:p>
            <a:r>
              <a:rPr lang="en-US" dirty="0"/>
              <a:t>wave in the axial z-direction, the existence of which requires axial field strength</a:t>
            </a:r>
          </a:p>
          <a:p>
            <a:r>
              <a:rPr lang="en-US" dirty="0"/>
              <a:t>components for physical reasons.</a:t>
            </a:r>
          </a:p>
          <a:p>
            <a:endParaRPr lang="en-US" dirty="0"/>
          </a:p>
          <a:p>
            <a:endParaRPr lang="en-IN" dirty="0"/>
          </a:p>
        </p:txBody>
      </p:sp>
      <p:sp>
        <p:nvSpPr>
          <p:cNvPr id="4" name="Slide Number Placeholder 3"/>
          <p:cNvSpPr>
            <a:spLocks noGrp="1"/>
          </p:cNvSpPr>
          <p:nvPr>
            <p:ph type="sldNum" sz="quarter" idx="5"/>
          </p:nvPr>
        </p:nvSpPr>
        <p:spPr/>
        <p:txBody>
          <a:bodyPr/>
          <a:lstStyle/>
          <a:p>
            <a:fld id="{EECA089A-78F2-43A3-A017-FA6D64D81B71}" type="slidenum">
              <a:rPr lang="en-GB" smtClean="0"/>
              <a:t>33</a:t>
            </a:fld>
            <a:endParaRPr lang="en-GB" dirty="0"/>
          </a:p>
        </p:txBody>
      </p:sp>
    </p:spTree>
    <p:extLst>
      <p:ext uri="{BB962C8B-B14F-4D97-AF65-F5344CB8AC3E}">
        <p14:creationId xmlns:p14="http://schemas.microsoft.com/office/powerpoint/2010/main" val="2541827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FB6872-B866-4195-8AE3-45444E7FE948}"/>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6D11CF74-BDF4-4BDD-A840-1C9A67681235}"/>
              </a:ext>
            </a:extLst>
          </p:cNvPr>
          <p:cNvSpPr>
            <a:spLocks noGrp="1"/>
          </p:cNvSpPr>
          <p:nvPr>
            <p:ph type="subTitle" idx="1"/>
          </p:nvPr>
        </p:nvSpPr>
        <p:spPr>
          <a:xfrm>
            <a:off x="1524000" y="3602038"/>
            <a:ext cx="9144000" cy="1655762"/>
          </a:xfrm>
        </p:spPr>
        <p:txBody>
          <a:bodyPr/>
          <a:lstStyle>
            <a:lvl1pPr marL="0" indent="0" algn="ctr">
              <a:buNone/>
              <a:defRPr sz="24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endParaRPr lang="en-GB" dirty="0"/>
          </a:p>
        </p:txBody>
      </p:sp>
      <p:sp>
        <p:nvSpPr>
          <p:cNvPr id="4" name="Datumsplatzhalter 3">
            <a:extLst>
              <a:ext uri="{FF2B5EF4-FFF2-40B4-BE49-F238E27FC236}">
                <a16:creationId xmlns:a16="http://schemas.microsoft.com/office/drawing/2014/main" id="{A7B1F8A0-E9AD-4F8F-B1B1-4C3E12D7A627}"/>
              </a:ext>
            </a:extLst>
          </p:cNvPr>
          <p:cNvSpPr>
            <a:spLocks noGrp="1"/>
          </p:cNvSpPr>
          <p:nvPr>
            <p:ph type="dt" sz="half" idx="10"/>
          </p:nvPr>
        </p:nvSpPr>
        <p:spPr/>
        <p:txBody>
          <a:bodyPr/>
          <a:lstStyle/>
          <a:p>
            <a:fld id="{507AA8FD-38ED-49C4-995C-766AE5642C26}" type="datetime2">
              <a:rPr lang="de-DE" smtClean="0"/>
              <a:t>Donnerstag, 12. September 2024</a:t>
            </a:fld>
            <a:endParaRPr lang="en-GB" dirty="0"/>
          </a:p>
        </p:txBody>
      </p:sp>
      <p:sp>
        <p:nvSpPr>
          <p:cNvPr id="5" name="Fußzeilenplatzhalter 4">
            <a:extLst>
              <a:ext uri="{FF2B5EF4-FFF2-40B4-BE49-F238E27FC236}">
                <a16:creationId xmlns:a16="http://schemas.microsoft.com/office/drawing/2014/main" id="{CEE1A04F-71DD-43B7-AFB1-868CC8DF6A97}"/>
              </a:ext>
            </a:extLst>
          </p:cNvPr>
          <p:cNvSpPr>
            <a:spLocks noGrp="1"/>
          </p:cNvSpPr>
          <p:nvPr>
            <p:ph type="ftr" sz="quarter" idx="11"/>
          </p:nvPr>
        </p:nvSpPr>
        <p:spPr/>
        <p:txBody>
          <a:bodyPr/>
          <a:lstStyle/>
          <a:p>
            <a:endParaRPr lang="en-GB" dirty="0"/>
          </a:p>
        </p:txBody>
      </p:sp>
      <p:sp>
        <p:nvSpPr>
          <p:cNvPr id="6" name="Foliennummernplatzhalter 5">
            <a:extLst>
              <a:ext uri="{FF2B5EF4-FFF2-40B4-BE49-F238E27FC236}">
                <a16:creationId xmlns:a16="http://schemas.microsoft.com/office/drawing/2014/main" id="{D45F74D6-684B-4DEC-A45F-6E95C94B1F6B}"/>
              </a:ext>
            </a:extLst>
          </p:cNvPr>
          <p:cNvSpPr>
            <a:spLocks noGrp="1"/>
          </p:cNvSpPr>
          <p:nvPr>
            <p:ph type="sldNum" sz="quarter" idx="12"/>
          </p:nvPr>
        </p:nvSpPr>
        <p:spPr/>
        <p:txBody>
          <a:bodyPr/>
          <a:lstStyle/>
          <a:p>
            <a:fld id="{EECF65F8-F24C-4BCD-B573-6D272FD28F94}" type="slidenum">
              <a:rPr lang="en-GB" smtClean="0"/>
              <a:t>‹#›</a:t>
            </a:fld>
            <a:endParaRPr lang="en-GB" dirty="0"/>
          </a:p>
        </p:txBody>
      </p:sp>
      <p:cxnSp>
        <p:nvCxnSpPr>
          <p:cNvPr id="7" name="Gerader Verbinder 6">
            <a:extLst>
              <a:ext uri="{FF2B5EF4-FFF2-40B4-BE49-F238E27FC236}">
                <a16:creationId xmlns:a16="http://schemas.microsoft.com/office/drawing/2014/main" id="{E0593030-CD77-4F28-9676-F6759D575CBE}"/>
              </a:ext>
            </a:extLst>
          </p:cNvPr>
          <p:cNvCxnSpPr>
            <a:cxnSpLocks/>
          </p:cNvCxnSpPr>
          <p:nvPr userDrawn="1"/>
        </p:nvCxnSpPr>
        <p:spPr>
          <a:xfrm>
            <a:off x="1524000" y="3513729"/>
            <a:ext cx="9144000" cy="0"/>
          </a:xfrm>
          <a:prstGeom prst="line">
            <a:avLst/>
          </a:prstGeom>
          <a:ln w="19050">
            <a:solidFill>
              <a:srgbClr val="84B81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841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E24124-07B3-4241-BBF1-DA5813D372D0}"/>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0AEE5AE9-EADC-406F-8C1C-802AEEB790F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B6182C8B-82F5-4463-AE33-75C3BAFF306E}"/>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ußzeilenplatzhalter 4">
            <a:extLst>
              <a:ext uri="{FF2B5EF4-FFF2-40B4-BE49-F238E27FC236}">
                <a16:creationId xmlns:a16="http://schemas.microsoft.com/office/drawing/2014/main" id="{1460AE7E-F6DC-4F49-BD54-A851FB101C7C}"/>
              </a:ext>
            </a:extLst>
          </p:cNvPr>
          <p:cNvSpPr>
            <a:spLocks noGrp="1"/>
          </p:cNvSpPr>
          <p:nvPr>
            <p:ph type="ftr" sz="quarter" idx="11"/>
          </p:nvPr>
        </p:nvSpPr>
        <p:spPr/>
        <p:txBody>
          <a:bodyPr/>
          <a:lstStyle/>
          <a:p>
            <a:endParaRPr lang="en-GB" dirty="0"/>
          </a:p>
        </p:txBody>
      </p:sp>
      <p:sp>
        <p:nvSpPr>
          <p:cNvPr id="6" name="Foliennummernplatzhalter 5">
            <a:extLst>
              <a:ext uri="{FF2B5EF4-FFF2-40B4-BE49-F238E27FC236}">
                <a16:creationId xmlns:a16="http://schemas.microsoft.com/office/drawing/2014/main" id="{57AB0F81-8E0E-443D-B5B6-57C632302A5A}"/>
              </a:ext>
            </a:extLst>
          </p:cNvPr>
          <p:cNvSpPr>
            <a:spLocks noGrp="1"/>
          </p:cNvSpPr>
          <p:nvPr>
            <p:ph type="sldNum" sz="quarter" idx="12"/>
          </p:nvPr>
        </p:nvSpPr>
        <p:spPr/>
        <p:txBody>
          <a:bodyPr/>
          <a:lstStyle/>
          <a:p>
            <a:fld id="{EECF65F8-F24C-4BCD-B573-6D272FD28F94}" type="slidenum">
              <a:rPr lang="en-GB" smtClean="0"/>
              <a:t>‹#›</a:t>
            </a:fld>
            <a:endParaRPr lang="en-GB" dirty="0"/>
          </a:p>
        </p:txBody>
      </p:sp>
      <p:cxnSp>
        <p:nvCxnSpPr>
          <p:cNvPr id="7" name="Gerader Verbinder 6">
            <a:extLst>
              <a:ext uri="{FF2B5EF4-FFF2-40B4-BE49-F238E27FC236}">
                <a16:creationId xmlns:a16="http://schemas.microsoft.com/office/drawing/2014/main" id="{28919195-8E75-479A-BDAA-5340812D05F0}"/>
              </a:ext>
            </a:extLst>
          </p:cNvPr>
          <p:cNvCxnSpPr>
            <a:cxnSpLocks/>
          </p:cNvCxnSpPr>
          <p:nvPr userDrawn="1"/>
        </p:nvCxnSpPr>
        <p:spPr>
          <a:xfrm>
            <a:off x="443345" y="1048016"/>
            <a:ext cx="11305309" cy="0"/>
          </a:xfrm>
          <a:prstGeom prst="line">
            <a:avLst/>
          </a:prstGeom>
          <a:ln w="19050">
            <a:solidFill>
              <a:srgbClr val="84B81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931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FA6E63-11B9-4CC3-A8F1-CA7BE5FDF2AA}"/>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DED9E009-2402-4338-AD31-09B3DF5C1F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8FF2214-09A0-402A-9F4E-2C7916615199}"/>
              </a:ext>
            </a:extLst>
          </p:cNvPr>
          <p:cNvSpPr>
            <a:spLocks noGrp="1"/>
          </p:cNvSpPr>
          <p:nvPr>
            <p:ph type="dt" sz="half" idx="10"/>
          </p:nvPr>
        </p:nvSpPr>
        <p:spPr/>
        <p:txBody>
          <a:bodyPr/>
          <a:lstStyle/>
          <a:p>
            <a:fld id="{97F4CEA5-A680-4186-854E-2D581B458C7A}" type="datetime2">
              <a:rPr lang="de-DE" smtClean="0"/>
              <a:t>Donnerstag, 12. September 2024</a:t>
            </a:fld>
            <a:endParaRPr lang="en-GB" dirty="0"/>
          </a:p>
        </p:txBody>
      </p:sp>
      <p:sp>
        <p:nvSpPr>
          <p:cNvPr id="5" name="Fußzeilenplatzhalter 4">
            <a:extLst>
              <a:ext uri="{FF2B5EF4-FFF2-40B4-BE49-F238E27FC236}">
                <a16:creationId xmlns:a16="http://schemas.microsoft.com/office/drawing/2014/main" id="{32E247D2-C571-4B9A-AFA2-F1903887AA56}"/>
              </a:ext>
            </a:extLst>
          </p:cNvPr>
          <p:cNvSpPr>
            <a:spLocks noGrp="1"/>
          </p:cNvSpPr>
          <p:nvPr>
            <p:ph type="ftr" sz="quarter" idx="11"/>
          </p:nvPr>
        </p:nvSpPr>
        <p:spPr/>
        <p:txBody>
          <a:bodyPr/>
          <a:lstStyle/>
          <a:p>
            <a:endParaRPr lang="en-GB" dirty="0"/>
          </a:p>
        </p:txBody>
      </p:sp>
      <p:sp>
        <p:nvSpPr>
          <p:cNvPr id="6" name="Foliennummernplatzhalter 5">
            <a:extLst>
              <a:ext uri="{FF2B5EF4-FFF2-40B4-BE49-F238E27FC236}">
                <a16:creationId xmlns:a16="http://schemas.microsoft.com/office/drawing/2014/main" id="{AC24C14A-7B1B-4282-B6D8-01E51E5018A8}"/>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842718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DCB52-C7F3-4860-A993-00B3FB642D77}"/>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2B00AC2A-7462-4759-A98D-54D9185CDD64}"/>
              </a:ext>
            </a:extLst>
          </p:cNvPr>
          <p:cNvSpPr>
            <a:spLocks noGrp="1"/>
          </p:cNvSpPr>
          <p:nvPr>
            <p:ph sz="half" idx="1"/>
          </p:nvPr>
        </p:nvSpPr>
        <p:spPr>
          <a:xfrm>
            <a:off x="443345" y="1825625"/>
            <a:ext cx="5576455"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13D172F6-47E5-4C1D-AD1A-BB72D6C545D8}"/>
              </a:ext>
            </a:extLst>
          </p:cNvPr>
          <p:cNvSpPr>
            <a:spLocks noGrp="1"/>
          </p:cNvSpPr>
          <p:nvPr>
            <p:ph sz="half" idx="2"/>
          </p:nvPr>
        </p:nvSpPr>
        <p:spPr>
          <a:xfrm>
            <a:off x="6172200" y="1825625"/>
            <a:ext cx="5576454"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63197931-FDBF-4F08-B91A-8BD269EC0524}"/>
              </a:ext>
            </a:extLst>
          </p:cNvPr>
          <p:cNvSpPr>
            <a:spLocks noGrp="1"/>
          </p:cNvSpPr>
          <p:nvPr>
            <p:ph type="dt" sz="half" idx="10"/>
          </p:nvPr>
        </p:nvSpPr>
        <p:spPr/>
        <p:txBody>
          <a:bodyPr/>
          <a:lstStyle/>
          <a:p>
            <a:fld id="{9F04047C-5F69-4BDC-A956-C68DFDC37522}" type="datetime2">
              <a:rPr lang="de-DE" smtClean="0"/>
              <a:t>Donnerstag, 12. September 2024</a:t>
            </a:fld>
            <a:endParaRPr lang="en-GB" dirty="0"/>
          </a:p>
        </p:txBody>
      </p:sp>
      <p:sp>
        <p:nvSpPr>
          <p:cNvPr id="6" name="Fußzeilenplatzhalter 5">
            <a:extLst>
              <a:ext uri="{FF2B5EF4-FFF2-40B4-BE49-F238E27FC236}">
                <a16:creationId xmlns:a16="http://schemas.microsoft.com/office/drawing/2014/main" id="{16E7E7D2-2AD1-4BE8-955A-38A06BA3F5C1}"/>
              </a:ext>
            </a:extLst>
          </p:cNvPr>
          <p:cNvSpPr>
            <a:spLocks noGrp="1"/>
          </p:cNvSpPr>
          <p:nvPr>
            <p:ph type="ftr" sz="quarter" idx="11"/>
          </p:nvPr>
        </p:nvSpPr>
        <p:spPr/>
        <p:txBody>
          <a:bodyPr/>
          <a:lstStyle/>
          <a:p>
            <a:endParaRPr lang="en-GB" dirty="0"/>
          </a:p>
        </p:txBody>
      </p:sp>
      <p:sp>
        <p:nvSpPr>
          <p:cNvPr id="7" name="Foliennummernplatzhalter 6">
            <a:extLst>
              <a:ext uri="{FF2B5EF4-FFF2-40B4-BE49-F238E27FC236}">
                <a16:creationId xmlns:a16="http://schemas.microsoft.com/office/drawing/2014/main" id="{7D6A65CF-FDAE-475B-84C5-402FF49866A2}"/>
              </a:ext>
            </a:extLst>
          </p:cNvPr>
          <p:cNvSpPr>
            <a:spLocks noGrp="1"/>
          </p:cNvSpPr>
          <p:nvPr>
            <p:ph type="sldNum" sz="quarter" idx="12"/>
          </p:nvPr>
        </p:nvSpPr>
        <p:spPr/>
        <p:txBody>
          <a:bodyPr/>
          <a:lstStyle/>
          <a:p>
            <a:fld id="{EECF65F8-F24C-4BCD-B573-6D272FD28F94}" type="slidenum">
              <a:rPr lang="en-GB" smtClean="0"/>
              <a:t>‹#›</a:t>
            </a:fld>
            <a:endParaRPr lang="en-GB" dirty="0"/>
          </a:p>
        </p:txBody>
      </p:sp>
      <p:cxnSp>
        <p:nvCxnSpPr>
          <p:cNvPr id="9" name="Gerader Verbinder 8">
            <a:extLst>
              <a:ext uri="{FF2B5EF4-FFF2-40B4-BE49-F238E27FC236}">
                <a16:creationId xmlns:a16="http://schemas.microsoft.com/office/drawing/2014/main" id="{A0D8F350-568E-4D8B-8522-8C3AEC3E2C4E}"/>
              </a:ext>
            </a:extLst>
          </p:cNvPr>
          <p:cNvCxnSpPr>
            <a:cxnSpLocks/>
          </p:cNvCxnSpPr>
          <p:nvPr userDrawn="1"/>
        </p:nvCxnSpPr>
        <p:spPr>
          <a:xfrm>
            <a:off x="443345" y="1048016"/>
            <a:ext cx="11305309" cy="0"/>
          </a:xfrm>
          <a:prstGeom prst="line">
            <a:avLst/>
          </a:prstGeom>
          <a:ln w="19050">
            <a:solidFill>
              <a:srgbClr val="84B81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798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F2199F-6D2D-42F1-87F7-9183BA941496}"/>
              </a:ext>
            </a:extLst>
          </p:cNvPr>
          <p:cNvSpPr>
            <a:spLocks noGrp="1"/>
          </p:cNvSpPr>
          <p:nvPr>
            <p:ph type="title"/>
          </p:nvPr>
        </p:nvSpPr>
        <p:spPr>
          <a:xfrm>
            <a:off x="443345" y="365125"/>
            <a:ext cx="7710055"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A76F52CC-89AC-4F02-A22A-0657E33E71FC}"/>
              </a:ext>
            </a:extLst>
          </p:cNvPr>
          <p:cNvSpPr>
            <a:spLocks noGrp="1"/>
          </p:cNvSpPr>
          <p:nvPr>
            <p:ph type="body" idx="1"/>
          </p:nvPr>
        </p:nvSpPr>
        <p:spPr>
          <a:xfrm>
            <a:off x="443346" y="1681163"/>
            <a:ext cx="55542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28DFCF2-BF75-4B18-BBE7-92A299250128}"/>
              </a:ext>
            </a:extLst>
          </p:cNvPr>
          <p:cNvSpPr>
            <a:spLocks noGrp="1"/>
          </p:cNvSpPr>
          <p:nvPr>
            <p:ph sz="half" idx="2"/>
          </p:nvPr>
        </p:nvSpPr>
        <p:spPr>
          <a:xfrm>
            <a:off x="443346" y="2505075"/>
            <a:ext cx="555423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37042B81-6657-42E4-94C3-9BEAC769BB2E}"/>
              </a:ext>
            </a:extLst>
          </p:cNvPr>
          <p:cNvSpPr>
            <a:spLocks noGrp="1"/>
          </p:cNvSpPr>
          <p:nvPr>
            <p:ph type="body" sz="quarter" idx="3"/>
          </p:nvPr>
        </p:nvSpPr>
        <p:spPr>
          <a:xfrm>
            <a:off x="6172200" y="1681163"/>
            <a:ext cx="55542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BA097BD0-2864-4BD6-9E23-4C9FAE4B77B5}"/>
              </a:ext>
            </a:extLst>
          </p:cNvPr>
          <p:cNvSpPr>
            <a:spLocks noGrp="1"/>
          </p:cNvSpPr>
          <p:nvPr>
            <p:ph sz="quarter" idx="4"/>
          </p:nvPr>
        </p:nvSpPr>
        <p:spPr>
          <a:xfrm>
            <a:off x="6172200" y="2505075"/>
            <a:ext cx="555423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D25B9538-46C7-4C51-AF98-9E3B2B09635F}"/>
              </a:ext>
            </a:extLst>
          </p:cNvPr>
          <p:cNvSpPr>
            <a:spLocks noGrp="1"/>
          </p:cNvSpPr>
          <p:nvPr>
            <p:ph type="dt" sz="half" idx="10"/>
          </p:nvPr>
        </p:nvSpPr>
        <p:spPr/>
        <p:txBody>
          <a:bodyPr/>
          <a:lstStyle/>
          <a:p>
            <a:fld id="{4E98494B-670E-41DD-AC16-2D05D8568B60}" type="datetime2">
              <a:rPr lang="de-DE" smtClean="0"/>
              <a:t>Donnerstag, 12. September 2024</a:t>
            </a:fld>
            <a:endParaRPr lang="en-GB" dirty="0"/>
          </a:p>
        </p:txBody>
      </p:sp>
      <p:sp>
        <p:nvSpPr>
          <p:cNvPr id="8" name="Fußzeilenplatzhalter 7">
            <a:extLst>
              <a:ext uri="{FF2B5EF4-FFF2-40B4-BE49-F238E27FC236}">
                <a16:creationId xmlns:a16="http://schemas.microsoft.com/office/drawing/2014/main" id="{284999BD-48FE-4698-B2B2-7A1AEACF7283}"/>
              </a:ext>
            </a:extLst>
          </p:cNvPr>
          <p:cNvSpPr>
            <a:spLocks noGrp="1"/>
          </p:cNvSpPr>
          <p:nvPr>
            <p:ph type="ftr" sz="quarter" idx="11"/>
          </p:nvPr>
        </p:nvSpPr>
        <p:spPr/>
        <p:txBody>
          <a:bodyPr/>
          <a:lstStyle/>
          <a:p>
            <a:endParaRPr lang="en-GB" dirty="0"/>
          </a:p>
        </p:txBody>
      </p:sp>
      <p:sp>
        <p:nvSpPr>
          <p:cNvPr id="9" name="Foliennummernplatzhalter 8">
            <a:extLst>
              <a:ext uri="{FF2B5EF4-FFF2-40B4-BE49-F238E27FC236}">
                <a16:creationId xmlns:a16="http://schemas.microsoft.com/office/drawing/2014/main" id="{19998D0C-4BCA-41B0-8B9A-4A189BBDF3F7}"/>
              </a:ext>
            </a:extLst>
          </p:cNvPr>
          <p:cNvSpPr>
            <a:spLocks noGrp="1"/>
          </p:cNvSpPr>
          <p:nvPr>
            <p:ph type="sldNum" sz="quarter" idx="12"/>
          </p:nvPr>
        </p:nvSpPr>
        <p:spPr/>
        <p:txBody>
          <a:bodyPr/>
          <a:lstStyle/>
          <a:p>
            <a:fld id="{EECF65F8-F24C-4BCD-B573-6D272FD28F94}" type="slidenum">
              <a:rPr lang="en-GB" smtClean="0"/>
              <a:t>‹#›</a:t>
            </a:fld>
            <a:endParaRPr lang="en-GB" dirty="0"/>
          </a:p>
        </p:txBody>
      </p:sp>
      <p:cxnSp>
        <p:nvCxnSpPr>
          <p:cNvPr id="10" name="Gerader Verbinder 9">
            <a:extLst>
              <a:ext uri="{FF2B5EF4-FFF2-40B4-BE49-F238E27FC236}">
                <a16:creationId xmlns:a16="http://schemas.microsoft.com/office/drawing/2014/main" id="{3A8FD6D6-F694-4402-A8B9-B80E618FA432}"/>
              </a:ext>
            </a:extLst>
          </p:cNvPr>
          <p:cNvCxnSpPr>
            <a:cxnSpLocks/>
          </p:cNvCxnSpPr>
          <p:nvPr userDrawn="1"/>
        </p:nvCxnSpPr>
        <p:spPr>
          <a:xfrm>
            <a:off x="443345" y="1666311"/>
            <a:ext cx="11305309" cy="0"/>
          </a:xfrm>
          <a:prstGeom prst="line">
            <a:avLst/>
          </a:prstGeom>
          <a:ln w="19050">
            <a:solidFill>
              <a:srgbClr val="84B81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17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092F04-5388-4723-BA26-D10C98D0AF55}"/>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E70ADA71-5B3D-42E8-9DCB-3698D4556437}"/>
              </a:ext>
            </a:extLst>
          </p:cNvPr>
          <p:cNvSpPr>
            <a:spLocks noGrp="1"/>
          </p:cNvSpPr>
          <p:nvPr>
            <p:ph type="dt" sz="half" idx="10"/>
          </p:nvPr>
        </p:nvSpPr>
        <p:spPr/>
        <p:txBody>
          <a:bodyPr/>
          <a:lstStyle/>
          <a:p>
            <a:fld id="{A8823C32-9229-4229-A09F-0E57504D93AB}" type="datetime2">
              <a:rPr lang="de-DE" smtClean="0"/>
              <a:t>Donnerstag, 12. September 2024</a:t>
            </a:fld>
            <a:endParaRPr lang="en-GB" dirty="0"/>
          </a:p>
        </p:txBody>
      </p:sp>
      <p:sp>
        <p:nvSpPr>
          <p:cNvPr id="4" name="Fußzeilenplatzhalter 3">
            <a:extLst>
              <a:ext uri="{FF2B5EF4-FFF2-40B4-BE49-F238E27FC236}">
                <a16:creationId xmlns:a16="http://schemas.microsoft.com/office/drawing/2014/main" id="{8AE5F090-AFE3-4431-BD23-C8EADF4A674F}"/>
              </a:ext>
            </a:extLst>
          </p:cNvPr>
          <p:cNvSpPr>
            <a:spLocks noGrp="1"/>
          </p:cNvSpPr>
          <p:nvPr>
            <p:ph type="ftr" sz="quarter" idx="11"/>
          </p:nvPr>
        </p:nvSpPr>
        <p:spPr/>
        <p:txBody>
          <a:bodyPr/>
          <a:lstStyle/>
          <a:p>
            <a:endParaRPr lang="en-GB" dirty="0"/>
          </a:p>
        </p:txBody>
      </p:sp>
      <p:sp>
        <p:nvSpPr>
          <p:cNvPr id="5" name="Foliennummernplatzhalter 4">
            <a:extLst>
              <a:ext uri="{FF2B5EF4-FFF2-40B4-BE49-F238E27FC236}">
                <a16:creationId xmlns:a16="http://schemas.microsoft.com/office/drawing/2014/main" id="{098986ED-7DA8-4DA4-BB71-F3491792888D}"/>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2436773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4561E46-0E90-4799-B19C-F55B8FE92B7D}"/>
              </a:ext>
            </a:extLst>
          </p:cNvPr>
          <p:cNvSpPr>
            <a:spLocks noGrp="1"/>
          </p:cNvSpPr>
          <p:nvPr>
            <p:ph type="dt" sz="half" idx="10"/>
          </p:nvPr>
        </p:nvSpPr>
        <p:spPr/>
        <p:txBody>
          <a:bodyPr/>
          <a:lstStyle/>
          <a:p>
            <a:fld id="{88A447CD-F9D2-433F-88BC-8016341F1735}" type="datetime2">
              <a:rPr lang="de-DE" smtClean="0"/>
              <a:t>Donnerstag, 12. September 2024</a:t>
            </a:fld>
            <a:endParaRPr lang="en-GB" dirty="0"/>
          </a:p>
        </p:txBody>
      </p:sp>
      <p:sp>
        <p:nvSpPr>
          <p:cNvPr id="3" name="Fußzeilenplatzhalter 2">
            <a:extLst>
              <a:ext uri="{FF2B5EF4-FFF2-40B4-BE49-F238E27FC236}">
                <a16:creationId xmlns:a16="http://schemas.microsoft.com/office/drawing/2014/main" id="{FDF946E8-BD68-42AA-AC2E-20838DC983F5}"/>
              </a:ext>
            </a:extLst>
          </p:cNvPr>
          <p:cNvSpPr>
            <a:spLocks noGrp="1"/>
          </p:cNvSpPr>
          <p:nvPr>
            <p:ph type="ftr" sz="quarter" idx="11"/>
          </p:nvPr>
        </p:nvSpPr>
        <p:spPr/>
        <p:txBody>
          <a:bodyPr/>
          <a:lstStyle/>
          <a:p>
            <a:endParaRPr lang="en-GB" dirty="0"/>
          </a:p>
        </p:txBody>
      </p:sp>
      <p:sp>
        <p:nvSpPr>
          <p:cNvPr id="4" name="Foliennummernplatzhalter 3">
            <a:extLst>
              <a:ext uri="{FF2B5EF4-FFF2-40B4-BE49-F238E27FC236}">
                <a16:creationId xmlns:a16="http://schemas.microsoft.com/office/drawing/2014/main" id="{7DBD5475-09A4-41FC-9D6E-5D021CFFD476}"/>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499645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7E49CE-14A2-4FF6-B79B-A48BBB66CA9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20088442-A93F-4969-A66F-0C7C74C1A0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7C248CB5-4F3E-4797-BBE0-388E28B937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6C97AD7-5334-4778-BF05-F354BEF5BC86}"/>
              </a:ext>
            </a:extLst>
          </p:cNvPr>
          <p:cNvSpPr>
            <a:spLocks noGrp="1"/>
          </p:cNvSpPr>
          <p:nvPr>
            <p:ph type="dt" sz="half" idx="10"/>
          </p:nvPr>
        </p:nvSpPr>
        <p:spPr/>
        <p:txBody>
          <a:bodyPr/>
          <a:lstStyle/>
          <a:p>
            <a:fld id="{340267B4-5AD9-4F18-A4A0-6BDF70D428FA}" type="datetime2">
              <a:rPr lang="de-DE" smtClean="0"/>
              <a:t>Donnerstag, 12. September 2024</a:t>
            </a:fld>
            <a:endParaRPr lang="en-GB" dirty="0"/>
          </a:p>
        </p:txBody>
      </p:sp>
      <p:sp>
        <p:nvSpPr>
          <p:cNvPr id="6" name="Fußzeilenplatzhalter 5">
            <a:extLst>
              <a:ext uri="{FF2B5EF4-FFF2-40B4-BE49-F238E27FC236}">
                <a16:creationId xmlns:a16="http://schemas.microsoft.com/office/drawing/2014/main" id="{B6F9C153-4124-4C0A-8D3E-1F2746F55E91}"/>
              </a:ext>
            </a:extLst>
          </p:cNvPr>
          <p:cNvSpPr>
            <a:spLocks noGrp="1"/>
          </p:cNvSpPr>
          <p:nvPr>
            <p:ph type="ftr" sz="quarter" idx="11"/>
          </p:nvPr>
        </p:nvSpPr>
        <p:spPr/>
        <p:txBody>
          <a:bodyPr/>
          <a:lstStyle/>
          <a:p>
            <a:endParaRPr lang="en-GB" dirty="0"/>
          </a:p>
        </p:txBody>
      </p:sp>
      <p:sp>
        <p:nvSpPr>
          <p:cNvPr id="7" name="Foliennummernplatzhalter 6">
            <a:extLst>
              <a:ext uri="{FF2B5EF4-FFF2-40B4-BE49-F238E27FC236}">
                <a16:creationId xmlns:a16="http://schemas.microsoft.com/office/drawing/2014/main" id="{FE3FC63F-9BE2-4FA0-99EC-0615B7AB170F}"/>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574827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7A44AF-CBF7-4647-8251-0D675B48489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39C309EE-62F4-4197-8989-EC623FBC89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platzhalter 3">
            <a:extLst>
              <a:ext uri="{FF2B5EF4-FFF2-40B4-BE49-F238E27FC236}">
                <a16:creationId xmlns:a16="http://schemas.microsoft.com/office/drawing/2014/main" id="{AFD4C803-DB8B-4BB9-93F0-3C7E32077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F69B262-989F-4D67-999D-06C94810C1AB}"/>
              </a:ext>
            </a:extLst>
          </p:cNvPr>
          <p:cNvSpPr>
            <a:spLocks noGrp="1"/>
          </p:cNvSpPr>
          <p:nvPr>
            <p:ph type="dt" sz="half" idx="10"/>
          </p:nvPr>
        </p:nvSpPr>
        <p:spPr/>
        <p:txBody>
          <a:bodyPr/>
          <a:lstStyle/>
          <a:p>
            <a:fld id="{1266A19D-1835-4F90-BCCD-CD8253B6C907}" type="datetime2">
              <a:rPr lang="de-DE" smtClean="0"/>
              <a:t>Donnerstag, 12. September 2024</a:t>
            </a:fld>
            <a:endParaRPr lang="en-GB" dirty="0"/>
          </a:p>
        </p:txBody>
      </p:sp>
      <p:sp>
        <p:nvSpPr>
          <p:cNvPr id="6" name="Fußzeilenplatzhalter 5">
            <a:extLst>
              <a:ext uri="{FF2B5EF4-FFF2-40B4-BE49-F238E27FC236}">
                <a16:creationId xmlns:a16="http://schemas.microsoft.com/office/drawing/2014/main" id="{802C11DE-33BC-4BD9-BF9A-A57EE2BC1BDE}"/>
              </a:ext>
            </a:extLst>
          </p:cNvPr>
          <p:cNvSpPr>
            <a:spLocks noGrp="1"/>
          </p:cNvSpPr>
          <p:nvPr>
            <p:ph type="ftr" sz="quarter" idx="11"/>
          </p:nvPr>
        </p:nvSpPr>
        <p:spPr/>
        <p:txBody>
          <a:bodyPr/>
          <a:lstStyle/>
          <a:p>
            <a:endParaRPr lang="en-GB" dirty="0"/>
          </a:p>
        </p:txBody>
      </p:sp>
      <p:sp>
        <p:nvSpPr>
          <p:cNvPr id="7" name="Foliennummernplatzhalter 6">
            <a:extLst>
              <a:ext uri="{FF2B5EF4-FFF2-40B4-BE49-F238E27FC236}">
                <a16:creationId xmlns:a16="http://schemas.microsoft.com/office/drawing/2014/main" id="{92C02D4D-0DD1-4D65-AD4D-5E5D3503ABAD}"/>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292006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948517-5AB4-4D9C-AB86-6C4E0F2E20D1}"/>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BC1EA950-E639-4013-88CA-FC906E6161B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E5BDF998-0326-4CB7-A239-5694121B138E}"/>
              </a:ext>
            </a:extLst>
          </p:cNvPr>
          <p:cNvSpPr>
            <a:spLocks noGrp="1"/>
          </p:cNvSpPr>
          <p:nvPr>
            <p:ph type="dt" sz="half" idx="10"/>
          </p:nvPr>
        </p:nvSpPr>
        <p:spPr/>
        <p:txBody>
          <a:bodyPr/>
          <a:lstStyle/>
          <a:p>
            <a:fld id="{E2F83CFD-BFAC-468E-92F7-6851272E0A23}" type="datetime2">
              <a:rPr lang="de-DE" smtClean="0"/>
              <a:t>Donnerstag, 12. September 2024</a:t>
            </a:fld>
            <a:endParaRPr lang="en-GB" dirty="0"/>
          </a:p>
        </p:txBody>
      </p:sp>
      <p:sp>
        <p:nvSpPr>
          <p:cNvPr id="5" name="Fußzeilenplatzhalter 4">
            <a:extLst>
              <a:ext uri="{FF2B5EF4-FFF2-40B4-BE49-F238E27FC236}">
                <a16:creationId xmlns:a16="http://schemas.microsoft.com/office/drawing/2014/main" id="{6AF5C982-53BD-42C4-9641-375094C438D1}"/>
              </a:ext>
            </a:extLst>
          </p:cNvPr>
          <p:cNvSpPr>
            <a:spLocks noGrp="1"/>
          </p:cNvSpPr>
          <p:nvPr>
            <p:ph type="ftr" sz="quarter" idx="11"/>
          </p:nvPr>
        </p:nvSpPr>
        <p:spPr/>
        <p:txBody>
          <a:bodyPr/>
          <a:lstStyle/>
          <a:p>
            <a:endParaRPr lang="en-GB" dirty="0"/>
          </a:p>
        </p:txBody>
      </p:sp>
      <p:sp>
        <p:nvSpPr>
          <p:cNvPr id="6" name="Foliennummernplatzhalter 5">
            <a:extLst>
              <a:ext uri="{FF2B5EF4-FFF2-40B4-BE49-F238E27FC236}">
                <a16:creationId xmlns:a16="http://schemas.microsoft.com/office/drawing/2014/main" id="{89C12D84-17EB-44C4-A0A5-8DA3EB98EB82}"/>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1561777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B93CE8A-BF5C-40CC-80B2-DA867B42D62A}"/>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04ECFAE8-A413-41A3-BE48-988693F155D5}"/>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142565B2-DE0D-42DC-AA12-C4FDA59B8680}"/>
              </a:ext>
            </a:extLst>
          </p:cNvPr>
          <p:cNvSpPr>
            <a:spLocks noGrp="1"/>
          </p:cNvSpPr>
          <p:nvPr>
            <p:ph type="dt" sz="half" idx="10"/>
          </p:nvPr>
        </p:nvSpPr>
        <p:spPr/>
        <p:txBody>
          <a:bodyPr/>
          <a:lstStyle/>
          <a:p>
            <a:fld id="{5CC1515F-44D9-4A4A-A164-328EC54F30CB}" type="datetime2">
              <a:rPr lang="de-DE" smtClean="0"/>
              <a:t>Donnerstag, 12. September 2024</a:t>
            </a:fld>
            <a:endParaRPr lang="en-GB" dirty="0"/>
          </a:p>
        </p:txBody>
      </p:sp>
      <p:sp>
        <p:nvSpPr>
          <p:cNvPr id="5" name="Fußzeilenplatzhalter 4">
            <a:extLst>
              <a:ext uri="{FF2B5EF4-FFF2-40B4-BE49-F238E27FC236}">
                <a16:creationId xmlns:a16="http://schemas.microsoft.com/office/drawing/2014/main" id="{6156E5D7-9062-4826-A6C0-45679630B3F9}"/>
              </a:ext>
            </a:extLst>
          </p:cNvPr>
          <p:cNvSpPr>
            <a:spLocks noGrp="1"/>
          </p:cNvSpPr>
          <p:nvPr>
            <p:ph type="ftr" sz="quarter" idx="11"/>
          </p:nvPr>
        </p:nvSpPr>
        <p:spPr/>
        <p:txBody>
          <a:bodyPr/>
          <a:lstStyle/>
          <a:p>
            <a:endParaRPr lang="en-GB" dirty="0"/>
          </a:p>
        </p:txBody>
      </p:sp>
      <p:sp>
        <p:nvSpPr>
          <p:cNvPr id="6" name="Foliennummernplatzhalter 5">
            <a:extLst>
              <a:ext uri="{FF2B5EF4-FFF2-40B4-BE49-F238E27FC236}">
                <a16:creationId xmlns:a16="http://schemas.microsoft.com/office/drawing/2014/main" id="{719B5598-F14A-464C-85C6-31BEF18FEA92}"/>
              </a:ext>
            </a:extLst>
          </p:cNvPr>
          <p:cNvSpPr>
            <a:spLocks noGrp="1"/>
          </p:cNvSpPr>
          <p:nvPr>
            <p:ph type="sldNum" sz="quarter" idx="12"/>
          </p:nvPr>
        </p:nvSpPr>
        <p:spPr/>
        <p:txBody>
          <a:bodyPr/>
          <a:lstStyle/>
          <a:p>
            <a:fld id="{EECF65F8-F24C-4BCD-B573-6D272FD28F94}" type="slidenum">
              <a:rPr lang="en-GB" smtClean="0"/>
              <a:t>‹#›</a:t>
            </a:fld>
            <a:endParaRPr lang="en-GB" dirty="0"/>
          </a:p>
        </p:txBody>
      </p:sp>
    </p:spTree>
    <p:extLst>
      <p:ext uri="{BB962C8B-B14F-4D97-AF65-F5344CB8AC3E}">
        <p14:creationId xmlns:p14="http://schemas.microsoft.com/office/powerpoint/2010/main" val="528688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1275038-0EA2-4A66-BD9C-53AFC81E8E51}"/>
              </a:ext>
            </a:extLst>
          </p:cNvPr>
          <p:cNvSpPr>
            <a:spLocks noGrp="1"/>
          </p:cNvSpPr>
          <p:nvPr>
            <p:ph type="title"/>
          </p:nvPr>
        </p:nvSpPr>
        <p:spPr>
          <a:xfrm>
            <a:off x="443347" y="320675"/>
            <a:ext cx="7710054" cy="720000"/>
          </a:xfrm>
          <a:prstGeom prst="rect">
            <a:avLst/>
          </a:prstGeom>
        </p:spPr>
        <p:txBody>
          <a:bodyPr vert="horz" lIns="91440" tIns="45720" rIns="91440" bIns="45720" rtlCol="0" anchor="b" anchorCtr="0">
            <a:normAutofit/>
          </a:bodyPr>
          <a:lstStyle/>
          <a:p>
            <a:r>
              <a:rPr lang="de-DE" dirty="0"/>
              <a:t>Mastertitelformat bearbeiten</a:t>
            </a:r>
            <a:endParaRPr lang="en-GB" dirty="0"/>
          </a:p>
        </p:txBody>
      </p:sp>
      <p:sp>
        <p:nvSpPr>
          <p:cNvPr id="3" name="Textplatzhalter 2">
            <a:extLst>
              <a:ext uri="{FF2B5EF4-FFF2-40B4-BE49-F238E27FC236}">
                <a16:creationId xmlns:a16="http://schemas.microsoft.com/office/drawing/2014/main" id="{3CB595BC-54E0-4A16-A82C-E35812720A1A}"/>
              </a:ext>
            </a:extLst>
          </p:cNvPr>
          <p:cNvSpPr>
            <a:spLocks noGrp="1"/>
          </p:cNvSpPr>
          <p:nvPr>
            <p:ph type="body" idx="1"/>
          </p:nvPr>
        </p:nvSpPr>
        <p:spPr>
          <a:xfrm>
            <a:off x="443345" y="1825625"/>
            <a:ext cx="11305309"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4" name="Datumsplatzhalter 3">
            <a:extLst>
              <a:ext uri="{FF2B5EF4-FFF2-40B4-BE49-F238E27FC236}">
                <a16:creationId xmlns:a16="http://schemas.microsoft.com/office/drawing/2014/main" id="{4E7DFEA6-99C6-440C-8C21-29D536784774}"/>
              </a:ext>
            </a:extLst>
          </p:cNvPr>
          <p:cNvSpPr>
            <a:spLocks noGrp="1"/>
          </p:cNvSpPr>
          <p:nvPr>
            <p:ph type="dt" sz="half" idx="2"/>
          </p:nvPr>
        </p:nvSpPr>
        <p:spPr>
          <a:xfrm>
            <a:off x="443345" y="6354762"/>
            <a:ext cx="2743200" cy="365125"/>
          </a:xfrm>
          <a:prstGeom prst="rect">
            <a:avLst/>
          </a:prstGeom>
        </p:spPr>
        <p:txBody>
          <a:bodyPr vert="horz" lIns="91440" tIns="45720" rIns="91440" bIns="45720" rtlCol="0" anchor="ctr"/>
          <a:lstStyle>
            <a:lvl1pPr algn="l">
              <a:defRPr sz="1200">
                <a:solidFill>
                  <a:srgbClr val="84B819"/>
                </a:solidFill>
                <a:latin typeface="Arial" panose="020B0604020202020204" pitchFamily="34" charset="0"/>
                <a:cs typeface="Arial" panose="020B0604020202020204" pitchFamily="34" charset="0"/>
              </a:defRPr>
            </a:lvl1pPr>
          </a:lstStyle>
          <a:p>
            <a:fld id="{F43BE7B1-D359-46E0-8887-2604145D0CDB}" type="datetime2">
              <a:rPr lang="de-DE" smtClean="0"/>
              <a:pPr/>
              <a:t>Donnerstag, 12. September 2024</a:t>
            </a:fld>
            <a:endParaRPr lang="en-GB" dirty="0"/>
          </a:p>
        </p:txBody>
      </p:sp>
      <p:sp>
        <p:nvSpPr>
          <p:cNvPr id="5" name="Fußzeilenplatzhalter 4">
            <a:extLst>
              <a:ext uri="{FF2B5EF4-FFF2-40B4-BE49-F238E27FC236}">
                <a16:creationId xmlns:a16="http://schemas.microsoft.com/office/drawing/2014/main" id="{F1EFE6D3-FB16-4342-BEA3-A8B28915E123}"/>
              </a:ext>
            </a:extLst>
          </p:cNvPr>
          <p:cNvSpPr>
            <a:spLocks noGrp="1"/>
          </p:cNvSpPr>
          <p:nvPr>
            <p:ph type="ftr" sz="quarter" idx="3"/>
          </p:nvPr>
        </p:nvSpPr>
        <p:spPr>
          <a:xfrm>
            <a:off x="3284376" y="6356350"/>
            <a:ext cx="4869024" cy="365125"/>
          </a:xfrm>
          <a:prstGeom prst="rect">
            <a:avLst/>
          </a:prstGeom>
        </p:spPr>
        <p:txBody>
          <a:bodyPr vert="horz" lIns="91440" tIns="45720" rIns="91440" bIns="45720" rtlCol="0" anchor="ctr"/>
          <a:lstStyle>
            <a:lvl1pPr algn="ctr">
              <a:defRPr sz="1200">
                <a:solidFill>
                  <a:srgbClr val="84B819"/>
                </a:solidFill>
                <a:latin typeface="Arial" panose="020B0604020202020204" pitchFamily="34" charset="0"/>
                <a:cs typeface="Arial" panose="020B0604020202020204" pitchFamily="34" charset="0"/>
              </a:defRPr>
            </a:lvl1pPr>
          </a:lstStyle>
          <a:p>
            <a:endParaRPr lang="en-GB" dirty="0"/>
          </a:p>
        </p:txBody>
      </p:sp>
      <p:sp>
        <p:nvSpPr>
          <p:cNvPr id="6" name="Foliennummernplatzhalter 5">
            <a:extLst>
              <a:ext uri="{FF2B5EF4-FFF2-40B4-BE49-F238E27FC236}">
                <a16:creationId xmlns:a16="http://schemas.microsoft.com/office/drawing/2014/main" id="{CEED30B7-3131-4449-9A5C-12CAC3D641D8}"/>
              </a:ext>
            </a:extLst>
          </p:cNvPr>
          <p:cNvSpPr>
            <a:spLocks noGrp="1"/>
          </p:cNvSpPr>
          <p:nvPr>
            <p:ph type="sldNum" sz="quarter" idx="4"/>
          </p:nvPr>
        </p:nvSpPr>
        <p:spPr>
          <a:xfrm>
            <a:off x="9005454" y="6354762"/>
            <a:ext cx="2743200" cy="365125"/>
          </a:xfrm>
          <a:prstGeom prst="rect">
            <a:avLst/>
          </a:prstGeom>
        </p:spPr>
        <p:txBody>
          <a:bodyPr vert="horz" lIns="91440" tIns="45720" rIns="91440" bIns="45720" rtlCol="0" anchor="ctr"/>
          <a:lstStyle>
            <a:lvl1pPr algn="r">
              <a:defRPr sz="1200">
                <a:solidFill>
                  <a:srgbClr val="84B819"/>
                </a:solidFill>
                <a:latin typeface="Arial" panose="020B0604020202020204" pitchFamily="34" charset="0"/>
                <a:cs typeface="Arial" panose="020B0604020202020204" pitchFamily="34" charset="0"/>
              </a:defRPr>
            </a:lvl1pPr>
          </a:lstStyle>
          <a:p>
            <a:fld id="{EECF65F8-F24C-4BCD-B573-6D272FD28F94}" type="slidenum">
              <a:rPr lang="en-GB" smtClean="0"/>
              <a:pPr/>
              <a:t>‹#›</a:t>
            </a:fld>
            <a:endParaRPr lang="en-GB" dirty="0"/>
          </a:p>
        </p:txBody>
      </p:sp>
      <p:pic>
        <p:nvPicPr>
          <p:cNvPr id="8" name="Grafik 7">
            <a:extLst>
              <a:ext uri="{FF2B5EF4-FFF2-40B4-BE49-F238E27FC236}">
                <a16:creationId xmlns:a16="http://schemas.microsoft.com/office/drawing/2014/main" id="{625CA2D2-2719-4FF0-BB0C-052BFC7E478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670412" y="320675"/>
            <a:ext cx="1078242" cy="720000"/>
          </a:xfrm>
          <a:prstGeom prst="rect">
            <a:avLst/>
          </a:prstGeom>
        </p:spPr>
      </p:pic>
      <p:pic>
        <p:nvPicPr>
          <p:cNvPr id="10" name="Grafik 9">
            <a:extLst>
              <a:ext uri="{FF2B5EF4-FFF2-40B4-BE49-F238E27FC236}">
                <a16:creationId xmlns:a16="http://schemas.microsoft.com/office/drawing/2014/main" id="{953D598A-42CA-4257-8809-7AE56DBB0FC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052382" y="320675"/>
            <a:ext cx="2618030" cy="720000"/>
          </a:xfrm>
          <a:prstGeom prst="rect">
            <a:avLst/>
          </a:prstGeom>
        </p:spPr>
      </p:pic>
    </p:spTree>
    <p:extLst>
      <p:ext uri="{BB962C8B-B14F-4D97-AF65-F5344CB8AC3E}">
        <p14:creationId xmlns:p14="http://schemas.microsoft.com/office/powerpoint/2010/main" val="2079409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rgbClr val="84B819"/>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0.png"/></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0.png"/><Relationship Id="rId7" Type="http://schemas.openxmlformats.org/officeDocument/2006/relationships/diagramColors" Target="../diagrams/colors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30.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360.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4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4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71BA0D-3986-47C9-B9F8-B031C1BFA560}"/>
              </a:ext>
            </a:extLst>
          </p:cNvPr>
          <p:cNvSpPr>
            <a:spLocks noGrp="1"/>
          </p:cNvSpPr>
          <p:nvPr>
            <p:ph type="ctrTitle"/>
          </p:nvPr>
        </p:nvSpPr>
        <p:spPr/>
        <p:txBody>
          <a:bodyPr>
            <a:normAutofit/>
          </a:bodyPr>
          <a:lstStyle/>
          <a:p>
            <a:r>
              <a:rPr lang="de-DE" sz="4800" dirty="0"/>
              <a:t>SHAPE OPTIMISATION USING DEEP REINFORCEMENT LEARNING METHODS</a:t>
            </a:r>
          </a:p>
        </p:txBody>
      </p:sp>
      <p:sp>
        <p:nvSpPr>
          <p:cNvPr id="3" name="Untertitel 2">
            <a:extLst>
              <a:ext uri="{FF2B5EF4-FFF2-40B4-BE49-F238E27FC236}">
                <a16:creationId xmlns:a16="http://schemas.microsoft.com/office/drawing/2014/main" id="{0D0CC41D-BDAD-4A09-97E2-E58F1B51E609}"/>
              </a:ext>
            </a:extLst>
          </p:cNvPr>
          <p:cNvSpPr>
            <a:spLocks noGrp="1"/>
          </p:cNvSpPr>
          <p:nvPr>
            <p:ph type="subTitle" idx="1"/>
          </p:nvPr>
        </p:nvSpPr>
        <p:spPr>
          <a:xfrm>
            <a:off x="1524000" y="3602038"/>
            <a:ext cx="9144000" cy="3004950"/>
          </a:xfrm>
        </p:spPr>
        <p:txBody>
          <a:bodyPr>
            <a:normAutofit fontScale="92500" lnSpcReduction="20000"/>
          </a:bodyPr>
          <a:lstStyle/>
          <a:p>
            <a:r>
              <a:rPr lang="en-US" dirty="0"/>
              <a:t>Final Presentation of Master Thesis </a:t>
            </a:r>
          </a:p>
          <a:p>
            <a:r>
              <a:rPr lang="en-US" b="1" dirty="0"/>
              <a:t>Philip Varghese Modayil  (229225)</a:t>
            </a:r>
          </a:p>
          <a:p>
            <a:r>
              <a:rPr lang="en-US" dirty="0"/>
              <a:t>TU Dortmund - Information </a:t>
            </a:r>
            <a:r>
              <a:rPr lang="en-US"/>
              <a:t>Processing Laboratory</a:t>
            </a:r>
          </a:p>
          <a:p>
            <a:r>
              <a:rPr lang="en-US" dirty="0"/>
              <a:t>12. September 2024</a:t>
            </a:r>
          </a:p>
          <a:p>
            <a:pPr algn="l"/>
            <a:endParaRPr lang="de-DE" sz="1600" b="1" dirty="0"/>
          </a:p>
          <a:p>
            <a:pPr algn="l"/>
            <a:r>
              <a:rPr lang="de-DE" sz="1600" dirty="0"/>
              <a:t>External Supervisor: Dr.-Ing. Werner John(Associate Lecturer)</a:t>
            </a:r>
          </a:p>
          <a:p>
            <a:pPr algn="l"/>
            <a:r>
              <a:rPr lang="de-DE" sz="1600" dirty="0"/>
              <a:t>Supervisor: Prof. Dr.-Ing. Jürgen Götze</a:t>
            </a:r>
          </a:p>
          <a:p>
            <a:pPr algn="l"/>
            <a:r>
              <a:rPr lang="de-DE" sz="1600" dirty="0"/>
              <a:t>Co-Supervisor: M.Sc. Emre Ecik</a:t>
            </a:r>
          </a:p>
          <a:p>
            <a:pPr algn="l"/>
            <a:r>
              <a:rPr lang="de-DE" sz="1600" dirty="0"/>
              <a:t>Submitted On: 29 June 2024</a:t>
            </a:r>
          </a:p>
        </p:txBody>
      </p:sp>
    </p:spTree>
    <p:extLst>
      <p:ext uri="{BB962C8B-B14F-4D97-AF65-F5344CB8AC3E}">
        <p14:creationId xmlns:p14="http://schemas.microsoft.com/office/powerpoint/2010/main" val="1904506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7BFD4-69D2-A354-5AEE-600FAD5CDC0A}"/>
              </a:ext>
            </a:extLst>
          </p:cNvPr>
          <p:cNvSpPr>
            <a:spLocks noGrp="1"/>
          </p:cNvSpPr>
          <p:nvPr>
            <p:ph type="title"/>
          </p:nvPr>
        </p:nvSpPr>
        <p:spPr/>
        <p:txBody>
          <a:bodyPr>
            <a:normAutofit/>
          </a:bodyPr>
          <a:lstStyle/>
          <a:p>
            <a:r>
              <a:rPr lang="en-IN" sz="2900" dirty="0"/>
              <a:t>Contents</a:t>
            </a:r>
          </a:p>
        </p:txBody>
      </p:sp>
      <p:sp>
        <p:nvSpPr>
          <p:cNvPr id="3" name="Content Placeholder 2">
            <a:extLst>
              <a:ext uri="{FF2B5EF4-FFF2-40B4-BE49-F238E27FC236}">
                <a16:creationId xmlns:a16="http://schemas.microsoft.com/office/drawing/2014/main" id="{C56F38E0-A9DD-FE39-DCFB-7C2C61408E6C}"/>
              </a:ext>
            </a:extLst>
          </p:cNvPr>
          <p:cNvSpPr>
            <a:spLocks noGrp="1"/>
          </p:cNvSpPr>
          <p:nvPr>
            <p:ph idx="1"/>
          </p:nvPr>
        </p:nvSpPr>
        <p:spPr/>
        <p:txBody>
          <a:bodyPr>
            <a:normAutofit/>
          </a:bodyPr>
          <a:lstStyle/>
          <a:p>
            <a:r>
              <a:rPr lang="en-IN" sz="2000" dirty="0"/>
              <a:t>Motivation</a:t>
            </a:r>
          </a:p>
          <a:p>
            <a:r>
              <a:rPr lang="en-IN" sz="2000" dirty="0"/>
              <a:t>Necessary Equations – Shape Optimisation</a:t>
            </a:r>
          </a:p>
          <a:p>
            <a:r>
              <a:rPr lang="en-IN" sz="2000" dirty="0"/>
              <a:t>Concept Development </a:t>
            </a:r>
          </a:p>
          <a:p>
            <a:r>
              <a:rPr lang="en-IN" sz="2000" dirty="0"/>
              <a:t>Methods Overview</a:t>
            </a:r>
          </a:p>
          <a:p>
            <a:r>
              <a:rPr lang="en-IN" sz="2000" dirty="0"/>
              <a:t>Degenerate Deep Reinforcement Learning</a:t>
            </a:r>
          </a:p>
          <a:p>
            <a:r>
              <a:rPr lang="en-IN" sz="2000" dirty="0"/>
              <a:t>Cubic </a:t>
            </a:r>
            <a:r>
              <a:rPr lang="en-IN" sz="2000" dirty="0" err="1"/>
              <a:t>Bézier</a:t>
            </a:r>
            <a:r>
              <a:rPr lang="en-IN" sz="2000" dirty="0"/>
              <a:t> Curve</a:t>
            </a:r>
          </a:p>
          <a:p>
            <a:r>
              <a:rPr lang="en-IN" sz="2000" dirty="0"/>
              <a:t>DRL Methods – Method 4</a:t>
            </a:r>
          </a:p>
          <a:p>
            <a:r>
              <a:rPr lang="en-IN" sz="2000" dirty="0"/>
              <a:t>Test Case Results</a:t>
            </a:r>
          </a:p>
          <a:p>
            <a:r>
              <a:rPr lang="en-IN" sz="2000" dirty="0"/>
              <a:t>Reinforcement Learning &amp; Genetic Algorithm</a:t>
            </a:r>
          </a:p>
          <a:p>
            <a:r>
              <a:rPr lang="en-IN" sz="2000" dirty="0"/>
              <a:t>Conclusion &amp; Future Scope</a:t>
            </a:r>
          </a:p>
          <a:p>
            <a:endParaRPr lang="en-IN" sz="2000" dirty="0"/>
          </a:p>
          <a:p>
            <a:endParaRPr lang="en-IN" sz="1600" dirty="0"/>
          </a:p>
          <a:p>
            <a:endParaRPr lang="en-IN" sz="2000" dirty="0"/>
          </a:p>
          <a:p>
            <a:endParaRPr lang="en-IN" sz="2000" dirty="0"/>
          </a:p>
        </p:txBody>
      </p:sp>
      <p:sp>
        <p:nvSpPr>
          <p:cNvPr id="4" name="Date Placeholder 3">
            <a:extLst>
              <a:ext uri="{FF2B5EF4-FFF2-40B4-BE49-F238E27FC236}">
                <a16:creationId xmlns:a16="http://schemas.microsoft.com/office/drawing/2014/main" id="{49C46B68-FBC1-3C14-FDC2-E7E92DFEE53F}"/>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4547E138-D7CD-B810-EDE1-71FE8568A9F0}"/>
              </a:ext>
            </a:extLst>
          </p:cNvPr>
          <p:cNvSpPr>
            <a:spLocks noGrp="1"/>
          </p:cNvSpPr>
          <p:nvPr>
            <p:ph type="sldNum" sz="quarter" idx="12"/>
          </p:nvPr>
        </p:nvSpPr>
        <p:spPr/>
        <p:txBody>
          <a:bodyPr/>
          <a:lstStyle/>
          <a:p>
            <a:fld id="{EECF65F8-F24C-4BCD-B573-6D272FD28F94}" type="slidenum">
              <a:rPr lang="en-GB" smtClean="0"/>
              <a:t>2</a:t>
            </a:fld>
            <a:endParaRPr lang="en-GB" dirty="0"/>
          </a:p>
        </p:txBody>
      </p:sp>
    </p:spTree>
    <p:extLst>
      <p:ext uri="{BB962C8B-B14F-4D97-AF65-F5344CB8AC3E}">
        <p14:creationId xmlns:p14="http://schemas.microsoft.com/office/powerpoint/2010/main" val="2622340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3</a:t>
            </a:fld>
            <a:endParaRPr lang="en-GB" dirty="0"/>
          </a:p>
        </p:txBody>
      </p:sp>
      <p:sp>
        <p:nvSpPr>
          <p:cNvPr id="8" name="TextBox 7">
            <a:extLst>
              <a:ext uri="{FF2B5EF4-FFF2-40B4-BE49-F238E27FC236}">
                <a16:creationId xmlns:a16="http://schemas.microsoft.com/office/drawing/2014/main" id="{E4FE10BA-0A7D-D0C6-8BC4-EA5334614AA6}"/>
              </a:ext>
            </a:extLst>
          </p:cNvPr>
          <p:cNvSpPr txBox="1"/>
          <p:nvPr/>
        </p:nvSpPr>
        <p:spPr>
          <a:xfrm>
            <a:off x="3846878" y="3097554"/>
            <a:ext cx="5001288" cy="1200329"/>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a:t>
            </a:r>
            <a:r>
              <a:rPr lang="en-US" sz="1800" i="1" dirty="0">
                <a:latin typeface="Arial" panose="020B0604020202020204" pitchFamily="34" charset="0"/>
                <a:cs typeface="Arial" panose="020B0604020202020204" pitchFamily="34" charset="0"/>
              </a:rPr>
              <a:t>Tell me and I forget. Teach me and I remember. Involve me and I learn.</a:t>
            </a:r>
            <a:r>
              <a:rPr lang="en-US" sz="1800" dirty="0">
                <a:latin typeface="Arial" panose="020B0604020202020204" pitchFamily="34" charset="0"/>
                <a:cs typeface="Arial" panose="020B0604020202020204" pitchFamily="34" charset="0"/>
              </a:rPr>
              <a:t>“</a:t>
            </a:r>
          </a:p>
          <a:p>
            <a:endParaRPr lang="en-US" sz="180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 Benjamin Franklin</a:t>
            </a:r>
          </a:p>
        </p:txBody>
      </p:sp>
    </p:spTree>
    <p:extLst>
      <p:ext uri="{BB962C8B-B14F-4D97-AF65-F5344CB8AC3E}">
        <p14:creationId xmlns:p14="http://schemas.microsoft.com/office/powerpoint/2010/main" val="364304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D4FE7981-DCA5-8C6B-4485-E041266F0A2F}"/>
              </a:ext>
            </a:extLst>
          </p:cNvPr>
          <p:cNvPicPr>
            <a:picLocks noChangeAspect="1"/>
          </p:cNvPicPr>
          <p:nvPr/>
        </p:nvPicPr>
        <p:blipFill>
          <a:blip r:embed="rId3">
            <a:extLst>
              <a:ext uri="{28A0092B-C50C-407E-A947-70E740481C1C}">
                <a14:useLocalDpi xmlns:a14="http://schemas.microsoft.com/office/drawing/2010/main" val="0"/>
              </a:ext>
            </a:extLst>
          </a:blip>
          <a:srcRect t="1" r="-975" b="294"/>
          <a:stretch/>
        </p:blipFill>
        <p:spPr>
          <a:xfrm>
            <a:off x="6839419" y="4132729"/>
            <a:ext cx="4909235" cy="2483224"/>
          </a:xfrm>
          <a:prstGeom prst="rect">
            <a:avLst/>
          </a:prstGeom>
        </p:spPr>
      </p:pic>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de-DE" sz="2900" dirty="0"/>
              <a:t>Motivation</a:t>
            </a:r>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4</a:t>
            </a:fld>
            <a:endParaRPr lang="en-GB" dirty="0"/>
          </a:p>
        </p:txBody>
      </p:sp>
      <p:sp>
        <p:nvSpPr>
          <p:cNvPr id="9" name="Rechteck 4">
            <a:extLst>
              <a:ext uri="{FF2B5EF4-FFF2-40B4-BE49-F238E27FC236}">
                <a16:creationId xmlns:a16="http://schemas.microsoft.com/office/drawing/2014/main" id="{78A4A251-3272-9A96-8485-3D938B4F27AC}"/>
              </a:ext>
            </a:extLst>
          </p:cNvPr>
          <p:cNvSpPr/>
          <p:nvPr/>
        </p:nvSpPr>
        <p:spPr>
          <a:xfrm>
            <a:off x="443345" y="1135914"/>
            <a:ext cx="10896712" cy="692497"/>
          </a:xfrm>
          <a:prstGeom prst="rect">
            <a:avLst/>
          </a:prstGeom>
        </p:spPr>
        <p:txBody>
          <a:bodyPr wrap="square">
            <a:spAutoFit/>
          </a:bodyPr>
          <a:lstStyle/>
          <a:p>
            <a:pPr marL="269875" indent="-269875" defTabSz="363538">
              <a:spcAft>
                <a:spcPts val="600"/>
              </a:spcAft>
              <a:buClr>
                <a:schemeClr val="accent6">
                  <a:lumMod val="75000"/>
                </a:schemeClr>
              </a:buClr>
              <a:buFont typeface="Wingdings 3" panose="05040102010807070707" pitchFamily="18" charset="2"/>
              <a:buChar char="w"/>
            </a:pPr>
            <a:r>
              <a:rPr lang="en-US" sz="2000" b="1" dirty="0">
                <a:latin typeface="Arial" panose="020B0604020202020204" pitchFamily="34" charset="0"/>
                <a:cs typeface="Arial" panose="020B0604020202020204" pitchFamily="34" charset="0"/>
              </a:rPr>
              <a:t>Task</a:t>
            </a:r>
            <a:r>
              <a:rPr lang="en-US" sz="2000" b="1" dirty="0">
                <a:solidFill>
                  <a:srgbClr val="FF0000"/>
                </a:solidFill>
                <a:latin typeface="Arial" panose="020B0604020202020204" pitchFamily="34" charset="0"/>
                <a:cs typeface="Arial" panose="020B0604020202020204" pitchFamily="34" charset="0"/>
              </a:rPr>
              <a:t> </a:t>
            </a:r>
          </a:p>
          <a:p>
            <a:pPr marL="533400" indent="-260350" defTabSz="363538">
              <a:buClr>
                <a:schemeClr val="tx2"/>
              </a:buClr>
              <a:buFont typeface="Wingdings" panose="05000000000000000000" pitchFamily="2" charset="2"/>
              <a:buChar char="ð"/>
            </a:pPr>
            <a:r>
              <a:rPr lang="de-DE" sz="1400" dirty="0">
                <a:latin typeface="Arial" panose="020B0604020202020204" pitchFamily="34" charset="0"/>
                <a:cs typeface="Arial" panose="020B0604020202020204" pitchFamily="34" charset="0"/>
              </a:rPr>
              <a:t>Reinforcement Learning </a:t>
            </a:r>
            <a:r>
              <a:rPr lang="en-US" sz="1400" dirty="0">
                <a:latin typeface="Arial" panose="020B0604020202020204" pitchFamily="34" charset="0"/>
                <a:cs typeface="Arial" panose="020B0604020202020204" pitchFamily="34" charset="0"/>
              </a:rPr>
              <a:t>Based Calculation of Characteristic Impedance for a Single Microstrip.</a:t>
            </a:r>
            <a:endParaRPr lang="en-GB" sz="1400" dirty="0">
              <a:solidFill>
                <a:srgbClr val="FF0000"/>
              </a:solidFill>
              <a:latin typeface="Arial" panose="020B0604020202020204" pitchFamily="34" charset="0"/>
              <a:cs typeface="Arial" panose="020B0604020202020204" pitchFamily="34" charset="0"/>
            </a:endParaRPr>
          </a:p>
        </p:txBody>
      </p:sp>
      <p:sp>
        <p:nvSpPr>
          <p:cNvPr id="10" name="Rechteck 3">
            <a:extLst>
              <a:ext uri="{FF2B5EF4-FFF2-40B4-BE49-F238E27FC236}">
                <a16:creationId xmlns:a16="http://schemas.microsoft.com/office/drawing/2014/main" id="{70CD4551-B70C-19E1-D0CF-A062FBDD6C32}"/>
              </a:ext>
            </a:extLst>
          </p:cNvPr>
          <p:cNvSpPr/>
          <p:nvPr/>
        </p:nvSpPr>
        <p:spPr>
          <a:xfrm>
            <a:off x="568264" y="4413891"/>
            <a:ext cx="2299412" cy="338554"/>
          </a:xfrm>
          <a:prstGeom prst="rect">
            <a:avLst/>
          </a:prstGeom>
        </p:spPr>
        <p:txBody>
          <a:bodyPr wrap="none">
            <a:spAutoFit/>
          </a:bodyPr>
          <a:lstStyle/>
          <a:p>
            <a:pPr marL="285750" indent="-285750">
              <a:buClr>
                <a:schemeClr val="accent6">
                  <a:lumMod val="75000"/>
                </a:schemeClr>
              </a:buClr>
              <a:buFont typeface="Wingdings 3" panose="05040102010807070707" pitchFamily="18" charset="2"/>
              <a:buChar char="w"/>
            </a:pPr>
            <a:r>
              <a:rPr lang="de-DE" sz="1600" b="1" dirty="0">
                <a:latin typeface="Arial" panose="020B0604020202020204" pitchFamily="34" charset="0"/>
                <a:cs typeface="Arial" panose="020B0604020202020204" pitchFamily="34" charset="0"/>
              </a:rPr>
              <a:t>Solution Approach</a:t>
            </a:r>
          </a:p>
        </p:txBody>
      </p:sp>
      <p:pic>
        <p:nvPicPr>
          <p:cNvPr id="12" name="Grafik 6">
            <a:extLst>
              <a:ext uri="{FF2B5EF4-FFF2-40B4-BE49-F238E27FC236}">
                <a16:creationId xmlns:a16="http://schemas.microsoft.com/office/drawing/2014/main" id="{98E69CB1-D00B-4065-5DDD-85DA60D22FF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5513" y="1935639"/>
            <a:ext cx="4125555" cy="2018034"/>
          </a:xfrm>
          <a:prstGeom prst="rect">
            <a:avLst/>
          </a:prstGeom>
          <a:noFill/>
          <a:ln>
            <a:noFill/>
          </a:ln>
        </p:spPr>
      </p:pic>
      <mc:AlternateContent xmlns:mc="http://schemas.openxmlformats.org/markup-compatibility/2006" xmlns:a14="http://schemas.microsoft.com/office/drawing/2010/main">
        <mc:Choice Requires="a14">
          <p:sp>
            <p:nvSpPr>
              <p:cNvPr id="16" name="Textfeld 10">
                <a:extLst>
                  <a:ext uri="{FF2B5EF4-FFF2-40B4-BE49-F238E27FC236}">
                    <a16:creationId xmlns:a16="http://schemas.microsoft.com/office/drawing/2014/main" id="{B272A6A5-E37F-358C-CA84-24CF634DD694}"/>
                  </a:ext>
                </a:extLst>
              </p:cNvPr>
              <p:cNvSpPr txBox="1"/>
              <p:nvPr/>
            </p:nvSpPr>
            <p:spPr>
              <a:xfrm>
                <a:off x="1067205" y="5434325"/>
                <a:ext cx="2119339" cy="954107"/>
              </a:xfrm>
              <a:prstGeom prst="rect">
                <a:avLst/>
              </a:prstGeom>
              <a:noFill/>
            </p:spPr>
            <p:txBody>
              <a:bodyPr wrap="square" rtlCol="0">
                <a:spAutoFit/>
              </a:bodyPr>
              <a:lstStyle/>
              <a:p>
                <a:r>
                  <a:rPr lang="de-DE" sz="3600" dirty="0">
                    <a:solidFill>
                      <a:schemeClr val="tx1"/>
                    </a:solidFill>
                    <a:latin typeface="Arial" panose="020B0604020202020204" pitchFamily="34" charset="0"/>
                    <a:cs typeface="Arial" panose="020B0604020202020204" pitchFamily="34" charset="0"/>
                    <a:sym typeface="Wingdings 3"/>
                  </a:rPr>
                  <a:t>V </a:t>
                </a:r>
                <a14:m>
                  <m:oMath xmlns:m="http://schemas.openxmlformats.org/officeDocument/2006/math">
                    <m:r>
                      <a:rPr lang="de-DE" sz="3600" b="0" i="1" smtClean="0">
                        <a:solidFill>
                          <a:schemeClr val="tx1"/>
                        </a:solidFill>
                        <a:latin typeface="Cambria Math"/>
                      </a:rPr>
                      <m:t>=0</m:t>
                    </m:r>
                  </m:oMath>
                </a14:m>
                <a:endParaRPr lang="de-DE" sz="3600" dirty="0">
                  <a:solidFill>
                    <a:schemeClr val="tx1"/>
                  </a:solidFill>
                  <a:latin typeface="Arial" panose="020B0604020202020204" pitchFamily="34" charset="0"/>
                  <a:cs typeface="Arial" panose="020B0604020202020204" pitchFamily="34" charset="0"/>
                </a:endParaRPr>
              </a:p>
              <a:p>
                <a:r>
                  <a:rPr lang="de-DE" dirty="0">
                    <a:solidFill>
                      <a:schemeClr val="tx1"/>
                    </a:solidFill>
                    <a:latin typeface="Arial" panose="020B0604020202020204" pitchFamily="34" charset="0"/>
                    <a:cs typeface="Arial" panose="020B0604020202020204" pitchFamily="34" charset="0"/>
                  </a:rPr>
                  <a:t>(Q-TEM)</a:t>
                </a:r>
              </a:p>
            </p:txBody>
          </p:sp>
        </mc:Choice>
        <mc:Fallback xmlns="">
          <p:sp>
            <p:nvSpPr>
              <p:cNvPr id="16" name="Textfeld 10">
                <a:extLst>
                  <a:ext uri="{FF2B5EF4-FFF2-40B4-BE49-F238E27FC236}">
                    <a16:creationId xmlns:a16="http://schemas.microsoft.com/office/drawing/2014/main" id="{B272A6A5-E37F-358C-CA84-24CF634DD694}"/>
                  </a:ext>
                </a:extLst>
              </p:cNvPr>
              <p:cNvSpPr txBox="1">
                <a:spLocks noRot="1" noChangeAspect="1" noMove="1" noResize="1" noEditPoints="1" noAdjustHandles="1" noChangeArrowheads="1" noChangeShapeType="1" noTextEdit="1"/>
              </p:cNvSpPr>
              <p:nvPr/>
            </p:nvSpPr>
            <p:spPr>
              <a:xfrm>
                <a:off x="1067205" y="5434325"/>
                <a:ext cx="2119339" cy="954107"/>
              </a:xfrm>
              <a:prstGeom prst="rect">
                <a:avLst/>
              </a:prstGeom>
              <a:blipFill>
                <a:blip r:embed="rId5"/>
                <a:stretch>
                  <a:fillRect l="-8621" t="-9554" b="-5732"/>
                </a:stretch>
              </a:blipFill>
            </p:spPr>
            <p:txBody>
              <a:bodyPr/>
              <a:lstStyle/>
              <a:p>
                <a:r>
                  <a:rPr lang="en-IN">
                    <a:noFill/>
                  </a:rPr>
                  <a:t> </a:t>
                </a:r>
              </a:p>
            </p:txBody>
          </p:sp>
        </mc:Fallback>
      </mc:AlternateContent>
      <p:sp>
        <p:nvSpPr>
          <p:cNvPr id="20" name="Textfeld 14">
            <a:extLst>
              <a:ext uri="{FF2B5EF4-FFF2-40B4-BE49-F238E27FC236}">
                <a16:creationId xmlns:a16="http://schemas.microsoft.com/office/drawing/2014/main" id="{C360B354-A74D-5068-53B1-CA6C8B5958D8}"/>
              </a:ext>
            </a:extLst>
          </p:cNvPr>
          <p:cNvSpPr txBox="1"/>
          <p:nvPr/>
        </p:nvSpPr>
        <p:spPr>
          <a:xfrm>
            <a:off x="576973" y="4760111"/>
            <a:ext cx="4125554" cy="584775"/>
          </a:xfrm>
          <a:prstGeom prst="rect">
            <a:avLst/>
          </a:prstGeom>
          <a:noFill/>
        </p:spPr>
        <p:txBody>
          <a:bodyPr wrap="square" rtlCol="0">
            <a:spAutoFit/>
          </a:bodyPr>
          <a:lstStyle/>
          <a:p>
            <a:pPr marL="285750" indent="-285750">
              <a:buClr>
                <a:schemeClr val="accent6">
                  <a:lumMod val="75000"/>
                </a:schemeClr>
              </a:buClr>
              <a:buFont typeface="Wingdings 3" panose="05040102010807070707" pitchFamily="18" charset="2"/>
              <a:buChar char="w"/>
            </a:pPr>
            <a:r>
              <a:rPr lang="en-GB" sz="1600" dirty="0">
                <a:latin typeface="Arial" panose="020B0604020202020204" pitchFamily="34" charset="0"/>
                <a:cs typeface="Arial" panose="020B0604020202020204" pitchFamily="34" charset="0"/>
              </a:rPr>
              <a:t>Physical/Mathematical Formulation </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(physical knowledge)</a:t>
            </a:r>
          </a:p>
        </p:txBody>
      </p:sp>
      <p:sp>
        <p:nvSpPr>
          <p:cNvPr id="23" name="TextBox 22">
            <a:extLst>
              <a:ext uri="{FF2B5EF4-FFF2-40B4-BE49-F238E27FC236}">
                <a16:creationId xmlns:a16="http://schemas.microsoft.com/office/drawing/2014/main" id="{683EA6E5-D0A2-C0F8-D7D3-4D9B90E8C334}"/>
              </a:ext>
            </a:extLst>
          </p:cNvPr>
          <p:cNvSpPr txBox="1"/>
          <p:nvPr/>
        </p:nvSpPr>
        <p:spPr>
          <a:xfrm>
            <a:off x="7520150" y="6534015"/>
            <a:ext cx="411678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Microstrip Arrangement Boundary Conditions</a:t>
            </a:r>
          </a:p>
        </p:txBody>
      </p:sp>
      <p:cxnSp>
        <p:nvCxnSpPr>
          <p:cNvPr id="25" name="Connector: Elbow 24">
            <a:extLst>
              <a:ext uri="{FF2B5EF4-FFF2-40B4-BE49-F238E27FC236}">
                <a16:creationId xmlns:a16="http://schemas.microsoft.com/office/drawing/2014/main" id="{99BA2C69-6C53-AE69-7E37-B2AC8A40E338}"/>
              </a:ext>
            </a:extLst>
          </p:cNvPr>
          <p:cNvCxnSpPr>
            <a:cxnSpLocks/>
          </p:cNvCxnSpPr>
          <p:nvPr/>
        </p:nvCxnSpPr>
        <p:spPr>
          <a:xfrm>
            <a:off x="4532779" y="3592893"/>
            <a:ext cx="2196517" cy="1641995"/>
          </a:xfrm>
          <a:prstGeom prst="bentConnector3">
            <a:avLst/>
          </a:prstGeom>
          <a:ln w="76200">
            <a:tailEnd type="triangle"/>
          </a:ln>
        </p:spPr>
        <p:style>
          <a:lnRef idx="3">
            <a:schemeClr val="accent1"/>
          </a:lnRef>
          <a:fillRef idx="0">
            <a:schemeClr val="accent1"/>
          </a:fillRef>
          <a:effectRef idx="2">
            <a:schemeClr val="accent1"/>
          </a:effectRef>
          <a:fontRef idx="minor">
            <a:schemeClr val="tx1"/>
          </a:fontRef>
        </p:style>
      </p:cxnSp>
      <p:sp>
        <p:nvSpPr>
          <p:cNvPr id="27" name="Arrow: Right 26">
            <a:extLst>
              <a:ext uri="{FF2B5EF4-FFF2-40B4-BE49-F238E27FC236}">
                <a16:creationId xmlns:a16="http://schemas.microsoft.com/office/drawing/2014/main" id="{62B6095B-A141-84DC-F9C2-90CC8013D874}"/>
              </a:ext>
            </a:extLst>
          </p:cNvPr>
          <p:cNvSpPr/>
          <p:nvPr/>
        </p:nvSpPr>
        <p:spPr>
          <a:xfrm>
            <a:off x="5155252" y="2875250"/>
            <a:ext cx="1560023" cy="207402"/>
          </a:xfrm>
          <a:prstGeom prst="rightArrow">
            <a:avLst/>
          </a:prstGeom>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xtBox 27">
            <a:extLst>
              <a:ext uri="{FF2B5EF4-FFF2-40B4-BE49-F238E27FC236}">
                <a16:creationId xmlns:a16="http://schemas.microsoft.com/office/drawing/2014/main" id="{66CF3FB2-B53B-B09B-519F-625F16050307}"/>
              </a:ext>
            </a:extLst>
          </p:cNvPr>
          <p:cNvSpPr txBox="1"/>
          <p:nvPr/>
        </p:nvSpPr>
        <p:spPr>
          <a:xfrm>
            <a:off x="4955596" y="2189898"/>
            <a:ext cx="2280807" cy="646331"/>
          </a:xfrm>
          <a:prstGeom prst="rect">
            <a:avLst/>
          </a:prstGeom>
          <a:noFill/>
        </p:spPr>
        <p:txBody>
          <a:bodyPr wrap="square" rtlCol="0">
            <a:spAutoFit/>
          </a:bodyPr>
          <a:lstStyle/>
          <a:p>
            <a:r>
              <a:rPr lang="en-US" dirty="0"/>
              <a:t>To determine </a:t>
            </a:r>
          </a:p>
          <a:p>
            <a:r>
              <a:rPr lang="en-US" dirty="0"/>
              <a:t>Potential Distribution</a:t>
            </a:r>
            <a:endParaRPr lang="en-IN" dirty="0"/>
          </a:p>
        </p:txBody>
      </p:sp>
      <p:pic>
        <p:nvPicPr>
          <p:cNvPr id="11" name="Picture 10">
            <a:extLst>
              <a:ext uri="{FF2B5EF4-FFF2-40B4-BE49-F238E27FC236}">
                <a16:creationId xmlns:a16="http://schemas.microsoft.com/office/drawing/2014/main" id="{83548C7D-3581-69D7-CA31-1EACADB7B1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3072" y="1921867"/>
            <a:ext cx="4279741" cy="2210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TextBox 28">
            <a:extLst>
              <a:ext uri="{FF2B5EF4-FFF2-40B4-BE49-F238E27FC236}">
                <a16:creationId xmlns:a16="http://schemas.microsoft.com/office/drawing/2014/main" id="{788D62E7-E7B4-C9C6-5F97-3CA67C23E7F0}"/>
              </a:ext>
            </a:extLst>
          </p:cNvPr>
          <p:cNvSpPr txBox="1"/>
          <p:nvPr/>
        </p:nvSpPr>
        <p:spPr>
          <a:xfrm>
            <a:off x="1388659" y="3877337"/>
            <a:ext cx="2062754"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Microstrip Arrangement</a:t>
            </a:r>
          </a:p>
        </p:txBody>
      </p:sp>
      <p:sp>
        <p:nvSpPr>
          <p:cNvPr id="30" name="Arrow: Right 29">
            <a:extLst>
              <a:ext uri="{FF2B5EF4-FFF2-40B4-BE49-F238E27FC236}">
                <a16:creationId xmlns:a16="http://schemas.microsoft.com/office/drawing/2014/main" id="{C40C7645-9DA1-C725-9A60-B044387D50D7}"/>
              </a:ext>
            </a:extLst>
          </p:cNvPr>
          <p:cNvSpPr/>
          <p:nvPr/>
        </p:nvSpPr>
        <p:spPr>
          <a:xfrm rot="10800000">
            <a:off x="3523128" y="5784150"/>
            <a:ext cx="3609943" cy="207402"/>
          </a:xfrm>
          <a:prstGeom prst="rightArrow">
            <a:avLst/>
          </a:prstGeom>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278598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F13599-79DB-383D-38EC-7B53B37C78FD}"/>
              </a:ext>
            </a:extLst>
          </p:cNvPr>
          <p:cNvSpPr/>
          <p:nvPr/>
        </p:nvSpPr>
        <p:spPr>
          <a:xfrm>
            <a:off x="554820" y="6267192"/>
            <a:ext cx="5255239" cy="16050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de-DE" sz="2900" dirty="0"/>
              <a:t>Motivation</a:t>
            </a:r>
          </a:p>
        </p:txBody>
      </p:sp>
      <p:sp>
        <p:nvSpPr>
          <p:cNvPr id="3" name="Inhaltsplatzhalter 2">
            <a:extLst>
              <a:ext uri="{FF2B5EF4-FFF2-40B4-BE49-F238E27FC236}">
                <a16:creationId xmlns:a16="http://schemas.microsoft.com/office/drawing/2014/main" id="{62FFA286-0010-4F14-83FE-E579336F66F6}"/>
              </a:ext>
            </a:extLst>
          </p:cNvPr>
          <p:cNvSpPr>
            <a:spLocks noGrp="1"/>
          </p:cNvSpPr>
          <p:nvPr>
            <p:ph idx="1"/>
          </p:nvPr>
        </p:nvSpPr>
        <p:spPr>
          <a:xfrm>
            <a:off x="619086" y="3999636"/>
            <a:ext cx="11379249" cy="1612270"/>
          </a:xfrm>
        </p:spPr>
        <p:txBody>
          <a:bodyPr>
            <a:normAutofit/>
          </a:bodyPr>
          <a:lstStyle/>
          <a:p>
            <a:pPr marL="0" indent="0">
              <a:buNone/>
            </a:pPr>
            <a:endParaRPr lang="en-IN" sz="2000" dirty="0"/>
          </a:p>
          <a:p>
            <a:r>
              <a:rPr lang="en-IN" sz="2000" dirty="0"/>
              <a:t>The potential distribution follows Thomson’s minimum energy theorem, which states that</a:t>
            </a:r>
          </a:p>
          <a:p>
            <a:pPr marL="457200" lvl="1" indent="0">
              <a:buNone/>
            </a:pPr>
            <a:r>
              <a:rPr lang="en-US" sz="1800" i="1" dirty="0"/>
              <a:t>“</a:t>
            </a:r>
            <a:r>
              <a:rPr lang="en-US" sz="1800" b="1" i="1" dirty="0"/>
              <a:t>Charges placed on a system of fixed conductors embedded in a dielectric will distribute themselves on the surfaces of these conductors such that the energy of the resultant electrostatic field is a minimum</a:t>
            </a:r>
            <a:r>
              <a:rPr lang="en-US" sz="1800" i="1" dirty="0"/>
              <a:t>“</a:t>
            </a:r>
          </a:p>
          <a:p>
            <a:endParaRPr lang="de-DE" sz="2000" dirty="0"/>
          </a:p>
          <a:p>
            <a:pPr marL="0" indent="0">
              <a:buNone/>
            </a:pPr>
            <a:endParaRPr lang="de-DE" sz="1200" dirty="0">
              <a:solidFill>
                <a:srgbClr val="FF0000"/>
              </a:solidFill>
            </a:endParaRPr>
          </a:p>
          <a:p>
            <a:endParaRPr lang="de-DE" sz="2000" dirty="0"/>
          </a:p>
          <a:p>
            <a:endParaRPr lang="de-DE" dirty="0"/>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5</a:t>
            </a:fld>
            <a:endParaRPr lang="en-GB" dirty="0"/>
          </a:p>
        </p:txBody>
      </p:sp>
      <p:sp>
        <p:nvSpPr>
          <p:cNvPr id="8" name="Rectangle: Rounded Corners 7">
            <a:extLst>
              <a:ext uri="{FF2B5EF4-FFF2-40B4-BE49-F238E27FC236}">
                <a16:creationId xmlns:a16="http://schemas.microsoft.com/office/drawing/2014/main" id="{1D7BED82-DF72-3BBC-DBE6-5F1E6B55C8CA}"/>
              </a:ext>
            </a:extLst>
          </p:cNvPr>
          <p:cNvSpPr/>
          <p:nvPr/>
        </p:nvSpPr>
        <p:spPr>
          <a:xfrm>
            <a:off x="421349" y="2133601"/>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PCB design</a:t>
            </a:r>
          </a:p>
          <a:p>
            <a:pPr algn="ctr"/>
            <a:endParaRPr lang="en-IN" dirty="0"/>
          </a:p>
        </p:txBody>
      </p:sp>
      <p:sp>
        <p:nvSpPr>
          <p:cNvPr id="9" name="Arrow: Right 8">
            <a:extLst>
              <a:ext uri="{FF2B5EF4-FFF2-40B4-BE49-F238E27FC236}">
                <a16:creationId xmlns:a16="http://schemas.microsoft.com/office/drawing/2014/main" id="{B41C7196-35FF-4785-2A40-9C7415969BEF}"/>
              </a:ext>
            </a:extLst>
          </p:cNvPr>
          <p:cNvSpPr/>
          <p:nvPr/>
        </p:nvSpPr>
        <p:spPr>
          <a:xfrm>
            <a:off x="2039070" y="2608013"/>
            <a:ext cx="242047" cy="286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12C1398D-3B37-1121-70A8-42299688237C}"/>
                  </a:ext>
                </a:extLst>
              </p:cNvPr>
              <p:cNvSpPr/>
              <p:nvPr/>
            </p:nvSpPr>
            <p:spPr>
              <a:xfrm>
                <a:off x="2383803" y="2133600"/>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14:m>
                  <m:oMath xmlns:m="http://schemas.openxmlformats.org/officeDocument/2006/math">
                    <m:sSub>
                      <m:sSubPr>
                        <m:ctrlPr>
                          <a:rPr lang="en-US" sz="1700" b="1" i="1" smtClean="0">
                            <a:latin typeface="Cambria Math" panose="02040503050406030204" pitchFamily="18" charset="0"/>
                          </a:rPr>
                        </m:ctrlPr>
                      </m:sSubPr>
                      <m:e>
                        <m:r>
                          <a:rPr lang="en-IN" sz="1700" b="1" i="1">
                            <a:latin typeface="Cambria Math" panose="02040503050406030204" pitchFamily="18" charset="0"/>
                          </a:rPr>
                          <m:t>𝒁</m:t>
                        </m:r>
                      </m:e>
                      <m:sub>
                        <m:r>
                          <a:rPr lang="en-IN" sz="1700" b="1" i="1">
                            <a:latin typeface="Cambria Math" panose="02040503050406030204" pitchFamily="18" charset="0"/>
                          </a:rPr>
                          <m:t>𝑫</m:t>
                        </m:r>
                      </m:sub>
                    </m:sSub>
                  </m:oMath>
                </a14:m>
                <a:r>
                  <a:rPr lang="en-IN" dirty="0"/>
                  <a:t> &amp; </a:t>
                </a:r>
                <a14:m>
                  <m:oMath xmlns:m="http://schemas.openxmlformats.org/officeDocument/2006/math">
                    <m:sSub>
                      <m:sSubPr>
                        <m:ctrlPr>
                          <a:rPr lang="en-US" sz="1700" b="1" i="1">
                            <a:latin typeface="Cambria Math" panose="02040503050406030204" pitchFamily="18" charset="0"/>
                          </a:rPr>
                        </m:ctrlPr>
                      </m:sSubPr>
                      <m:e>
                        <m:r>
                          <m:rPr>
                            <m:nor/>
                          </m:rPr>
                          <a:rPr lang="en-US" sz="1700" b="1" dirty="0"/>
                          <m:t>ϵ</m:t>
                        </m:r>
                      </m:e>
                      <m:sub>
                        <m:r>
                          <m:rPr>
                            <m:nor/>
                          </m:rPr>
                          <a:rPr lang="en-US" sz="1700" b="1" dirty="0"/>
                          <m:t>eff</m:t>
                        </m:r>
                      </m:sub>
                    </m:sSub>
                  </m:oMath>
                </a14:m>
                <a:endParaRPr lang="en-IN" dirty="0"/>
              </a:p>
              <a:p>
                <a:pPr lvl="0" algn="ctr"/>
                <a:r>
                  <a:rPr lang="en-IN" sz="1100" dirty="0"/>
                  <a:t>Characteristic impedance &amp; effective dielectric constant</a:t>
                </a:r>
              </a:p>
            </p:txBody>
          </p:sp>
        </mc:Choice>
        <mc:Fallback xmlns="">
          <p:sp>
            <p:nvSpPr>
              <p:cNvPr id="10" name="Rectangle: Rounded Corners 9">
                <a:extLst>
                  <a:ext uri="{FF2B5EF4-FFF2-40B4-BE49-F238E27FC236}">
                    <a16:creationId xmlns:a16="http://schemas.microsoft.com/office/drawing/2014/main" id="{12C1398D-3B37-1121-70A8-42299688237C}"/>
                  </a:ext>
                </a:extLst>
              </p:cNvPr>
              <p:cNvSpPr>
                <a:spLocks noRot="1" noChangeAspect="1" noMove="1" noResize="1" noEditPoints="1" noAdjustHandles="1" noChangeArrowheads="1" noChangeShapeType="1" noTextEdit="1"/>
              </p:cNvSpPr>
              <p:nvPr/>
            </p:nvSpPr>
            <p:spPr>
              <a:xfrm>
                <a:off x="2383803" y="2133600"/>
                <a:ext cx="1515035" cy="1155732"/>
              </a:xfrm>
              <a:prstGeom prst="roundRect">
                <a:avLst/>
              </a:prstGeom>
              <a:blipFill>
                <a:blip r:embed="rId3"/>
                <a:stretch>
                  <a:fillRect/>
                </a:stretch>
              </a:blipFill>
            </p:spPr>
            <p:txBody>
              <a:bodyPr/>
              <a:lstStyle/>
              <a:p>
                <a:r>
                  <a:rPr lang="en-IN">
                    <a:noFill/>
                  </a:rPr>
                  <a:t> </a:t>
                </a:r>
              </a:p>
            </p:txBody>
          </p:sp>
        </mc:Fallback>
      </mc:AlternateContent>
      <p:sp>
        <p:nvSpPr>
          <p:cNvPr id="11" name="Arrow: Right 10">
            <a:extLst>
              <a:ext uri="{FF2B5EF4-FFF2-40B4-BE49-F238E27FC236}">
                <a16:creationId xmlns:a16="http://schemas.microsoft.com/office/drawing/2014/main" id="{E9F8A497-9575-F420-BC9E-9AFB9F7AD855}"/>
              </a:ext>
            </a:extLst>
          </p:cNvPr>
          <p:cNvSpPr/>
          <p:nvPr/>
        </p:nvSpPr>
        <p:spPr>
          <a:xfrm>
            <a:off x="4001524" y="2608013"/>
            <a:ext cx="242047" cy="286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622C7912-DE00-0772-D977-681F424A2784}"/>
              </a:ext>
            </a:extLst>
          </p:cNvPr>
          <p:cNvSpPr/>
          <p:nvPr/>
        </p:nvSpPr>
        <p:spPr>
          <a:xfrm>
            <a:off x="4346257" y="2133601"/>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700" b="0" i="0" u="none" strike="noStrike" kern="0" cap="none" spc="0" normalizeH="0" baseline="0" noProof="0" dirty="0">
                <a:ln>
                  <a:noFill/>
                </a:ln>
                <a:solidFill>
                  <a:schemeClr val="bg1"/>
                </a:solidFill>
                <a:effectLst/>
                <a:uLnTx/>
                <a:uFillTx/>
              </a:rPr>
              <a:t>Potential Distribution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chemeClr val="bg1"/>
                </a:solidFill>
                <a:effectLst/>
                <a:uLnTx/>
                <a:uFillTx/>
              </a:rPr>
              <a:t>In the region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chemeClr val="bg1"/>
                </a:solidFill>
                <a:effectLst/>
                <a:uLnTx/>
                <a:uFillTx/>
              </a:rPr>
              <a:t>0 &lt; |x| &lt; a</a:t>
            </a:r>
          </a:p>
        </p:txBody>
      </p:sp>
      <p:sp>
        <p:nvSpPr>
          <p:cNvPr id="15" name="Arrow: Right 14">
            <a:extLst>
              <a:ext uri="{FF2B5EF4-FFF2-40B4-BE49-F238E27FC236}">
                <a16:creationId xmlns:a16="http://schemas.microsoft.com/office/drawing/2014/main" id="{F5671D24-FA4D-038E-EBF8-AE37390128A2}"/>
              </a:ext>
            </a:extLst>
          </p:cNvPr>
          <p:cNvSpPr/>
          <p:nvPr/>
        </p:nvSpPr>
        <p:spPr>
          <a:xfrm>
            <a:off x="5963978" y="2608013"/>
            <a:ext cx="242047" cy="286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AD88BFA0-4F30-C4CF-54CF-787B48746F04}"/>
              </a:ext>
            </a:extLst>
          </p:cNvPr>
          <p:cNvSpPr/>
          <p:nvPr/>
        </p:nvSpPr>
        <p:spPr>
          <a:xfrm>
            <a:off x="6308711" y="2133601"/>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IN" dirty="0"/>
              <a:t>Thomson’s theorem</a:t>
            </a:r>
          </a:p>
        </p:txBody>
      </p:sp>
      <p:sp>
        <p:nvSpPr>
          <p:cNvPr id="17" name="Arrow: Right 16">
            <a:extLst>
              <a:ext uri="{FF2B5EF4-FFF2-40B4-BE49-F238E27FC236}">
                <a16:creationId xmlns:a16="http://schemas.microsoft.com/office/drawing/2014/main" id="{6E66F0BE-C1F9-1112-A8AB-5C957633D867}"/>
              </a:ext>
            </a:extLst>
          </p:cNvPr>
          <p:cNvSpPr/>
          <p:nvPr/>
        </p:nvSpPr>
        <p:spPr>
          <a:xfrm>
            <a:off x="7926432" y="2608013"/>
            <a:ext cx="242047" cy="286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F8ABE2EB-9CD8-531E-8CA2-90698673F37F}"/>
              </a:ext>
            </a:extLst>
          </p:cNvPr>
          <p:cNvSpPr/>
          <p:nvPr/>
        </p:nvSpPr>
        <p:spPr>
          <a:xfrm>
            <a:off x="8271165" y="2133601"/>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IN" dirty="0"/>
              <a:t>Shape optimisation</a:t>
            </a:r>
          </a:p>
        </p:txBody>
      </p:sp>
      <p:sp>
        <p:nvSpPr>
          <p:cNvPr id="19" name="Arrow: Right 18">
            <a:extLst>
              <a:ext uri="{FF2B5EF4-FFF2-40B4-BE49-F238E27FC236}">
                <a16:creationId xmlns:a16="http://schemas.microsoft.com/office/drawing/2014/main" id="{704E1838-A486-D080-EDC8-7D4602852760}"/>
              </a:ext>
            </a:extLst>
          </p:cNvPr>
          <p:cNvSpPr/>
          <p:nvPr/>
        </p:nvSpPr>
        <p:spPr>
          <a:xfrm>
            <a:off x="9888886" y="2608013"/>
            <a:ext cx="242047" cy="286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0BB05D95-0FD4-6A7D-DBAB-5FEFD92534CD}"/>
              </a:ext>
            </a:extLst>
          </p:cNvPr>
          <p:cNvSpPr/>
          <p:nvPr/>
        </p:nvSpPr>
        <p:spPr>
          <a:xfrm>
            <a:off x="10233619" y="2133601"/>
            <a:ext cx="1515035" cy="115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IN" dirty="0"/>
              <a:t>ML approach</a:t>
            </a:r>
          </a:p>
        </p:txBody>
      </p:sp>
      <p:sp>
        <p:nvSpPr>
          <p:cNvPr id="24" name="TextBox 23">
            <a:extLst>
              <a:ext uri="{FF2B5EF4-FFF2-40B4-BE49-F238E27FC236}">
                <a16:creationId xmlns:a16="http://schemas.microsoft.com/office/drawing/2014/main" id="{8373CA5C-7596-0FDA-C335-E2E2A389B198}"/>
              </a:ext>
            </a:extLst>
          </p:cNvPr>
          <p:cNvSpPr txBox="1"/>
          <p:nvPr/>
        </p:nvSpPr>
        <p:spPr>
          <a:xfrm>
            <a:off x="554819" y="6248293"/>
            <a:ext cx="5255239" cy="2308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Thomson’s theorem: Julius Adams Stratton: Electromagnetic Theory; </a:t>
            </a:r>
            <a:r>
              <a:rPr lang="en-US" sz="900" dirty="0" err="1">
                <a:latin typeface="Arial" panose="020B0604020202020204" pitchFamily="34" charset="0"/>
                <a:cs typeface="Arial" panose="020B0604020202020204" pitchFamily="34" charset="0"/>
              </a:rPr>
              <a:t>Mcgraw-Hill</a:t>
            </a:r>
            <a:r>
              <a:rPr lang="en-US" sz="900" dirty="0">
                <a:latin typeface="Arial" panose="020B0604020202020204" pitchFamily="34" charset="0"/>
                <a:cs typeface="Arial" panose="020B0604020202020204" pitchFamily="34" charset="0"/>
              </a:rPr>
              <a:t> (1941); Page 114</a:t>
            </a:r>
            <a:endParaRPr lang="de-DE"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6503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de-DE" sz="2900" dirty="0"/>
              <a:t>Motivation – Deep Reinforcement Learning</a:t>
            </a:r>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6</a:t>
            </a:fld>
            <a:endParaRPr lang="en-GB" dirty="0"/>
          </a:p>
        </p:txBody>
      </p:sp>
      <p:sp>
        <p:nvSpPr>
          <p:cNvPr id="7" name="Inhaltsplatzhalter 2">
            <a:extLst>
              <a:ext uri="{FF2B5EF4-FFF2-40B4-BE49-F238E27FC236}">
                <a16:creationId xmlns:a16="http://schemas.microsoft.com/office/drawing/2014/main" id="{62FFA286-0010-4F14-83FE-E579336F66F6}"/>
              </a:ext>
            </a:extLst>
          </p:cNvPr>
          <p:cNvSpPr>
            <a:spLocks noGrp="1"/>
          </p:cNvSpPr>
          <p:nvPr>
            <p:ph idx="1"/>
          </p:nvPr>
        </p:nvSpPr>
        <p:spPr>
          <a:xfrm>
            <a:off x="918475" y="2362490"/>
            <a:ext cx="3142536" cy="2670457"/>
          </a:xfrm>
        </p:spPr>
        <p:txBody>
          <a:bodyPr>
            <a:normAutofit lnSpcReduction="10000"/>
          </a:bodyPr>
          <a:lstStyle/>
          <a:p>
            <a:pPr marL="0" indent="0">
              <a:buNone/>
            </a:pPr>
            <a:r>
              <a:rPr lang="de-DE" sz="2000" b="1" dirty="0"/>
              <a:t>Problems with conventional methods</a:t>
            </a:r>
            <a:r>
              <a:rPr lang="de-DE" sz="2000" dirty="0"/>
              <a:t>:</a:t>
            </a:r>
          </a:p>
          <a:p>
            <a:r>
              <a:rPr lang="de-DE" sz="2000" dirty="0"/>
              <a:t>Lack of labelled dataset</a:t>
            </a:r>
          </a:p>
          <a:p>
            <a:r>
              <a:rPr lang="de-DE" sz="2000" dirty="0"/>
              <a:t>Computational complexity</a:t>
            </a:r>
          </a:p>
          <a:p>
            <a:r>
              <a:rPr lang="de-DE" sz="2000" dirty="0"/>
              <a:t>Implementation challenges</a:t>
            </a:r>
          </a:p>
          <a:p>
            <a:r>
              <a:rPr lang="de-DE" sz="2000" dirty="0"/>
              <a:t>Stuck at local optima</a:t>
            </a:r>
          </a:p>
          <a:p>
            <a:endParaRPr lang="de-DE" sz="2000" dirty="0"/>
          </a:p>
          <a:p>
            <a:endParaRPr lang="de-DE" sz="2000" dirty="0"/>
          </a:p>
          <a:p>
            <a:pPr lvl="5"/>
            <a:endParaRPr lang="de-DE" sz="600" dirty="0"/>
          </a:p>
        </p:txBody>
      </p:sp>
      <p:sp>
        <p:nvSpPr>
          <p:cNvPr id="8" name="Arrow: Right 7">
            <a:extLst>
              <a:ext uri="{FF2B5EF4-FFF2-40B4-BE49-F238E27FC236}">
                <a16:creationId xmlns:a16="http://schemas.microsoft.com/office/drawing/2014/main" id="{E76DA7CA-B0DE-E48A-286A-7AD97408E471}"/>
              </a:ext>
            </a:extLst>
          </p:cNvPr>
          <p:cNvSpPr/>
          <p:nvPr/>
        </p:nvSpPr>
        <p:spPr>
          <a:xfrm>
            <a:off x="4936491" y="3136224"/>
            <a:ext cx="1443318" cy="4930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Inhaltsplatzhalter 2">
            <a:extLst>
              <a:ext uri="{FF2B5EF4-FFF2-40B4-BE49-F238E27FC236}">
                <a16:creationId xmlns:a16="http://schemas.microsoft.com/office/drawing/2014/main" id="{FD42FF7D-2B77-EE01-6A33-9C0EF84DBB35}"/>
              </a:ext>
            </a:extLst>
          </p:cNvPr>
          <p:cNvSpPr txBox="1">
            <a:spLocks/>
          </p:cNvSpPr>
          <p:nvPr/>
        </p:nvSpPr>
        <p:spPr>
          <a:xfrm>
            <a:off x="7131424" y="2362490"/>
            <a:ext cx="4518618" cy="26704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2000" b="1" dirty="0"/>
              <a:t>Deep Reinforcemet Learning</a:t>
            </a:r>
            <a:r>
              <a:rPr lang="de-DE" sz="2000" dirty="0"/>
              <a:t>:</a:t>
            </a:r>
          </a:p>
          <a:p>
            <a:r>
              <a:rPr lang="en-US" sz="2000" dirty="0"/>
              <a:t>Navigate environment without explicit knowledge</a:t>
            </a:r>
          </a:p>
          <a:p>
            <a:r>
              <a:rPr lang="en-US" sz="2000" dirty="0"/>
              <a:t>No separate objective functions</a:t>
            </a:r>
            <a:endParaRPr lang="de-DE" sz="2000" dirty="0"/>
          </a:p>
          <a:p>
            <a:pPr algn="l"/>
            <a:r>
              <a:rPr lang="de-DE" sz="2000" dirty="0"/>
              <a:t>Easier to implement </a:t>
            </a:r>
          </a:p>
          <a:p>
            <a:pPr algn="l"/>
            <a:r>
              <a:rPr lang="de-DE" sz="2000" dirty="0"/>
              <a:t>Supports exploration</a:t>
            </a:r>
          </a:p>
          <a:p>
            <a:endParaRPr lang="de-DE" sz="1600" dirty="0"/>
          </a:p>
          <a:p>
            <a:endParaRPr lang="de-DE" sz="1600" dirty="0"/>
          </a:p>
        </p:txBody>
      </p:sp>
      <p:sp>
        <p:nvSpPr>
          <p:cNvPr id="10" name="Inhaltsplatzhalter 2">
            <a:extLst>
              <a:ext uri="{FF2B5EF4-FFF2-40B4-BE49-F238E27FC236}">
                <a16:creationId xmlns:a16="http://schemas.microsoft.com/office/drawing/2014/main" id="{EE5A4DE4-9507-4FF4-7748-2C8B9822A690}"/>
              </a:ext>
            </a:extLst>
          </p:cNvPr>
          <p:cNvSpPr txBox="1">
            <a:spLocks/>
          </p:cNvSpPr>
          <p:nvPr/>
        </p:nvSpPr>
        <p:spPr>
          <a:xfrm>
            <a:off x="5003728" y="3199489"/>
            <a:ext cx="1376081" cy="429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2000" dirty="0"/>
              <a:t>Solution</a:t>
            </a:r>
          </a:p>
          <a:p>
            <a:endParaRPr lang="de-DE" sz="1600" dirty="0"/>
          </a:p>
          <a:p>
            <a:endParaRPr lang="de-DE" sz="1600" dirty="0"/>
          </a:p>
          <a:p>
            <a:endParaRPr lang="de-DE" sz="1600" dirty="0"/>
          </a:p>
        </p:txBody>
      </p:sp>
    </p:spTree>
    <p:extLst>
      <p:ext uri="{BB962C8B-B14F-4D97-AF65-F5344CB8AC3E}">
        <p14:creationId xmlns:p14="http://schemas.microsoft.com/office/powerpoint/2010/main" val="2676186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de-DE" sz="2900" dirty="0"/>
              <a:t>Necessary Equations – Shape Optimisation</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62FFA286-0010-4F14-83FE-E579336F66F6}"/>
                  </a:ext>
                </a:extLst>
              </p:cNvPr>
              <p:cNvSpPr>
                <a:spLocks noGrp="1"/>
              </p:cNvSpPr>
              <p:nvPr>
                <p:ph idx="1"/>
              </p:nvPr>
            </p:nvSpPr>
            <p:spPr>
              <a:xfrm>
                <a:off x="7534429" y="1253331"/>
                <a:ext cx="3994184" cy="4351338"/>
              </a:xfrm>
            </p:spPr>
            <p:txBody>
              <a:bodyPr>
                <a:normAutofit fontScale="92500" lnSpcReduction="10000"/>
              </a:bodyPr>
              <a:lstStyle/>
              <a:p>
                <a:r>
                  <a:rPr lang="en-US" sz="2000" dirty="0"/>
                  <a:t>Piecewise linear functions created by the g-points approximate the potential curve, as shown in Figure</a:t>
                </a:r>
              </a:p>
              <a:p>
                <a:r>
                  <a:rPr lang="en-US" sz="2000" b="0" i="0" u="none" strike="noStrike" baseline="0" dirty="0"/>
                  <a:t>Since the potential distribution curve is symmetrical across the microstrip, we can look at one-half of the curve for further analysis.</a:t>
                </a:r>
              </a:p>
              <a:p>
                <a:r>
                  <a:rPr lang="en-US" sz="2000" b="0" i="0" u="none" strike="noStrike" baseline="0" dirty="0"/>
                  <a:t>The equations are derived using </a:t>
                </a:r>
                <a:r>
                  <a:rPr lang="en-US" sz="2000" dirty="0"/>
                  <a:t>L</a:t>
                </a:r>
                <a:r>
                  <a:rPr lang="en-US" sz="2000" b="0" i="0" u="none" strike="noStrike" baseline="0" dirty="0"/>
                  <a:t>aplace’s equation </a:t>
                </a:r>
                <a:r>
                  <a:rPr lang="de-DE" sz="2000" dirty="0">
                    <a:solidFill>
                      <a:schemeClr val="tx1"/>
                    </a:solidFill>
                    <a:latin typeface="Arial" panose="020B0604020202020204" pitchFamily="34" charset="0"/>
                    <a:cs typeface="Arial" panose="020B0604020202020204" pitchFamily="34" charset="0"/>
                    <a:sym typeface="Wingdings 3"/>
                  </a:rPr>
                  <a:t>V = 0.</a:t>
                </a:r>
                <a:endParaRPr lang="en-US" sz="2000" b="0" i="0" u="none" strike="noStrike" baseline="0" dirty="0"/>
              </a:p>
              <a:p>
                <a:r>
                  <a:rPr lang="en-IN" sz="2000" dirty="0">
                    <a:latin typeface="Arial" panose="020B0604020202020204" pitchFamily="34" charset="0"/>
                    <a:cs typeface="Arial" panose="020B0604020202020204" pitchFamily="34" charset="0"/>
                  </a:rPr>
                  <a:t>Two cases will be considered.</a:t>
                </a:r>
              </a:p>
              <a:p>
                <a:pPr lvl="1"/>
                <a:r>
                  <a:rPr lang="en-IN" sz="1600" dirty="0">
                    <a:latin typeface="Arial" panose="020B0604020202020204" pitchFamily="34" charset="0"/>
                    <a:cs typeface="Arial" panose="020B0604020202020204" pitchFamily="34" charset="0"/>
                  </a:rPr>
                  <a:t>Case D: where the dielectric constant of the medium </a:t>
                </a:r>
                <a14:m>
                  <m:oMath xmlns:m="http://schemas.openxmlformats.org/officeDocument/2006/math">
                    <m:sSub>
                      <m:sSubPr>
                        <m:ctrlPr>
                          <a:rPr lang="el-GR" sz="1600" i="1" smtClean="0">
                            <a:latin typeface="Cambria Math" panose="02040503050406030204" pitchFamily="18" charset="0"/>
                            <a:cs typeface="Arial" panose="020B0604020202020204" pitchFamily="34" charset="0"/>
                          </a:rPr>
                        </m:ctrlPr>
                      </m:sSubPr>
                      <m:e>
                        <m:r>
                          <m:rPr>
                            <m:nor/>
                          </m:rPr>
                          <a:rPr lang="el-GR" sz="1600" dirty="0">
                            <a:latin typeface="Arial" panose="020B0604020202020204" pitchFamily="34" charset="0"/>
                            <a:cs typeface="Arial" panose="020B0604020202020204" pitchFamily="34" charset="0"/>
                          </a:rPr>
                          <m:t>ϵ</m:t>
                        </m:r>
                      </m:e>
                      <m:sub>
                        <m:r>
                          <a:rPr lang="en-IN" sz="1600" b="0" i="1" smtClean="0">
                            <a:latin typeface="Cambria Math" panose="02040503050406030204" pitchFamily="18" charset="0"/>
                            <a:cs typeface="Arial" panose="020B0604020202020204" pitchFamily="34" charset="0"/>
                          </a:rPr>
                          <m:t>2</m:t>
                        </m:r>
                      </m:sub>
                    </m:sSub>
                  </m:oMath>
                </a14:m>
                <a:r>
                  <a:rPr lang="en-IN" sz="1600" dirty="0">
                    <a:latin typeface="Arial" panose="020B0604020202020204" pitchFamily="34" charset="0"/>
                    <a:cs typeface="Arial" panose="020B0604020202020204" pitchFamily="34" charset="0"/>
                  </a:rPr>
                  <a:t> is a value higher than 1.0.</a:t>
                </a:r>
              </a:p>
              <a:p>
                <a:pPr lvl="1"/>
                <a:r>
                  <a:rPr lang="en-IN" sz="1600" dirty="0">
                    <a:cs typeface="Arial" panose="020B0604020202020204" pitchFamily="34" charset="0"/>
                  </a:rPr>
                  <a:t>Case L: where the dielectric constant of the medium </a:t>
                </a:r>
                <a14:m>
                  <m:oMath xmlns:m="http://schemas.openxmlformats.org/officeDocument/2006/math">
                    <m:sSub>
                      <m:sSubPr>
                        <m:ctrlPr>
                          <a:rPr lang="el-GR" sz="1600" i="1" smtClean="0">
                            <a:latin typeface="Cambria Math" panose="02040503050406030204" pitchFamily="18" charset="0"/>
                            <a:cs typeface="Arial" panose="020B0604020202020204" pitchFamily="34" charset="0"/>
                          </a:rPr>
                        </m:ctrlPr>
                      </m:sSubPr>
                      <m:e>
                        <m:r>
                          <m:rPr>
                            <m:nor/>
                          </m:rPr>
                          <a:rPr lang="el-GR" sz="1600" dirty="0">
                            <a:cs typeface="Arial" panose="020B0604020202020204" pitchFamily="34" charset="0"/>
                          </a:rPr>
                          <m:t>ϵ</m:t>
                        </m:r>
                      </m:e>
                      <m:sub>
                        <m:r>
                          <a:rPr lang="en-IN" sz="1600" b="0" i="1" smtClean="0">
                            <a:latin typeface="Cambria Math" panose="02040503050406030204" pitchFamily="18" charset="0"/>
                            <a:cs typeface="Arial" panose="020B0604020202020204" pitchFamily="34" charset="0"/>
                          </a:rPr>
                          <m:t>2</m:t>
                        </m:r>
                      </m:sub>
                    </m:sSub>
                  </m:oMath>
                </a14:m>
                <a:r>
                  <a:rPr lang="en-IN" sz="1600" dirty="0">
                    <a:cs typeface="Arial" panose="020B0604020202020204" pitchFamily="34" charset="0"/>
                  </a:rPr>
                  <a:t> is 1.0</a:t>
                </a:r>
              </a:p>
              <a:p>
                <a:endParaRPr lang="de-DE" sz="2000" dirty="0"/>
              </a:p>
            </p:txBody>
          </p:sp>
        </mc:Choice>
        <mc:Fallback xmlns="">
          <p:sp>
            <p:nvSpPr>
              <p:cNvPr id="3" name="Inhaltsplatzhalter 2">
                <a:extLst>
                  <a:ext uri="{FF2B5EF4-FFF2-40B4-BE49-F238E27FC236}">
                    <a16:creationId xmlns:a16="http://schemas.microsoft.com/office/drawing/2014/main" id="{62FFA286-0010-4F14-83FE-E579336F66F6}"/>
                  </a:ext>
                </a:extLst>
              </p:cNvPr>
              <p:cNvSpPr>
                <a:spLocks noGrp="1" noRot="1" noChangeAspect="1" noMove="1" noResize="1" noEditPoints="1" noAdjustHandles="1" noChangeArrowheads="1" noChangeShapeType="1" noTextEdit="1"/>
              </p:cNvSpPr>
              <p:nvPr>
                <p:ph idx="1"/>
              </p:nvPr>
            </p:nvSpPr>
            <p:spPr>
              <a:xfrm>
                <a:off x="7534429" y="1253331"/>
                <a:ext cx="3994184" cy="4351338"/>
              </a:xfrm>
              <a:blipFill>
                <a:blip r:embed="rId3"/>
                <a:stretch>
                  <a:fillRect l="-1221" t="-2104" r="-458" b="-281"/>
                </a:stretch>
              </a:blipFill>
            </p:spPr>
            <p:txBody>
              <a:bodyPr/>
              <a:lstStyle/>
              <a:p>
                <a:r>
                  <a:rPr lang="en-IN">
                    <a:noFill/>
                  </a:rPr>
                  <a:t> </a:t>
                </a:r>
              </a:p>
            </p:txBody>
          </p:sp>
        </mc:Fallback>
      </mc:AlternateContent>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7</a:t>
            </a:fld>
            <a:endParaRPr lang="en-GB" dirty="0"/>
          </a:p>
        </p:txBody>
      </p:sp>
      <p:pic>
        <p:nvPicPr>
          <p:cNvPr id="8" name="Picture 7">
            <a:extLst>
              <a:ext uri="{FF2B5EF4-FFF2-40B4-BE49-F238E27FC236}">
                <a16:creationId xmlns:a16="http://schemas.microsoft.com/office/drawing/2014/main" id="{5DF43818-BEA6-9ECD-C2D5-0207BC8F4F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122" y="1317468"/>
            <a:ext cx="6748004" cy="2049661"/>
          </a:xfrm>
          <a:prstGeom prst="rect">
            <a:avLst/>
          </a:prstGeom>
        </p:spPr>
      </p:pic>
      <p:pic>
        <p:nvPicPr>
          <p:cNvPr id="10" name="Picture 9">
            <a:extLst>
              <a:ext uri="{FF2B5EF4-FFF2-40B4-BE49-F238E27FC236}">
                <a16:creationId xmlns:a16="http://schemas.microsoft.com/office/drawing/2014/main" id="{5AD695B3-37AD-6D7C-CD0B-7020A55682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4945" y="3490872"/>
            <a:ext cx="4801182" cy="2458383"/>
          </a:xfrm>
          <a:prstGeom prst="rect">
            <a:avLst/>
          </a:prstGeom>
        </p:spPr>
      </p:pic>
    </p:spTree>
    <p:extLst>
      <p:ext uri="{BB962C8B-B14F-4D97-AF65-F5344CB8AC3E}">
        <p14:creationId xmlns:p14="http://schemas.microsoft.com/office/powerpoint/2010/main" val="282132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kumimoji="0" lang="de-DE" sz="2900" b="0" i="0" u="none" strike="noStrike" kern="1200" cap="none" spc="0" normalizeH="0" baseline="0" noProof="0" dirty="0">
                <a:ln>
                  <a:noFill/>
                </a:ln>
                <a:solidFill>
                  <a:srgbClr val="84B819"/>
                </a:solidFill>
                <a:effectLst/>
                <a:uLnTx/>
                <a:uFillTx/>
                <a:latin typeface="Arial" panose="020B0604020202020204" pitchFamily="34" charset="0"/>
                <a:ea typeface="+mj-ea"/>
                <a:cs typeface="Arial" panose="020B0604020202020204" pitchFamily="34" charset="0"/>
              </a:rPr>
              <a:t>Necessary Equations – Shape Optimisation</a:t>
            </a:r>
            <a:endParaRPr lang="de-DE" sz="3200" dirty="0"/>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8</a:t>
            </a:fld>
            <a:endParaRPr lang="en-GB" dirty="0"/>
          </a:p>
        </p:txBody>
      </p:sp>
      <p:pic>
        <p:nvPicPr>
          <p:cNvPr id="7" name="Picture 6">
            <a:extLst>
              <a:ext uri="{FF2B5EF4-FFF2-40B4-BE49-F238E27FC236}">
                <a16:creationId xmlns:a16="http://schemas.microsoft.com/office/drawing/2014/main" id="{DB5B69ED-F3F9-8781-F152-D8F9F1275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405" y="1303978"/>
            <a:ext cx="3724587" cy="659262"/>
          </a:xfrm>
          <a:prstGeom prst="rect">
            <a:avLst/>
          </a:prstGeom>
        </p:spPr>
      </p:pic>
      <p:pic>
        <p:nvPicPr>
          <p:cNvPr id="11" name="Picture 10">
            <a:extLst>
              <a:ext uri="{FF2B5EF4-FFF2-40B4-BE49-F238E27FC236}">
                <a16:creationId xmlns:a16="http://schemas.microsoft.com/office/drawing/2014/main" id="{3BB35F65-F22E-E5FA-2A23-E831EEA38F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7269" y="1456687"/>
            <a:ext cx="5519326" cy="159682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4166B50-22C3-255D-D5B0-D61C9018FCE2}"/>
                  </a:ext>
                </a:extLst>
              </p:cNvPr>
              <p:cNvSpPr txBox="1"/>
              <p:nvPr/>
            </p:nvSpPr>
            <p:spPr>
              <a:xfrm>
                <a:off x="7201592" y="1113885"/>
                <a:ext cx="2599765"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Where </a:t>
                </a:r>
                <a14:m>
                  <m:oMath xmlns:m="http://schemas.openxmlformats.org/officeDocument/2006/math">
                    <m:sSub>
                      <m:sSubPr>
                        <m:ctrlPr>
                          <a:rPr lang="en-IN" sz="2000" i="1" smtClean="0">
                            <a:latin typeface="Cambria Math" panose="02040503050406030204" pitchFamily="18" charset="0"/>
                            <a:cs typeface="Arial" panose="020B0604020202020204" pitchFamily="34" charset="0"/>
                          </a:rPr>
                        </m:ctrlPr>
                      </m:sSubPr>
                      <m:e>
                        <m:r>
                          <a:rPr lang="en-IN" sz="2000" b="0" i="1" smtClean="0">
                            <a:latin typeface="Cambria Math" panose="02040503050406030204" pitchFamily="18" charset="0"/>
                            <a:cs typeface="Arial" panose="020B0604020202020204" pitchFamily="34" charset="0"/>
                          </a:rPr>
                          <m:t>𝑣</m:t>
                        </m:r>
                      </m:e>
                      <m:sub>
                        <m:r>
                          <a:rPr lang="en-IN" sz="2000" b="0" i="1" smtClean="0">
                            <a:latin typeface="Cambria Math" panose="02040503050406030204" pitchFamily="18" charset="0"/>
                            <a:cs typeface="Arial" panose="020B0604020202020204" pitchFamily="34" charset="0"/>
                          </a:rPr>
                          <m:t>𝑛</m:t>
                        </m:r>
                      </m:sub>
                    </m:sSub>
                  </m:oMath>
                </a14:m>
                <a:r>
                  <a:rPr lang="en-IN" sz="2000" dirty="0">
                    <a:latin typeface="Arial" panose="020B0604020202020204" pitchFamily="34" charset="0"/>
                    <a:cs typeface="Arial" panose="020B0604020202020204" pitchFamily="34" charset="0"/>
                  </a:rPr>
                  <a:t> is given by, </a:t>
                </a:r>
              </a:p>
            </p:txBody>
          </p:sp>
        </mc:Choice>
        <mc:Fallback xmlns="">
          <p:sp>
            <p:nvSpPr>
              <p:cNvPr id="12" name="TextBox 11">
                <a:extLst>
                  <a:ext uri="{FF2B5EF4-FFF2-40B4-BE49-F238E27FC236}">
                    <a16:creationId xmlns:a16="http://schemas.microsoft.com/office/drawing/2014/main" id="{54166B50-22C3-255D-D5B0-D61C9018FCE2}"/>
                  </a:ext>
                </a:extLst>
              </p:cNvPr>
              <p:cNvSpPr txBox="1">
                <a:spLocks noRot="1" noChangeAspect="1" noMove="1" noResize="1" noEditPoints="1" noAdjustHandles="1" noChangeArrowheads="1" noChangeShapeType="1" noTextEdit="1"/>
              </p:cNvSpPr>
              <p:nvPr/>
            </p:nvSpPr>
            <p:spPr>
              <a:xfrm>
                <a:off x="7201592" y="1113885"/>
                <a:ext cx="2599765" cy="400110"/>
              </a:xfrm>
              <a:prstGeom prst="rect">
                <a:avLst/>
              </a:prstGeom>
              <a:blipFill>
                <a:blip r:embed="rId5"/>
                <a:stretch>
                  <a:fillRect l="-2342" t="-7692" r="-4215" b="-29231"/>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3ADBF1DA-56AD-D6A9-BBB1-402718B19DA8}"/>
              </a:ext>
            </a:extLst>
          </p:cNvPr>
          <p:cNvSpPr txBox="1"/>
          <p:nvPr/>
        </p:nvSpPr>
        <p:spPr>
          <a:xfrm>
            <a:off x="515062" y="1101626"/>
            <a:ext cx="2599765"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Potential distribution,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AA8664-963E-2150-8796-E6E4EF6F58A0}"/>
                  </a:ext>
                </a:extLst>
              </p:cNvPr>
              <p:cNvSpPr txBox="1"/>
              <p:nvPr/>
            </p:nvSpPr>
            <p:spPr>
              <a:xfrm>
                <a:off x="443345" y="1963240"/>
                <a:ext cx="4433047" cy="707886"/>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Where </a:t>
                </a:r>
                <a14:m>
                  <m:oMath xmlns:m="http://schemas.openxmlformats.org/officeDocument/2006/math">
                    <m:sSub>
                      <m:sSubPr>
                        <m:ctrlPr>
                          <a:rPr lang="en-IN" sz="2000" i="1" smtClean="0">
                            <a:latin typeface="Cambria Math" panose="02040503050406030204" pitchFamily="18" charset="0"/>
                            <a:cs typeface="Arial" panose="020B0604020202020204" pitchFamily="34" charset="0"/>
                          </a:rPr>
                        </m:ctrlPr>
                      </m:sSubPr>
                      <m:e>
                        <m:r>
                          <a:rPr lang="en-IN" sz="2000" b="0" i="1" smtClean="0">
                            <a:latin typeface="Cambria Math" panose="02040503050406030204" pitchFamily="18" charset="0"/>
                            <a:cs typeface="Arial" panose="020B0604020202020204" pitchFamily="34" charset="0"/>
                          </a:rPr>
                          <m:t>𝑉</m:t>
                        </m:r>
                      </m:e>
                      <m:sub>
                        <m:r>
                          <a:rPr lang="en-IN" sz="2000" b="0" i="1" smtClean="0">
                            <a:latin typeface="Cambria Math" panose="02040503050406030204" pitchFamily="18" charset="0"/>
                            <a:cs typeface="Arial" panose="020B0604020202020204" pitchFamily="34" charset="0"/>
                          </a:rPr>
                          <m:t>0</m:t>
                        </m:r>
                      </m:sub>
                    </m:sSub>
                  </m:oMath>
                </a14:m>
                <a:r>
                  <a:rPr lang="en-IN" sz="2000" dirty="0">
                    <a:latin typeface="Arial" panose="020B0604020202020204" pitchFamily="34" charset="0"/>
                    <a:cs typeface="Arial" panose="020B0604020202020204" pitchFamily="34" charset="0"/>
                  </a:rPr>
                  <a:t> = 1,</a:t>
                </a:r>
              </a:p>
              <a:p>
                <a:r>
                  <a:rPr lang="en-IN" sz="2000" dirty="0">
                    <a:latin typeface="Arial" panose="020B0604020202020204" pitchFamily="34" charset="0"/>
                    <a:cs typeface="Arial" panose="020B0604020202020204" pitchFamily="34" charset="0"/>
                  </a:rPr>
                  <a:t>Normalised for ease of calculations </a:t>
                </a:r>
              </a:p>
            </p:txBody>
          </p:sp>
        </mc:Choice>
        <mc:Fallback xmlns="">
          <p:sp>
            <p:nvSpPr>
              <p:cNvPr id="6" name="TextBox 5">
                <a:extLst>
                  <a:ext uri="{FF2B5EF4-FFF2-40B4-BE49-F238E27FC236}">
                    <a16:creationId xmlns:a16="http://schemas.microsoft.com/office/drawing/2014/main" id="{E2AA8664-963E-2150-8796-E6E4EF6F58A0}"/>
                  </a:ext>
                </a:extLst>
              </p:cNvPr>
              <p:cNvSpPr txBox="1">
                <a:spLocks noRot="1" noChangeAspect="1" noMove="1" noResize="1" noEditPoints="1" noAdjustHandles="1" noChangeArrowheads="1" noChangeShapeType="1" noTextEdit="1"/>
              </p:cNvSpPr>
              <p:nvPr/>
            </p:nvSpPr>
            <p:spPr>
              <a:xfrm>
                <a:off x="443345" y="1963240"/>
                <a:ext cx="4433047" cy="707886"/>
              </a:xfrm>
              <a:prstGeom prst="rect">
                <a:avLst/>
              </a:prstGeom>
              <a:blipFill>
                <a:blip r:embed="rId6"/>
                <a:stretch>
                  <a:fillRect l="-1513" t="-3448" b="-15517"/>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D930B932-2671-4812-452D-1AE870E668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2509" y="3716774"/>
            <a:ext cx="4057002" cy="1245912"/>
          </a:xfrm>
          <a:prstGeom prst="rect">
            <a:avLst/>
          </a:prstGeom>
        </p:spPr>
      </p:pic>
      <p:sp>
        <p:nvSpPr>
          <p:cNvPr id="14" name="TextBox 13">
            <a:extLst>
              <a:ext uri="{FF2B5EF4-FFF2-40B4-BE49-F238E27FC236}">
                <a16:creationId xmlns:a16="http://schemas.microsoft.com/office/drawing/2014/main" id="{DA527E79-5C69-1845-7186-DFB71C929599}"/>
              </a:ext>
            </a:extLst>
          </p:cNvPr>
          <p:cNvSpPr txBox="1"/>
          <p:nvPr/>
        </p:nvSpPr>
        <p:spPr>
          <a:xfrm>
            <a:off x="8677409" y="3382209"/>
            <a:ext cx="2599765"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Energy of the curve, </a:t>
            </a:r>
          </a:p>
        </p:txBody>
      </p:sp>
      <p:sp>
        <p:nvSpPr>
          <p:cNvPr id="15" name="Arrow: Right 14">
            <a:extLst>
              <a:ext uri="{FF2B5EF4-FFF2-40B4-BE49-F238E27FC236}">
                <a16:creationId xmlns:a16="http://schemas.microsoft.com/office/drawing/2014/main" id="{A45DA842-2E89-3658-6373-91AD6A8A72BC}"/>
              </a:ext>
            </a:extLst>
          </p:cNvPr>
          <p:cNvSpPr/>
          <p:nvPr/>
        </p:nvSpPr>
        <p:spPr>
          <a:xfrm rot="5400000">
            <a:off x="9620083" y="2894630"/>
            <a:ext cx="361853" cy="220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92564A1D-D3C6-49A5-CB9C-0394105735B2}"/>
              </a:ext>
            </a:extLst>
          </p:cNvPr>
          <p:cNvSpPr/>
          <p:nvPr/>
        </p:nvSpPr>
        <p:spPr>
          <a:xfrm rot="10800000">
            <a:off x="7253400" y="4229566"/>
            <a:ext cx="361853" cy="220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A527E79-5C69-1845-7186-DFB71C929599}"/>
              </a:ext>
            </a:extLst>
          </p:cNvPr>
          <p:cNvSpPr txBox="1"/>
          <p:nvPr/>
        </p:nvSpPr>
        <p:spPr>
          <a:xfrm>
            <a:off x="4461028" y="3201715"/>
            <a:ext cx="2891526"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Capacitance</a:t>
            </a:r>
          </a:p>
        </p:txBody>
      </p:sp>
      <p:pic>
        <p:nvPicPr>
          <p:cNvPr id="18" name="Picture 17">
            <a:extLst>
              <a:ext uri="{FF2B5EF4-FFF2-40B4-BE49-F238E27FC236}">
                <a16:creationId xmlns:a16="http://schemas.microsoft.com/office/drawing/2014/main" id="{B94B1BD5-6D5F-4E48-D1E2-AF50E374B2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5644" y="3679140"/>
            <a:ext cx="1181147" cy="1775058"/>
          </a:xfrm>
          <a:prstGeom prst="rect">
            <a:avLst/>
          </a:prstGeom>
        </p:spPr>
      </p:pic>
      <p:sp>
        <p:nvSpPr>
          <p:cNvPr id="19" name="TextBox 18">
            <a:extLst>
              <a:ext uri="{FF2B5EF4-FFF2-40B4-BE49-F238E27FC236}">
                <a16:creationId xmlns:a16="http://schemas.microsoft.com/office/drawing/2014/main" id="{E94945BD-D8DE-883F-E3A0-FB0CF1D1E940}"/>
              </a:ext>
            </a:extLst>
          </p:cNvPr>
          <p:cNvSpPr txBox="1"/>
          <p:nvPr/>
        </p:nvSpPr>
        <p:spPr>
          <a:xfrm>
            <a:off x="524105" y="3182154"/>
            <a:ext cx="3384586"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Characteristic Impedance </a:t>
            </a:r>
          </a:p>
        </p:txBody>
      </p:sp>
      <p:pic>
        <p:nvPicPr>
          <p:cNvPr id="20" name="Picture 19">
            <a:extLst>
              <a:ext uri="{FF2B5EF4-FFF2-40B4-BE49-F238E27FC236}">
                <a16:creationId xmlns:a16="http://schemas.microsoft.com/office/drawing/2014/main" id="{1E57596C-525B-4876-8FC8-F7DB50A0963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0438" y="3679140"/>
            <a:ext cx="1489012" cy="1122486"/>
          </a:xfrm>
          <a:prstGeom prst="rect">
            <a:avLst/>
          </a:prstGeom>
        </p:spPr>
      </p:pic>
      <p:sp>
        <p:nvSpPr>
          <p:cNvPr id="21" name="Arrow: Right 20">
            <a:extLst>
              <a:ext uri="{FF2B5EF4-FFF2-40B4-BE49-F238E27FC236}">
                <a16:creationId xmlns:a16="http://schemas.microsoft.com/office/drawing/2014/main" id="{4D8992C0-A5FF-2936-1DA4-284FE44FCA23}"/>
              </a:ext>
            </a:extLst>
          </p:cNvPr>
          <p:cNvSpPr/>
          <p:nvPr/>
        </p:nvSpPr>
        <p:spPr>
          <a:xfrm rot="10800000">
            <a:off x="3955948" y="4186875"/>
            <a:ext cx="361853" cy="220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8415DD14-4090-7964-39DE-B373EAF8099C}"/>
              </a:ext>
            </a:extLst>
          </p:cNvPr>
          <p:cNvPicPr>
            <a:picLocks noChangeAspect="1"/>
          </p:cNvPicPr>
          <p:nvPr/>
        </p:nvPicPr>
        <p:blipFill rotWithShape="1">
          <a:blip r:embed="rId10">
            <a:extLst>
              <a:ext uri="{28A0092B-C50C-407E-A947-70E740481C1C}">
                <a14:useLocalDpi xmlns:a14="http://schemas.microsoft.com/office/drawing/2010/main" val="0"/>
              </a:ext>
            </a:extLst>
          </a:blip>
          <a:srcRect l="26345"/>
          <a:stretch/>
        </p:blipFill>
        <p:spPr>
          <a:xfrm>
            <a:off x="524105" y="5603100"/>
            <a:ext cx="1298077" cy="714475"/>
          </a:xfrm>
          <a:prstGeom prst="rect">
            <a:avLst/>
          </a:prstGeom>
        </p:spPr>
      </p:pic>
      <p:pic>
        <p:nvPicPr>
          <p:cNvPr id="23" name="Picture 22">
            <a:extLst>
              <a:ext uri="{FF2B5EF4-FFF2-40B4-BE49-F238E27FC236}">
                <a16:creationId xmlns:a16="http://schemas.microsoft.com/office/drawing/2014/main" id="{330C8305-1396-CD7A-4F9D-22E2A8706C1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966341" y="5756374"/>
            <a:ext cx="1552792" cy="543001"/>
          </a:xfrm>
          <a:prstGeom prst="rect">
            <a:avLst/>
          </a:prstGeom>
        </p:spPr>
      </p:pic>
      <p:sp>
        <p:nvSpPr>
          <p:cNvPr id="24" name="TextBox 23">
            <a:extLst>
              <a:ext uri="{FF2B5EF4-FFF2-40B4-BE49-F238E27FC236}">
                <a16:creationId xmlns:a16="http://schemas.microsoft.com/office/drawing/2014/main" id="{62427367-DC76-7466-FC52-24C17EF30CCB}"/>
              </a:ext>
            </a:extLst>
          </p:cNvPr>
          <p:cNvSpPr txBox="1"/>
          <p:nvPr/>
        </p:nvSpPr>
        <p:spPr>
          <a:xfrm>
            <a:off x="7265917" y="5646740"/>
            <a:ext cx="3428978" cy="707886"/>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Effective Dielectric Constant </a:t>
            </a:r>
          </a:p>
          <a:p>
            <a:r>
              <a:rPr lang="en-IN" sz="2000" dirty="0">
                <a:latin typeface="Arial" panose="020B0604020202020204" pitchFamily="34" charset="0"/>
                <a:cs typeface="Arial" panose="020B0604020202020204" pitchFamily="34" charset="0"/>
              </a:rPr>
              <a:t>&amp; Phase Velocity, </a:t>
            </a:r>
          </a:p>
        </p:txBody>
      </p:sp>
      <p:pic>
        <p:nvPicPr>
          <p:cNvPr id="25" name="Picture 24">
            <a:extLst>
              <a:ext uri="{FF2B5EF4-FFF2-40B4-BE49-F238E27FC236}">
                <a16:creationId xmlns:a16="http://schemas.microsoft.com/office/drawing/2014/main" id="{F350CBBA-5EF5-8B0A-E3E4-DE609FC7EFD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524429" y="5862833"/>
            <a:ext cx="3677163" cy="219106"/>
          </a:xfrm>
          <a:prstGeom prst="rect">
            <a:avLst/>
          </a:prstGeom>
        </p:spPr>
      </p:pic>
      <p:sp>
        <p:nvSpPr>
          <p:cNvPr id="26" name="Rectangle 25">
            <a:extLst>
              <a:ext uri="{FF2B5EF4-FFF2-40B4-BE49-F238E27FC236}">
                <a16:creationId xmlns:a16="http://schemas.microsoft.com/office/drawing/2014/main" id="{1C62CEA5-B44B-D230-BA19-A88A82453B1E}"/>
              </a:ext>
            </a:extLst>
          </p:cNvPr>
          <p:cNvSpPr/>
          <p:nvPr/>
        </p:nvSpPr>
        <p:spPr>
          <a:xfrm>
            <a:off x="352545" y="5646740"/>
            <a:ext cx="6822571" cy="714475"/>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27" name="Arrow: Right 26">
            <a:extLst>
              <a:ext uri="{FF2B5EF4-FFF2-40B4-BE49-F238E27FC236}">
                <a16:creationId xmlns:a16="http://schemas.microsoft.com/office/drawing/2014/main" id="{AF881E94-6BA1-0675-72D0-FEAF0B318728}"/>
              </a:ext>
            </a:extLst>
          </p:cNvPr>
          <p:cNvSpPr/>
          <p:nvPr/>
        </p:nvSpPr>
        <p:spPr>
          <a:xfrm rot="5400000">
            <a:off x="4007283" y="5076374"/>
            <a:ext cx="361853" cy="220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6C77EBDD-D51F-D87C-85AC-DB90AF6DF387}"/>
              </a:ext>
            </a:extLst>
          </p:cNvPr>
          <p:cNvSpPr/>
          <p:nvPr/>
        </p:nvSpPr>
        <p:spPr>
          <a:xfrm>
            <a:off x="398777" y="3716774"/>
            <a:ext cx="3319065" cy="1342665"/>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29" name="Arrow: Right 28">
            <a:extLst>
              <a:ext uri="{FF2B5EF4-FFF2-40B4-BE49-F238E27FC236}">
                <a16:creationId xmlns:a16="http://schemas.microsoft.com/office/drawing/2014/main" id="{1A3D257F-8F6C-CAFB-BF4B-3CF50B51B3F5}"/>
              </a:ext>
            </a:extLst>
          </p:cNvPr>
          <p:cNvSpPr/>
          <p:nvPr/>
        </p:nvSpPr>
        <p:spPr>
          <a:xfrm>
            <a:off x="5182083" y="1772042"/>
            <a:ext cx="361853" cy="220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3787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Concept Development</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9</a:t>
            </a:fld>
            <a:endParaRPr lang="en-GB" dirty="0"/>
          </a:p>
        </p:txBody>
      </p:sp>
      <p:sp>
        <p:nvSpPr>
          <p:cNvPr id="9" name="Content Placeholder 8">
            <a:extLst>
              <a:ext uri="{FF2B5EF4-FFF2-40B4-BE49-F238E27FC236}">
                <a16:creationId xmlns:a16="http://schemas.microsoft.com/office/drawing/2014/main" id="{2C0AFF74-52FE-1046-4B38-907F6D0405DB}"/>
              </a:ext>
            </a:extLst>
          </p:cNvPr>
          <p:cNvSpPr>
            <a:spLocks noGrp="1"/>
          </p:cNvSpPr>
          <p:nvPr>
            <p:ph idx="1"/>
          </p:nvPr>
        </p:nvSpPr>
        <p:spPr/>
        <p:txBody>
          <a:bodyPr>
            <a:normAutofit/>
          </a:bodyPr>
          <a:lstStyle/>
          <a:p>
            <a:r>
              <a:rPr lang="en-IN" sz="2000" dirty="0"/>
              <a:t>For any DRL problem, we must define the three basic units: </a:t>
            </a:r>
            <a:r>
              <a:rPr lang="en-IN" sz="2000" b="1" dirty="0"/>
              <a:t>Observation Space</a:t>
            </a:r>
            <a:r>
              <a:rPr lang="en-IN" sz="2000" dirty="0"/>
              <a:t>, </a:t>
            </a:r>
            <a:r>
              <a:rPr lang="en-IN" sz="2000" b="1" dirty="0"/>
              <a:t>Action Space</a:t>
            </a:r>
            <a:r>
              <a:rPr lang="en-IN" sz="2000" dirty="0"/>
              <a:t>, and </a:t>
            </a:r>
            <a:r>
              <a:rPr lang="en-IN" sz="2000" b="1" dirty="0"/>
              <a:t>Reward Scheme</a:t>
            </a:r>
          </a:p>
        </p:txBody>
      </p:sp>
      <p:pic>
        <p:nvPicPr>
          <p:cNvPr id="11" name="Picture 10">
            <a:extLst>
              <a:ext uri="{FF2B5EF4-FFF2-40B4-BE49-F238E27FC236}">
                <a16:creationId xmlns:a16="http://schemas.microsoft.com/office/drawing/2014/main" id="{9413EC95-5714-2AE6-6C59-225AC0A9C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819" y="3042892"/>
            <a:ext cx="5033592" cy="2300072"/>
          </a:xfrm>
          <a:prstGeom prst="rect">
            <a:avLst/>
          </a:prstGeom>
        </p:spPr>
      </p:pic>
      <p:sp>
        <p:nvSpPr>
          <p:cNvPr id="12" name="Rectangle: Rounded Corners 11">
            <a:extLst>
              <a:ext uri="{FF2B5EF4-FFF2-40B4-BE49-F238E27FC236}">
                <a16:creationId xmlns:a16="http://schemas.microsoft.com/office/drawing/2014/main" id="{9375691A-FF02-1F46-9ABA-BC488C60B82D}"/>
              </a:ext>
            </a:extLst>
          </p:cNvPr>
          <p:cNvSpPr/>
          <p:nvPr/>
        </p:nvSpPr>
        <p:spPr>
          <a:xfrm>
            <a:off x="249725" y="3722281"/>
            <a:ext cx="901361" cy="94129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13" name="Rectangle: Rounded Corners 12">
            <a:extLst>
              <a:ext uri="{FF2B5EF4-FFF2-40B4-BE49-F238E27FC236}">
                <a16:creationId xmlns:a16="http://schemas.microsoft.com/office/drawing/2014/main" id="{83BC9620-73F9-2832-15F7-9006BF28D058}"/>
              </a:ext>
            </a:extLst>
          </p:cNvPr>
          <p:cNvSpPr/>
          <p:nvPr/>
        </p:nvSpPr>
        <p:spPr>
          <a:xfrm>
            <a:off x="2982265" y="2865093"/>
            <a:ext cx="832476" cy="80839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14" name="Rectangle: Rounded Corners 13">
            <a:extLst>
              <a:ext uri="{FF2B5EF4-FFF2-40B4-BE49-F238E27FC236}">
                <a16:creationId xmlns:a16="http://schemas.microsoft.com/office/drawing/2014/main" id="{D39AE7B1-934D-DA83-F92D-907FB96CFAFC}"/>
              </a:ext>
            </a:extLst>
          </p:cNvPr>
          <p:cNvSpPr/>
          <p:nvPr/>
        </p:nvSpPr>
        <p:spPr>
          <a:xfrm>
            <a:off x="5501189" y="3268023"/>
            <a:ext cx="6379305" cy="2074941"/>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3" name="Rectangle 2">
            <a:extLst>
              <a:ext uri="{FF2B5EF4-FFF2-40B4-BE49-F238E27FC236}">
                <a16:creationId xmlns:a16="http://schemas.microsoft.com/office/drawing/2014/main" id="{AC1B387D-6AF9-4FDF-F17D-41B046C525EA}"/>
              </a:ext>
            </a:extLst>
          </p:cNvPr>
          <p:cNvSpPr/>
          <p:nvPr/>
        </p:nvSpPr>
        <p:spPr>
          <a:xfrm>
            <a:off x="443345" y="6250615"/>
            <a:ext cx="7530760" cy="194784"/>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B8CA75DF-51FB-1F6D-B99E-BD7773C51B5A}"/>
              </a:ext>
            </a:extLst>
          </p:cNvPr>
          <p:cNvSpPr txBox="1"/>
          <p:nvPr/>
        </p:nvSpPr>
        <p:spPr>
          <a:xfrm>
            <a:off x="376313" y="6224848"/>
            <a:ext cx="7664823" cy="215444"/>
          </a:xfrm>
          <a:prstGeom prst="rect">
            <a:avLst/>
          </a:prstGeom>
          <a:noFill/>
        </p:spPr>
        <p:txBody>
          <a:bodyPr wrap="square" rtlCol="0">
            <a:spAutoFit/>
          </a:bodyPr>
          <a:lstStyle/>
          <a:p>
            <a:r>
              <a:rPr lang="en-IN" sz="800" dirty="0">
                <a:latin typeface="Arial" panose="020B0604020202020204" pitchFamily="34" charset="0"/>
                <a:cs typeface="Arial" panose="020B0604020202020204" pitchFamily="34" charset="0"/>
              </a:rPr>
              <a:t>Image source: https://medium.com/@vishnuvijayanpv/deep-reinforcement-learning-value-functions-dqn-actor-critic-method-backpropagation-through-83a277d8c38d</a:t>
            </a:r>
          </a:p>
        </p:txBody>
      </p:sp>
      <p:graphicFrame>
        <p:nvGraphicFramePr>
          <p:cNvPr id="7" name="Diagram 6">
            <a:extLst>
              <a:ext uri="{FF2B5EF4-FFF2-40B4-BE49-F238E27FC236}">
                <a16:creationId xmlns:a16="http://schemas.microsoft.com/office/drawing/2014/main" id="{4CF34B99-9300-6F4F-1404-30AFC7D1917D}"/>
              </a:ext>
            </a:extLst>
          </p:cNvPr>
          <p:cNvGraphicFramePr/>
          <p:nvPr>
            <p:extLst>
              <p:ext uri="{D42A27DB-BD31-4B8C-83A1-F6EECF244321}">
                <p14:modId xmlns:p14="http://schemas.microsoft.com/office/powerpoint/2010/main" val="40172271"/>
              </p:ext>
            </p:extLst>
          </p:nvPr>
        </p:nvGraphicFramePr>
        <p:xfrm>
          <a:off x="5432251" y="1825625"/>
          <a:ext cx="6222682" cy="4894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Bent-Up 7">
            <a:extLst>
              <a:ext uri="{FF2B5EF4-FFF2-40B4-BE49-F238E27FC236}">
                <a16:creationId xmlns:a16="http://schemas.microsoft.com/office/drawing/2014/main" id="{79086F38-D174-F030-9567-2D6E1FE1CBFA}"/>
              </a:ext>
            </a:extLst>
          </p:cNvPr>
          <p:cNvSpPr/>
          <p:nvPr/>
        </p:nvSpPr>
        <p:spPr>
          <a:xfrm flipV="1">
            <a:off x="3991267" y="2865092"/>
            <a:ext cx="3592736" cy="290482"/>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88F4E6AD-97FF-063A-3514-2FEC01A50542}"/>
              </a:ext>
            </a:extLst>
          </p:cNvPr>
          <p:cNvSpPr/>
          <p:nvPr/>
        </p:nvSpPr>
        <p:spPr>
          <a:xfrm>
            <a:off x="2916015" y="4017136"/>
            <a:ext cx="832475" cy="576714"/>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Tree>
    <p:extLst>
      <p:ext uri="{BB962C8B-B14F-4D97-AF65-F5344CB8AC3E}">
        <p14:creationId xmlns:p14="http://schemas.microsoft.com/office/powerpoint/2010/main" val="300059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BB0142A-41F4-6C2C-B80E-44047DABECB7}"/>
              </a:ext>
            </a:extLst>
          </p:cNvPr>
          <p:cNvSpPr/>
          <p:nvPr/>
        </p:nvSpPr>
        <p:spPr>
          <a:xfrm>
            <a:off x="503640" y="6134904"/>
            <a:ext cx="7206007" cy="2889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22F123D1-420B-3791-3573-3176CD926C6F}"/>
              </a:ext>
            </a:extLst>
          </p:cNvPr>
          <p:cNvSpPr>
            <a:spLocks noGrp="1"/>
          </p:cNvSpPr>
          <p:nvPr>
            <p:ph type="title"/>
          </p:nvPr>
        </p:nvSpPr>
        <p:spPr/>
        <p:txBody>
          <a:bodyPr>
            <a:normAutofit/>
          </a:bodyPr>
          <a:lstStyle/>
          <a:p>
            <a:r>
              <a:rPr lang="en-IN" sz="2900" dirty="0"/>
              <a:t>Methods Overview</a:t>
            </a:r>
          </a:p>
        </p:txBody>
      </p:sp>
      <p:sp>
        <p:nvSpPr>
          <p:cNvPr id="3" name="Content Placeholder 2">
            <a:extLst>
              <a:ext uri="{FF2B5EF4-FFF2-40B4-BE49-F238E27FC236}">
                <a16:creationId xmlns:a16="http://schemas.microsoft.com/office/drawing/2014/main" id="{D2E81B66-CD50-2414-93C5-53E84B6D2443}"/>
              </a:ext>
            </a:extLst>
          </p:cNvPr>
          <p:cNvSpPr>
            <a:spLocks noGrp="1"/>
          </p:cNvSpPr>
          <p:nvPr>
            <p:ph idx="1"/>
          </p:nvPr>
        </p:nvSpPr>
        <p:spPr>
          <a:xfrm>
            <a:off x="735106" y="3783583"/>
            <a:ext cx="4716585" cy="2208498"/>
          </a:xfrm>
        </p:spPr>
        <p:txBody>
          <a:bodyPr>
            <a:normAutofit/>
          </a:bodyPr>
          <a:lstStyle/>
          <a:p>
            <a:r>
              <a:rPr lang="en-IN" sz="2000" dirty="0"/>
              <a:t>A total of four methods were tried out.</a:t>
            </a:r>
          </a:p>
          <a:p>
            <a:r>
              <a:rPr lang="en-IN" sz="2000" dirty="0"/>
              <a:t>Method 1 had no significant learning.</a:t>
            </a:r>
          </a:p>
          <a:p>
            <a:r>
              <a:rPr lang="en-IN" sz="2000" dirty="0"/>
              <a:t>Detail discussion of Method 4 follows.</a:t>
            </a:r>
          </a:p>
          <a:p>
            <a:r>
              <a:rPr lang="en-IN" sz="2000" dirty="0"/>
              <a:t>Predictions are compared with nominal curves obtained from Yamashita method.</a:t>
            </a:r>
          </a:p>
          <a:p>
            <a:endParaRPr lang="en-IN" sz="2000" dirty="0"/>
          </a:p>
        </p:txBody>
      </p:sp>
      <p:sp>
        <p:nvSpPr>
          <p:cNvPr id="4" name="Date Placeholder 3">
            <a:extLst>
              <a:ext uri="{FF2B5EF4-FFF2-40B4-BE49-F238E27FC236}">
                <a16:creationId xmlns:a16="http://schemas.microsoft.com/office/drawing/2014/main" id="{F09E1400-8C83-F3E0-71CA-3B784442BF8C}"/>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BA8E0ABD-5048-BBDD-68B0-FFF533EBEA46}"/>
              </a:ext>
            </a:extLst>
          </p:cNvPr>
          <p:cNvSpPr>
            <a:spLocks noGrp="1"/>
          </p:cNvSpPr>
          <p:nvPr>
            <p:ph type="sldNum" sz="quarter" idx="12"/>
          </p:nvPr>
        </p:nvSpPr>
        <p:spPr/>
        <p:txBody>
          <a:bodyPr/>
          <a:lstStyle/>
          <a:p>
            <a:fld id="{EECF65F8-F24C-4BCD-B573-6D272FD28F94}" type="slidenum">
              <a:rPr lang="en-GB" smtClean="0"/>
              <a:t>10</a:t>
            </a:fld>
            <a:endParaRPr lang="en-GB" dirty="0"/>
          </a:p>
        </p:txBody>
      </p:sp>
      <p:grpSp>
        <p:nvGrpSpPr>
          <p:cNvPr id="14" name="Group 13">
            <a:extLst>
              <a:ext uri="{FF2B5EF4-FFF2-40B4-BE49-F238E27FC236}">
                <a16:creationId xmlns:a16="http://schemas.microsoft.com/office/drawing/2014/main" id="{7B5B283D-56F3-9269-B513-8D170FA8C9DB}"/>
              </a:ext>
            </a:extLst>
          </p:cNvPr>
          <p:cNvGrpSpPr/>
          <p:nvPr/>
        </p:nvGrpSpPr>
        <p:grpSpPr>
          <a:xfrm>
            <a:off x="1199091" y="2033007"/>
            <a:ext cx="2104933" cy="1770268"/>
            <a:chOff x="443345" y="2008095"/>
            <a:chExt cx="1967563" cy="1517540"/>
          </a:xfrm>
        </p:grpSpPr>
        <p:sp>
          <p:nvSpPr>
            <p:cNvPr id="6" name="Rectangle: Rounded Corners 5">
              <a:extLst>
                <a:ext uri="{FF2B5EF4-FFF2-40B4-BE49-F238E27FC236}">
                  <a16:creationId xmlns:a16="http://schemas.microsoft.com/office/drawing/2014/main" id="{F3CCAD33-020F-06A6-27E2-4A68E610403F}"/>
                </a:ext>
              </a:extLst>
            </p:cNvPr>
            <p:cNvSpPr/>
            <p:nvPr/>
          </p:nvSpPr>
          <p:spPr>
            <a:xfrm>
              <a:off x="443345" y="2008095"/>
              <a:ext cx="1967563" cy="119678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IN" sz="1400" dirty="0">
                <a:latin typeface="Arial" panose="020B0604020202020204" pitchFamily="34" charset="0"/>
                <a:cs typeface="Arial" panose="020B0604020202020204" pitchFamily="34" charset="0"/>
              </a:endParaRPr>
            </a:p>
            <a:p>
              <a:pPr marL="285750" indent="-285750" algn="ctr">
                <a:buFont typeface="Arial" panose="020B0604020202020204" pitchFamily="34" charset="0"/>
                <a:buChar char="•"/>
              </a:pPr>
              <a:endParaRPr lang="en-IN" sz="1400" dirty="0"/>
            </a:p>
            <a:p>
              <a:pPr algn="ctr"/>
              <a:br>
                <a:rPr lang="en-IN" dirty="0"/>
              </a:br>
              <a:endParaRPr lang="en-IN" dirty="0"/>
            </a:p>
          </p:txBody>
        </p:sp>
        <p:sp>
          <p:nvSpPr>
            <p:cNvPr id="7" name="TextBox 6">
              <a:extLst>
                <a:ext uri="{FF2B5EF4-FFF2-40B4-BE49-F238E27FC236}">
                  <a16:creationId xmlns:a16="http://schemas.microsoft.com/office/drawing/2014/main" id="{F279EFB0-AF83-984F-A143-DD9ED5BC7013}"/>
                </a:ext>
              </a:extLst>
            </p:cNvPr>
            <p:cNvSpPr txBox="1"/>
            <p:nvPr/>
          </p:nvSpPr>
          <p:spPr>
            <a:xfrm>
              <a:off x="546440" y="2140640"/>
              <a:ext cx="1847446"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Method 1</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Scatter points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Too random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 learning</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Penalizing rewards</a:t>
              </a:r>
            </a:p>
          </p:txBody>
        </p:sp>
      </p:grpSp>
      <p:grpSp>
        <p:nvGrpSpPr>
          <p:cNvPr id="15" name="Group 14">
            <a:extLst>
              <a:ext uri="{FF2B5EF4-FFF2-40B4-BE49-F238E27FC236}">
                <a16:creationId xmlns:a16="http://schemas.microsoft.com/office/drawing/2014/main" id="{9D0CC7DE-6088-FD0D-4AB4-B68E738DEB06}"/>
              </a:ext>
            </a:extLst>
          </p:cNvPr>
          <p:cNvGrpSpPr/>
          <p:nvPr/>
        </p:nvGrpSpPr>
        <p:grpSpPr>
          <a:xfrm>
            <a:off x="4965347" y="2055701"/>
            <a:ext cx="2104932" cy="1384893"/>
            <a:chOff x="2890710" y="2008095"/>
            <a:chExt cx="1967563" cy="1196787"/>
          </a:xfrm>
        </p:grpSpPr>
        <p:sp>
          <p:nvSpPr>
            <p:cNvPr id="8" name="Rectangle: Rounded Corners 7">
              <a:extLst>
                <a:ext uri="{FF2B5EF4-FFF2-40B4-BE49-F238E27FC236}">
                  <a16:creationId xmlns:a16="http://schemas.microsoft.com/office/drawing/2014/main" id="{A4D3AE14-EFDB-510E-22F8-B984845E06BC}"/>
                </a:ext>
              </a:extLst>
            </p:cNvPr>
            <p:cNvSpPr/>
            <p:nvPr/>
          </p:nvSpPr>
          <p:spPr>
            <a:xfrm>
              <a:off x="2890710" y="2008095"/>
              <a:ext cx="1967563" cy="119678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IN" sz="1400" dirty="0">
                <a:latin typeface="Arial" panose="020B0604020202020204" pitchFamily="34" charset="0"/>
                <a:cs typeface="Arial" panose="020B0604020202020204" pitchFamily="34" charset="0"/>
              </a:endParaRPr>
            </a:p>
            <a:p>
              <a:pPr marL="285750" indent="-285750" algn="ctr">
                <a:buFont typeface="Arial" panose="020B0604020202020204" pitchFamily="34" charset="0"/>
                <a:buChar char="•"/>
              </a:pPr>
              <a:endParaRPr lang="en-IN" sz="1400" dirty="0"/>
            </a:p>
            <a:p>
              <a:pPr algn="ctr"/>
              <a:br>
                <a:rPr lang="en-IN" dirty="0"/>
              </a:br>
              <a:endParaRPr lang="en-IN"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B35D48-F7FE-0049-1BB0-6F9FD29A1D39}"/>
                    </a:ext>
                  </a:extLst>
                </p:cNvPr>
                <p:cNvSpPr txBox="1"/>
                <p:nvPr/>
              </p:nvSpPr>
              <p:spPr>
                <a:xfrm>
                  <a:off x="2993805" y="2140640"/>
                  <a:ext cx="1864468" cy="101069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Method 2</a:t>
                  </a:r>
                </a:p>
                <a:p>
                  <a:pPr marL="285750" indent="-285750">
                    <a:buFont typeface="Arial" panose="020B0604020202020204" pitchFamily="34" charset="0"/>
                    <a:buChar char="•"/>
                  </a:pPr>
                  <a14:m>
                    <m:oMath xmlns:m="http://schemas.openxmlformats.org/officeDocument/2006/math">
                      <m:sSup>
                        <m:sSupPr>
                          <m:ctrlPr>
                            <a:rPr lang="en-US" sz="1400" i="1" smtClean="0">
                              <a:latin typeface="Cambria Math" panose="02040503050406030204" pitchFamily="18" charset="0"/>
                              <a:cs typeface="Arial" panose="020B0604020202020204" pitchFamily="34" charset="0"/>
                            </a:rPr>
                          </m:ctrlPr>
                        </m:sSupPr>
                        <m:e>
                          <m:r>
                            <a:rPr lang="en-US" sz="1400" i="1" smtClean="0">
                              <a:latin typeface="Cambria Math" panose="02040503050406030204" pitchFamily="18" charset="0"/>
                              <a:cs typeface="Arial" panose="020B0604020202020204" pitchFamily="34" charset="0"/>
                            </a:rPr>
                            <m:t>𝑒</m:t>
                          </m:r>
                        </m:e>
                        <m:sup>
                          <m:r>
                            <a:rPr lang="en-US" sz="1400" i="1" smtClean="0">
                              <a:latin typeface="Cambria Math" panose="02040503050406030204" pitchFamily="18" charset="0"/>
                              <a:cs typeface="Arial" panose="020B0604020202020204" pitchFamily="34" charset="0"/>
                            </a:rPr>
                            <m:t>−</m:t>
                          </m:r>
                          <m:r>
                            <a:rPr lang="en-IN" sz="1400" b="0" i="1" smtClean="0">
                              <a:latin typeface="Cambria Math" panose="02040503050406030204" pitchFamily="18" charset="0"/>
                              <a:cs typeface="Arial" panose="020B0604020202020204" pitchFamily="34" charset="0"/>
                            </a:rPr>
                            <m:t>𝑥</m:t>
                          </m:r>
                        </m:sup>
                      </m:sSup>
                    </m:oMath>
                  </a14:m>
                  <a:r>
                    <a:rPr lang="en-US" sz="1400" dirty="0">
                      <a:latin typeface="Arial" panose="020B0604020202020204" pitchFamily="34" charset="0"/>
                      <a:cs typeface="Arial" panose="020B0604020202020204" pitchFamily="34" charset="0"/>
                    </a:rPr>
                    <a:t> function</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Positive rewards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Some learning</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Less flexible</a:t>
                  </a:r>
                </a:p>
              </p:txBody>
            </p:sp>
          </mc:Choice>
          <mc:Fallback xmlns="">
            <p:sp>
              <p:nvSpPr>
                <p:cNvPr id="9" name="TextBox 8">
                  <a:extLst>
                    <a:ext uri="{FF2B5EF4-FFF2-40B4-BE49-F238E27FC236}">
                      <a16:creationId xmlns:a16="http://schemas.microsoft.com/office/drawing/2014/main" id="{3BB35D48-F7FE-0049-1BB0-6F9FD29A1D39}"/>
                    </a:ext>
                  </a:extLst>
                </p:cNvPr>
                <p:cNvSpPr txBox="1">
                  <a:spLocks noRot="1" noChangeAspect="1" noMove="1" noResize="1" noEditPoints="1" noAdjustHandles="1" noChangeArrowheads="1" noChangeShapeType="1" noTextEdit="1"/>
                </p:cNvSpPr>
                <p:nvPr/>
              </p:nvSpPr>
              <p:spPr>
                <a:xfrm>
                  <a:off x="2993805" y="2140640"/>
                  <a:ext cx="1864468" cy="1010694"/>
                </a:xfrm>
                <a:prstGeom prst="rect">
                  <a:avLst/>
                </a:prstGeom>
                <a:blipFill>
                  <a:blip r:embed="rId2"/>
                  <a:stretch>
                    <a:fillRect l="-917" t="-521" b="-4688"/>
                  </a:stretch>
                </a:blipFill>
              </p:spPr>
              <p:txBody>
                <a:bodyPr/>
                <a:lstStyle/>
                <a:p>
                  <a:r>
                    <a:rPr lang="en-IN">
                      <a:noFill/>
                    </a:rPr>
                    <a:t> </a:t>
                  </a:r>
                </a:p>
              </p:txBody>
            </p:sp>
          </mc:Fallback>
        </mc:AlternateContent>
      </p:grpSp>
      <p:grpSp>
        <p:nvGrpSpPr>
          <p:cNvPr id="16" name="Group 15">
            <a:extLst>
              <a:ext uri="{FF2B5EF4-FFF2-40B4-BE49-F238E27FC236}">
                <a16:creationId xmlns:a16="http://schemas.microsoft.com/office/drawing/2014/main" id="{36F9B8AD-2361-E3CA-9B07-DEC957417198}"/>
              </a:ext>
            </a:extLst>
          </p:cNvPr>
          <p:cNvGrpSpPr/>
          <p:nvPr/>
        </p:nvGrpSpPr>
        <p:grpSpPr>
          <a:xfrm>
            <a:off x="8267067" y="2021803"/>
            <a:ext cx="2199803" cy="1407197"/>
            <a:chOff x="5500038" y="2008095"/>
            <a:chExt cx="1967563" cy="1196787"/>
          </a:xfrm>
        </p:grpSpPr>
        <p:sp>
          <p:nvSpPr>
            <p:cNvPr id="10" name="Rectangle: Rounded Corners 9">
              <a:extLst>
                <a:ext uri="{FF2B5EF4-FFF2-40B4-BE49-F238E27FC236}">
                  <a16:creationId xmlns:a16="http://schemas.microsoft.com/office/drawing/2014/main" id="{0989D552-BE51-7B60-9D0E-22825B64F84A}"/>
                </a:ext>
              </a:extLst>
            </p:cNvPr>
            <p:cNvSpPr/>
            <p:nvPr/>
          </p:nvSpPr>
          <p:spPr>
            <a:xfrm>
              <a:off x="5500038" y="2008095"/>
              <a:ext cx="1967563" cy="119678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IN" sz="1400" dirty="0">
                <a:latin typeface="Arial" panose="020B0604020202020204" pitchFamily="34" charset="0"/>
                <a:cs typeface="Arial" panose="020B0604020202020204" pitchFamily="34" charset="0"/>
              </a:endParaRPr>
            </a:p>
            <a:p>
              <a:pPr marL="285750" indent="-285750" algn="ctr">
                <a:buFont typeface="Arial" panose="020B0604020202020204" pitchFamily="34" charset="0"/>
                <a:buChar char="•"/>
              </a:pPr>
              <a:endParaRPr lang="en-IN" sz="1400" dirty="0"/>
            </a:p>
            <a:p>
              <a:pPr algn="ctr"/>
              <a:br>
                <a:rPr lang="en-IN" dirty="0"/>
              </a:br>
              <a:endParaRPr lang="en-IN" dirty="0"/>
            </a:p>
          </p:txBody>
        </p:sp>
        <p:sp>
          <p:nvSpPr>
            <p:cNvPr id="11" name="TextBox 10">
              <a:extLst>
                <a:ext uri="{FF2B5EF4-FFF2-40B4-BE49-F238E27FC236}">
                  <a16:creationId xmlns:a16="http://schemas.microsoft.com/office/drawing/2014/main" id="{8C798D15-F3A8-9735-ED0F-C2A04C1B5DFB}"/>
                </a:ext>
              </a:extLst>
            </p:cNvPr>
            <p:cNvSpPr txBox="1"/>
            <p:nvPr/>
          </p:nvSpPr>
          <p:spPr>
            <a:xfrm>
              <a:off x="5603133" y="2140640"/>
              <a:ext cx="1864468" cy="99467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Method 3</a:t>
              </a:r>
            </a:p>
            <a:p>
              <a:pPr marL="285750" indent="-285750">
                <a:buFont typeface="Arial" panose="020B0604020202020204" pitchFamily="34" charset="0"/>
                <a:buChar char="•"/>
              </a:pPr>
              <a:r>
                <a:rPr lang="en-US" sz="1400" dirty="0" err="1">
                  <a:latin typeface="Arial" panose="020B0604020202020204" pitchFamily="34" charset="0"/>
                  <a:cs typeface="Arial" panose="020B0604020202020204" pitchFamily="34" charset="0"/>
                </a:rPr>
                <a:t>Bézier</a:t>
              </a:r>
              <a:r>
                <a:rPr lang="en-US" sz="1400" dirty="0">
                  <a:latin typeface="Arial" panose="020B0604020202020204" pitchFamily="34" charset="0"/>
                  <a:cs typeface="Arial" panose="020B0604020202020204" pitchFamily="34" charset="0"/>
                </a:rPr>
                <a:t> curve</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Better results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Less exploration</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Non-scaled rewards</a:t>
              </a:r>
            </a:p>
          </p:txBody>
        </p:sp>
      </p:grpSp>
      <p:grpSp>
        <p:nvGrpSpPr>
          <p:cNvPr id="17" name="Group 16">
            <a:extLst>
              <a:ext uri="{FF2B5EF4-FFF2-40B4-BE49-F238E27FC236}">
                <a16:creationId xmlns:a16="http://schemas.microsoft.com/office/drawing/2014/main" id="{9ABEAD58-CB54-4DBD-AD93-55B7F3513BE0}"/>
              </a:ext>
            </a:extLst>
          </p:cNvPr>
          <p:cNvGrpSpPr/>
          <p:nvPr/>
        </p:nvGrpSpPr>
        <p:grpSpPr>
          <a:xfrm>
            <a:off x="8372838" y="4694424"/>
            <a:ext cx="2251350" cy="1401935"/>
            <a:chOff x="8109366" y="2008095"/>
            <a:chExt cx="1967563" cy="1196787"/>
          </a:xfrm>
        </p:grpSpPr>
        <p:sp>
          <p:nvSpPr>
            <p:cNvPr id="12" name="Rectangle: Rounded Corners 11">
              <a:extLst>
                <a:ext uri="{FF2B5EF4-FFF2-40B4-BE49-F238E27FC236}">
                  <a16:creationId xmlns:a16="http://schemas.microsoft.com/office/drawing/2014/main" id="{622AF8D0-79B8-C5CA-87A5-0220FED02F5C}"/>
                </a:ext>
              </a:extLst>
            </p:cNvPr>
            <p:cNvSpPr/>
            <p:nvPr/>
          </p:nvSpPr>
          <p:spPr>
            <a:xfrm>
              <a:off x="8109366" y="2008095"/>
              <a:ext cx="1967563" cy="119678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IN" sz="1400" dirty="0">
                <a:latin typeface="Arial" panose="020B0604020202020204" pitchFamily="34" charset="0"/>
                <a:cs typeface="Arial" panose="020B0604020202020204" pitchFamily="34" charset="0"/>
              </a:endParaRPr>
            </a:p>
            <a:p>
              <a:pPr marL="285750" indent="-285750" algn="ctr">
                <a:buFont typeface="Arial" panose="020B0604020202020204" pitchFamily="34" charset="0"/>
                <a:buChar char="•"/>
              </a:pPr>
              <a:endParaRPr lang="en-IN" sz="1400" dirty="0"/>
            </a:p>
            <a:p>
              <a:pPr algn="ctr"/>
              <a:br>
                <a:rPr lang="en-IN" dirty="0"/>
              </a:br>
              <a:endParaRPr lang="en-IN" dirty="0"/>
            </a:p>
          </p:txBody>
        </p:sp>
        <p:sp>
          <p:nvSpPr>
            <p:cNvPr id="13" name="TextBox 12">
              <a:extLst>
                <a:ext uri="{FF2B5EF4-FFF2-40B4-BE49-F238E27FC236}">
                  <a16:creationId xmlns:a16="http://schemas.microsoft.com/office/drawing/2014/main" id="{B42F5D8C-17CC-64B4-0828-4E05C0175290}"/>
                </a:ext>
              </a:extLst>
            </p:cNvPr>
            <p:cNvSpPr txBox="1"/>
            <p:nvPr/>
          </p:nvSpPr>
          <p:spPr>
            <a:xfrm>
              <a:off x="8212461" y="2140640"/>
              <a:ext cx="1864468" cy="814491"/>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Method 4</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Scaled reward</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Exploration boost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Best results</a:t>
              </a:r>
            </a:p>
          </p:txBody>
        </p:sp>
      </p:grpSp>
      <p:sp>
        <p:nvSpPr>
          <p:cNvPr id="18" name="Arrow: Right 17">
            <a:extLst>
              <a:ext uri="{FF2B5EF4-FFF2-40B4-BE49-F238E27FC236}">
                <a16:creationId xmlns:a16="http://schemas.microsoft.com/office/drawing/2014/main" id="{D2C356E6-0227-8A8C-9CB1-3363ECEE05F1}"/>
              </a:ext>
            </a:extLst>
          </p:cNvPr>
          <p:cNvSpPr/>
          <p:nvPr/>
        </p:nvSpPr>
        <p:spPr>
          <a:xfrm rot="5400000">
            <a:off x="9033600" y="3859009"/>
            <a:ext cx="695984" cy="3518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DEEE88-ADFD-ADA6-A639-9F610D153E2C}"/>
              </a:ext>
            </a:extLst>
          </p:cNvPr>
          <p:cNvSpPr txBox="1"/>
          <p:nvPr/>
        </p:nvSpPr>
        <p:spPr>
          <a:xfrm>
            <a:off x="3313815" y="2215200"/>
            <a:ext cx="1792941" cy="523220"/>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Need shape drawing techniques</a:t>
            </a:r>
          </a:p>
        </p:txBody>
      </p:sp>
      <p:sp>
        <p:nvSpPr>
          <p:cNvPr id="20" name="Arrow: Right 19">
            <a:extLst>
              <a:ext uri="{FF2B5EF4-FFF2-40B4-BE49-F238E27FC236}">
                <a16:creationId xmlns:a16="http://schemas.microsoft.com/office/drawing/2014/main" id="{6B12B237-903C-349A-4F22-B75844561180}"/>
              </a:ext>
            </a:extLst>
          </p:cNvPr>
          <p:cNvSpPr/>
          <p:nvPr/>
        </p:nvSpPr>
        <p:spPr>
          <a:xfrm>
            <a:off x="7169242" y="2787022"/>
            <a:ext cx="695984" cy="3518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2DEBC138-8F8E-0076-E628-CAFF2AF2EB21}"/>
              </a:ext>
            </a:extLst>
          </p:cNvPr>
          <p:cNvSpPr txBox="1"/>
          <p:nvPr/>
        </p:nvSpPr>
        <p:spPr>
          <a:xfrm>
            <a:off x="7087717" y="2206473"/>
            <a:ext cx="1093693" cy="523220"/>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Need more flexibility</a:t>
            </a:r>
          </a:p>
        </p:txBody>
      </p:sp>
      <p:sp>
        <p:nvSpPr>
          <p:cNvPr id="22" name="Arrow: Right 21">
            <a:extLst>
              <a:ext uri="{FF2B5EF4-FFF2-40B4-BE49-F238E27FC236}">
                <a16:creationId xmlns:a16="http://schemas.microsoft.com/office/drawing/2014/main" id="{F54B86FF-9EC4-170F-7183-65FF0737EF8C}"/>
              </a:ext>
            </a:extLst>
          </p:cNvPr>
          <p:cNvSpPr/>
          <p:nvPr/>
        </p:nvSpPr>
        <p:spPr>
          <a:xfrm>
            <a:off x="3416737" y="2787022"/>
            <a:ext cx="695984" cy="3518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TextBox 22">
            <a:extLst>
              <a:ext uri="{FF2B5EF4-FFF2-40B4-BE49-F238E27FC236}">
                <a16:creationId xmlns:a16="http://schemas.microsoft.com/office/drawing/2014/main" id="{40747B9E-2803-17C0-588C-6D239166465A}"/>
              </a:ext>
            </a:extLst>
          </p:cNvPr>
          <p:cNvSpPr txBox="1"/>
          <p:nvPr/>
        </p:nvSpPr>
        <p:spPr>
          <a:xfrm>
            <a:off x="7587304" y="3701873"/>
            <a:ext cx="1670557" cy="95410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Need more</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exploration</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scaled reward</a:t>
            </a:r>
          </a:p>
          <a:p>
            <a:endParaRPr lang="en-IN" sz="1400"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2B943066-FD88-DFB4-6E28-A7E101037FF2}"/>
              </a:ext>
            </a:extLst>
          </p:cNvPr>
          <p:cNvSpPr/>
          <p:nvPr/>
        </p:nvSpPr>
        <p:spPr>
          <a:xfrm>
            <a:off x="5687860" y="4953075"/>
            <a:ext cx="1770567" cy="95946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1200" dirty="0">
                <a:solidFill>
                  <a:schemeClr val="tx1"/>
                </a:solidFill>
                <a:latin typeface="Arial" panose="020B0604020202020204" pitchFamily="34" charset="0"/>
                <a:cs typeface="Arial" panose="020B0604020202020204" pitchFamily="34" charset="0"/>
              </a:rPr>
              <a:t>Introduced DDRL</a:t>
            </a:r>
          </a:p>
        </p:txBody>
      </p:sp>
      <p:sp>
        <p:nvSpPr>
          <p:cNvPr id="25" name="Left Brace 24">
            <a:extLst>
              <a:ext uri="{FF2B5EF4-FFF2-40B4-BE49-F238E27FC236}">
                <a16:creationId xmlns:a16="http://schemas.microsoft.com/office/drawing/2014/main" id="{40CFED25-3A90-C565-EC70-03251C5CAD69}"/>
              </a:ext>
            </a:extLst>
          </p:cNvPr>
          <p:cNvSpPr/>
          <p:nvPr/>
        </p:nvSpPr>
        <p:spPr>
          <a:xfrm rot="18495047">
            <a:off x="6430840" y="3143125"/>
            <a:ext cx="1009515" cy="324085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IN"/>
          </a:p>
        </p:txBody>
      </p:sp>
      <p:sp>
        <p:nvSpPr>
          <p:cNvPr id="26" name="Oval 25">
            <a:extLst>
              <a:ext uri="{FF2B5EF4-FFF2-40B4-BE49-F238E27FC236}">
                <a16:creationId xmlns:a16="http://schemas.microsoft.com/office/drawing/2014/main" id="{99F20752-0A8E-D87C-BABB-111F92854B26}"/>
              </a:ext>
            </a:extLst>
          </p:cNvPr>
          <p:cNvSpPr/>
          <p:nvPr/>
        </p:nvSpPr>
        <p:spPr>
          <a:xfrm>
            <a:off x="10682275" y="3493608"/>
            <a:ext cx="1294146" cy="904556"/>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sz="1200" dirty="0">
                <a:solidFill>
                  <a:schemeClr val="tx1"/>
                </a:solidFill>
                <a:latin typeface="Arial" panose="020B0604020202020204" pitchFamily="34" charset="0"/>
                <a:cs typeface="Arial" panose="020B0604020202020204" pitchFamily="34" charset="0"/>
              </a:rPr>
              <a:t>Introduced </a:t>
            </a:r>
            <a:r>
              <a:rPr lang="en-US" sz="1200" kern="1200" dirty="0" err="1">
                <a:solidFill>
                  <a:srgbClr val="000000"/>
                </a:solidFill>
                <a:effectLst/>
                <a:latin typeface="Arial" panose="020B0604020202020204" pitchFamily="34" charset="0"/>
                <a:ea typeface="+mn-ea"/>
                <a:cs typeface="Arial" panose="020B0604020202020204" pitchFamily="34" charset="0"/>
              </a:rPr>
              <a:t>Bézier</a:t>
            </a:r>
            <a:r>
              <a:rPr lang="en-US" sz="1200" kern="1200" dirty="0">
                <a:solidFill>
                  <a:srgbClr val="000000"/>
                </a:solidFill>
                <a:effectLst/>
                <a:latin typeface="Arial" panose="020B0604020202020204" pitchFamily="34" charset="0"/>
                <a:ea typeface="+mn-ea"/>
                <a:cs typeface="Arial" panose="020B0604020202020204" pitchFamily="34" charset="0"/>
              </a:rPr>
              <a:t> Curve</a:t>
            </a:r>
            <a:endParaRPr lang="en-IN" sz="1200" dirty="0">
              <a:solidFill>
                <a:schemeClr val="tx1"/>
              </a:solidFill>
              <a:latin typeface="Arial" panose="020B0604020202020204" pitchFamily="34" charset="0"/>
              <a:cs typeface="Arial" panose="020B0604020202020204" pitchFamily="34" charset="0"/>
            </a:endParaRPr>
          </a:p>
        </p:txBody>
      </p:sp>
      <p:sp>
        <p:nvSpPr>
          <p:cNvPr id="27" name="Left Brace 26">
            <a:extLst>
              <a:ext uri="{FF2B5EF4-FFF2-40B4-BE49-F238E27FC236}">
                <a16:creationId xmlns:a16="http://schemas.microsoft.com/office/drawing/2014/main" id="{88D94238-5F94-9AB7-A5F8-797D5D982525}"/>
              </a:ext>
            </a:extLst>
          </p:cNvPr>
          <p:cNvSpPr/>
          <p:nvPr/>
        </p:nvSpPr>
        <p:spPr>
          <a:xfrm rot="10800000">
            <a:off x="10154184" y="2608729"/>
            <a:ext cx="796686" cy="2674316"/>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IN"/>
          </a:p>
        </p:txBody>
      </p:sp>
      <p:sp>
        <p:nvSpPr>
          <p:cNvPr id="28" name="TextBox 27">
            <a:extLst>
              <a:ext uri="{FF2B5EF4-FFF2-40B4-BE49-F238E27FC236}">
                <a16:creationId xmlns:a16="http://schemas.microsoft.com/office/drawing/2014/main" id="{4E2C7977-D3F8-18A5-2C2B-13857EBDFA29}"/>
              </a:ext>
            </a:extLst>
          </p:cNvPr>
          <p:cNvSpPr txBox="1"/>
          <p:nvPr/>
        </p:nvSpPr>
        <p:spPr>
          <a:xfrm>
            <a:off x="447406" y="6116407"/>
            <a:ext cx="7734004" cy="338554"/>
          </a:xfrm>
          <a:prstGeom prst="rect">
            <a:avLst/>
          </a:prstGeom>
          <a:noFill/>
        </p:spPr>
        <p:txBody>
          <a:bodyPr wrap="square">
            <a:spAutoFit/>
          </a:bodyPr>
          <a:lstStyle/>
          <a:p>
            <a:r>
              <a:rPr lang="en-IN" sz="800" dirty="0">
                <a:latin typeface="Arial" panose="020B0604020202020204" pitchFamily="34" charset="0"/>
                <a:cs typeface="Arial" panose="020B0604020202020204" pitchFamily="34" charset="0"/>
              </a:rPr>
              <a:t>Paper source: E. Yamashita, H. Ohashi, and K. </a:t>
            </a:r>
            <a:r>
              <a:rPr lang="en-IN" sz="800" dirty="0" err="1">
                <a:latin typeface="Arial" panose="020B0604020202020204" pitchFamily="34" charset="0"/>
                <a:cs typeface="Arial" panose="020B0604020202020204" pitchFamily="34" charset="0"/>
              </a:rPr>
              <a:t>Atsuki</a:t>
            </a:r>
            <a:r>
              <a:rPr lang="en-IN" sz="800" dirty="0">
                <a:latin typeface="Arial" panose="020B0604020202020204" pitchFamily="34" charset="0"/>
                <a:cs typeface="Arial" panose="020B0604020202020204" pitchFamily="34" charset="0"/>
              </a:rPr>
              <a:t>, “Characterization of microstrip lines near a substrate edge and design formulas of edge-compensated microstrip lines (</a:t>
            </a:r>
            <a:r>
              <a:rPr lang="en-IN" sz="800" dirty="0" err="1">
                <a:latin typeface="Arial" panose="020B0604020202020204" pitchFamily="34" charset="0"/>
                <a:cs typeface="Arial" panose="020B0604020202020204" pitchFamily="34" charset="0"/>
              </a:rPr>
              <a:t>mmics</a:t>
            </a:r>
            <a:r>
              <a:rPr lang="en-IN" sz="800" dirty="0">
                <a:latin typeface="Arial" panose="020B0604020202020204" pitchFamily="34" charset="0"/>
                <a:cs typeface="Arial" panose="020B0604020202020204" pitchFamily="34" charset="0"/>
              </a:rPr>
              <a:t>),” IEEE transactions on microwave theory and techniques, vol. 37, no. 5, pp. 890–896, 1989.</a:t>
            </a:r>
          </a:p>
        </p:txBody>
      </p:sp>
    </p:spTree>
    <p:extLst>
      <p:ext uri="{BB962C8B-B14F-4D97-AF65-F5344CB8AC3E}">
        <p14:creationId xmlns:p14="http://schemas.microsoft.com/office/powerpoint/2010/main" val="2153154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US" sz="2900" dirty="0"/>
              <a:t>Degenerate</a:t>
            </a:r>
            <a:r>
              <a:rPr lang="en-US" sz="3200" dirty="0"/>
              <a:t> </a:t>
            </a:r>
            <a:r>
              <a:rPr lang="en-IN" sz="2900" dirty="0"/>
              <a:t>Deep Reinforcement Learning</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p:txBody>
          <a:bodyPr>
            <a:normAutofit/>
          </a:bodyPr>
          <a:lstStyle/>
          <a:p>
            <a:r>
              <a:rPr lang="en-IN" sz="2000" dirty="0"/>
              <a:t>As in Method 1 a normal MDP(Markov’s Decision Process) type DRL approach does not work.</a:t>
            </a:r>
          </a:p>
          <a:p>
            <a:r>
              <a:rPr lang="en-IN" sz="2000" dirty="0"/>
              <a:t>Shape optimisation do not have intermediate state.</a:t>
            </a:r>
          </a:p>
          <a:p>
            <a:r>
              <a:rPr lang="en-US" sz="2000" dirty="0"/>
              <a:t>In the paper mentioned below researchers have introduced a new approach to how deep reinforcement learning is implemented called Degenerate Deep Reinforcement Learning (single-step DRL).</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11</a:t>
            </a:fld>
            <a:endParaRPr lang="en-GB" dirty="0"/>
          </a:p>
        </p:txBody>
      </p:sp>
      <p:pic>
        <p:nvPicPr>
          <p:cNvPr id="20" name="Picture 19">
            <a:extLst>
              <a:ext uri="{FF2B5EF4-FFF2-40B4-BE49-F238E27FC236}">
                <a16:creationId xmlns:a16="http://schemas.microsoft.com/office/drawing/2014/main" id="{E2282F54-0D1C-9024-5FFA-115D816DE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140" y="4356848"/>
            <a:ext cx="6772347" cy="1144040"/>
          </a:xfrm>
          <a:prstGeom prst="rect">
            <a:avLst/>
          </a:prstGeom>
        </p:spPr>
      </p:pic>
      <p:sp>
        <p:nvSpPr>
          <p:cNvPr id="7" name="Rectangle 6">
            <a:extLst>
              <a:ext uri="{FF2B5EF4-FFF2-40B4-BE49-F238E27FC236}">
                <a16:creationId xmlns:a16="http://schemas.microsoft.com/office/drawing/2014/main" id="{E691E457-A897-FA97-F2CE-D109F7E9D522}"/>
              </a:ext>
            </a:extLst>
          </p:cNvPr>
          <p:cNvSpPr/>
          <p:nvPr/>
        </p:nvSpPr>
        <p:spPr>
          <a:xfrm>
            <a:off x="507851" y="6280405"/>
            <a:ext cx="9989820" cy="171392"/>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205175D-5B27-E52A-5C8F-491499CDDCBA}"/>
              </a:ext>
            </a:extLst>
          </p:cNvPr>
          <p:cNvSpPr txBox="1"/>
          <p:nvPr/>
        </p:nvSpPr>
        <p:spPr>
          <a:xfrm>
            <a:off x="443345" y="6280405"/>
            <a:ext cx="10534604" cy="203133"/>
          </a:xfrm>
          <a:prstGeom prst="rect">
            <a:avLst/>
          </a:prstGeom>
          <a:noFill/>
        </p:spPr>
        <p:txBody>
          <a:bodyPr wrap="square" rtlCol="0">
            <a:spAutoFit/>
          </a:bodyPr>
          <a:lstStyle/>
          <a:p>
            <a:pPr algn="l" rtl="0" eaLnBrk="1" latinLnBrk="0" hangingPunct="1">
              <a:lnSpc>
                <a:spcPct val="90000"/>
              </a:lnSpc>
              <a:spcBef>
                <a:spcPts val="1000"/>
              </a:spcBef>
              <a:spcAft>
                <a:spcPts val="0"/>
              </a:spcAft>
              <a:buClrTx/>
              <a:buSzPts val="2000"/>
            </a:pPr>
            <a:r>
              <a:rPr lang="en-US" sz="800" kern="1200" dirty="0">
                <a:solidFill>
                  <a:srgbClr val="000000"/>
                </a:solidFill>
                <a:effectLst/>
                <a:latin typeface="Arial" panose="020B0604020202020204" pitchFamily="34" charset="0"/>
                <a:ea typeface="+mn-ea"/>
                <a:cs typeface="Arial" panose="020B0604020202020204" pitchFamily="34" charset="0"/>
              </a:rPr>
              <a:t>Paper source: H. Ghraieb, J. </a:t>
            </a:r>
            <a:r>
              <a:rPr lang="en-US" sz="800" kern="1200" dirty="0" err="1">
                <a:solidFill>
                  <a:srgbClr val="000000"/>
                </a:solidFill>
                <a:effectLst/>
                <a:latin typeface="Arial" panose="020B0604020202020204" pitchFamily="34" charset="0"/>
                <a:ea typeface="+mn-ea"/>
                <a:cs typeface="Arial" panose="020B0604020202020204" pitchFamily="34" charset="0"/>
              </a:rPr>
              <a:t>Viquerat</a:t>
            </a:r>
            <a:r>
              <a:rPr lang="en-US" sz="800" kern="1200" dirty="0">
                <a:solidFill>
                  <a:srgbClr val="000000"/>
                </a:solidFill>
                <a:effectLst/>
                <a:latin typeface="Arial" panose="020B0604020202020204" pitchFamily="34" charset="0"/>
                <a:ea typeface="+mn-ea"/>
                <a:cs typeface="Arial" panose="020B0604020202020204" pitchFamily="34" charset="0"/>
              </a:rPr>
              <a:t>, A. </a:t>
            </a:r>
            <a:r>
              <a:rPr lang="en-US" sz="800" kern="1200" dirty="0" err="1">
                <a:solidFill>
                  <a:srgbClr val="000000"/>
                </a:solidFill>
                <a:effectLst/>
                <a:latin typeface="Arial" panose="020B0604020202020204" pitchFamily="34" charset="0"/>
                <a:ea typeface="+mn-ea"/>
                <a:cs typeface="Arial" panose="020B0604020202020204" pitchFamily="34" charset="0"/>
              </a:rPr>
              <a:t>Larcher</a:t>
            </a:r>
            <a:r>
              <a:rPr lang="en-US" sz="800" kern="1200" dirty="0">
                <a:solidFill>
                  <a:srgbClr val="000000"/>
                </a:solidFill>
                <a:effectLst/>
                <a:latin typeface="Arial" panose="020B0604020202020204" pitchFamily="34" charset="0"/>
                <a:ea typeface="+mn-ea"/>
                <a:cs typeface="Arial" panose="020B0604020202020204" pitchFamily="34" charset="0"/>
              </a:rPr>
              <a:t>, P. </a:t>
            </a:r>
            <a:r>
              <a:rPr lang="en-US" sz="800" kern="1200" dirty="0" err="1">
                <a:solidFill>
                  <a:srgbClr val="000000"/>
                </a:solidFill>
                <a:effectLst/>
                <a:latin typeface="Arial" panose="020B0604020202020204" pitchFamily="34" charset="0"/>
                <a:ea typeface="+mn-ea"/>
                <a:cs typeface="Arial" panose="020B0604020202020204" pitchFamily="34" charset="0"/>
              </a:rPr>
              <a:t>Meliga</a:t>
            </a:r>
            <a:r>
              <a:rPr lang="en-US" sz="800" kern="1200" dirty="0">
                <a:solidFill>
                  <a:srgbClr val="000000"/>
                </a:solidFill>
                <a:effectLst/>
                <a:latin typeface="Arial" panose="020B0604020202020204" pitchFamily="34" charset="0"/>
                <a:ea typeface="+mn-ea"/>
                <a:cs typeface="Arial" panose="020B0604020202020204" pitchFamily="34" charset="0"/>
              </a:rPr>
              <a:t>, and E. </a:t>
            </a:r>
            <a:r>
              <a:rPr lang="en-US" sz="800" kern="1200" dirty="0" err="1">
                <a:solidFill>
                  <a:srgbClr val="000000"/>
                </a:solidFill>
                <a:effectLst/>
                <a:latin typeface="Arial" panose="020B0604020202020204" pitchFamily="34" charset="0"/>
                <a:ea typeface="+mn-ea"/>
                <a:cs typeface="Arial" panose="020B0604020202020204" pitchFamily="34" charset="0"/>
              </a:rPr>
              <a:t>Hachem</a:t>
            </a:r>
            <a:r>
              <a:rPr lang="en-US" sz="800" kern="1200" dirty="0">
                <a:solidFill>
                  <a:srgbClr val="000000"/>
                </a:solidFill>
                <a:effectLst/>
                <a:latin typeface="Arial" panose="020B0604020202020204" pitchFamily="34" charset="0"/>
                <a:ea typeface="+mn-ea"/>
                <a:cs typeface="Arial" panose="020B0604020202020204" pitchFamily="34" charset="0"/>
              </a:rPr>
              <a:t>, “Single-step deep reinforcement learning for two-and three-dimensional optimal shape design,” AIP Advances, vol. 12, no. 8, p. 110080, 2022</a:t>
            </a:r>
            <a:endParaRPr lang="en-IN" sz="800" dirty="0">
              <a:effectLst/>
            </a:endParaRPr>
          </a:p>
        </p:txBody>
      </p:sp>
      <p:pic>
        <p:nvPicPr>
          <p:cNvPr id="8" name="Picture 7">
            <a:extLst>
              <a:ext uri="{FF2B5EF4-FFF2-40B4-BE49-F238E27FC236}">
                <a16:creationId xmlns:a16="http://schemas.microsoft.com/office/drawing/2014/main" id="{541C0617-64AD-6BBE-47BC-BF954CD0CB76}"/>
              </a:ext>
            </a:extLst>
          </p:cNvPr>
          <p:cNvPicPr>
            <a:picLocks noChangeAspect="1"/>
          </p:cNvPicPr>
          <p:nvPr/>
        </p:nvPicPr>
        <p:blipFill>
          <a:blip r:embed="rId3">
            <a:extLst>
              <a:ext uri="{28A0092B-C50C-407E-A947-70E740481C1C}">
                <a14:useLocalDpi xmlns:a14="http://schemas.microsoft.com/office/drawing/2010/main" val="0"/>
              </a:ext>
            </a:extLst>
          </a:blip>
          <a:srcRect b="15616"/>
          <a:stretch/>
        </p:blipFill>
        <p:spPr>
          <a:xfrm>
            <a:off x="7541487" y="3831315"/>
            <a:ext cx="4309289" cy="1852310"/>
          </a:xfrm>
          <a:prstGeom prst="rect">
            <a:avLst/>
          </a:prstGeom>
        </p:spPr>
      </p:pic>
      <p:sp>
        <p:nvSpPr>
          <p:cNvPr id="9" name="TextBox 8">
            <a:extLst>
              <a:ext uri="{FF2B5EF4-FFF2-40B4-BE49-F238E27FC236}">
                <a16:creationId xmlns:a16="http://schemas.microsoft.com/office/drawing/2014/main" id="{1A36F7F7-3DF0-3B28-C7F6-1A02900BAAAE}"/>
              </a:ext>
            </a:extLst>
          </p:cNvPr>
          <p:cNvSpPr txBox="1"/>
          <p:nvPr/>
        </p:nvSpPr>
        <p:spPr>
          <a:xfrm>
            <a:off x="8817590" y="5670178"/>
            <a:ext cx="175708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Observation Space</a:t>
            </a:r>
            <a:endParaRPr lang="en-IN" sz="1400" dirty="0"/>
          </a:p>
        </p:txBody>
      </p:sp>
    </p:spTree>
    <p:extLst>
      <p:ext uri="{BB962C8B-B14F-4D97-AF65-F5344CB8AC3E}">
        <p14:creationId xmlns:p14="http://schemas.microsoft.com/office/powerpoint/2010/main" val="3616274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B190471-9E98-9C16-F4A1-57390F396683}"/>
              </a:ext>
            </a:extLst>
          </p:cNvPr>
          <p:cNvSpPr/>
          <p:nvPr/>
        </p:nvSpPr>
        <p:spPr>
          <a:xfrm>
            <a:off x="443345" y="6256434"/>
            <a:ext cx="5078914" cy="21544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Cubic </a:t>
            </a:r>
            <a:r>
              <a:rPr lang="en-IN" sz="2900" dirty="0" err="1"/>
              <a:t>Bézier</a:t>
            </a:r>
            <a:r>
              <a:rPr lang="en-IN" sz="2900" dirty="0"/>
              <a:t>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7915835" y="1423572"/>
                <a:ext cx="3832819" cy="4351338"/>
              </a:xfrm>
            </p:spPr>
            <p:txBody>
              <a:bodyPr>
                <a:normAutofit/>
              </a:bodyPr>
              <a:lstStyle/>
              <a:p>
                <a:r>
                  <a:rPr lang="en-US" sz="2000" dirty="0"/>
                  <a:t>Continuing with </a:t>
                </a:r>
                <a:r>
                  <a:rPr lang="en-US" sz="2000" dirty="0" err="1"/>
                  <a:t>Degenrate</a:t>
                </a:r>
                <a:r>
                  <a:rPr lang="en-US" sz="2000" dirty="0"/>
                  <a:t> DRL approach.</a:t>
                </a:r>
              </a:p>
              <a:p>
                <a14:m>
                  <m:oMath xmlns:m="http://schemas.openxmlformats.org/officeDocument/2006/math">
                    <m:sSup>
                      <m:sSupPr>
                        <m:ctrlPr>
                          <a:rPr lang="en-US" sz="2000" i="1" smtClean="0">
                            <a:latin typeface="Cambria Math" panose="02040503050406030204" pitchFamily="18" charset="0"/>
                          </a:rPr>
                        </m:ctrlPr>
                      </m:sSupPr>
                      <m:e>
                        <m:r>
                          <a:rPr lang="en-IN" sz="2000" b="0" i="1" smtClean="0">
                            <a:latin typeface="Cambria Math" panose="02040503050406030204" pitchFamily="18" charset="0"/>
                          </a:rPr>
                          <m:t>𝑒</m:t>
                        </m:r>
                      </m:e>
                      <m:sup>
                        <m:r>
                          <a:rPr lang="en-IN" sz="2000" b="0" i="1" smtClean="0">
                            <a:latin typeface="Cambria Math" panose="02040503050406030204" pitchFamily="18" charset="0"/>
                          </a:rPr>
                          <m:t>−</m:t>
                        </m:r>
                        <m:r>
                          <a:rPr lang="en-IN" sz="2000" b="0" i="1" smtClean="0">
                            <a:latin typeface="Cambria Math" panose="02040503050406030204" pitchFamily="18" charset="0"/>
                          </a:rPr>
                          <m:t>𝑥</m:t>
                        </m:r>
                      </m:sup>
                    </m:sSup>
                  </m:oMath>
                </a14:m>
                <a:r>
                  <a:rPr lang="en-US" sz="2000" dirty="0"/>
                  <a:t> is a fixed shape and lacks flexibility.</a:t>
                </a:r>
              </a:p>
              <a:p>
                <a:r>
                  <a:rPr lang="en-US" sz="2000" dirty="0"/>
                  <a:t>Proposed shape drawing technique for better flexibility: </a:t>
                </a:r>
                <a:r>
                  <a:rPr lang="en-IN" sz="2000" dirty="0"/>
                  <a:t>Cubic </a:t>
                </a:r>
                <a:r>
                  <a:rPr lang="en-US" sz="2000" dirty="0" err="1"/>
                  <a:t>Bézier</a:t>
                </a:r>
                <a:r>
                  <a:rPr lang="en-IN" sz="2000" dirty="0"/>
                  <a:t> Curve.</a:t>
                </a:r>
              </a:p>
              <a:p>
                <a:r>
                  <a:rPr lang="en-IN" sz="2000" dirty="0"/>
                  <a:t>In total four control points (two fixed, two free) </a:t>
                </a:r>
                <a14:m>
                  <m:oMath xmlns:m="http://schemas.openxmlformats.org/officeDocument/2006/math">
                    <m:r>
                      <a:rPr lang="en-IN" sz="2000" b="0" i="1" smtClean="0">
                        <a:latin typeface="Cambria Math" panose="02040503050406030204" pitchFamily="18" charset="0"/>
                      </a:rPr>
                      <m:t>→</m:t>
                    </m:r>
                  </m:oMath>
                </a14:m>
                <a:r>
                  <a:rPr lang="en-IN" sz="2000" dirty="0"/>
                  <a:t> therefore, only two control points matter.</a:t>
                </a:r>
              </a:p>
              <a:p>
                <a:r>
                  <a:rPr lang="en-IN" sz="2000" dirty="0"/>
                  <a:t>Action </a:t>
                </a:r>
                <a14:m>
                  <m:oMath xmlns:m="http://schemas.openxmlformats.org/officeDocument/2006/math">
                    <m:r>
                      <a:rPr lang="en-IN" sz="2000" b="0" i="1" smtClean="0">
                        <a:latin typeface="Cambria Math" panose="02040503050406030204" pitchFamily="18" charset="0"/>
                      </a:rPr>
                      <m:t>→</m:t>
                    </m:r>
                  </m:oMath>
                </a14:m>
                <a:r>
                  <a:rPr lang="en-IN" sz="2000" dirty="0"/>
                  <a:t> control points given in table.</a:t>
                </a:r>
              </a:p>
              <a:p>
                <a:endParaRPr lang="en-IN" sz="2000" dirty="0"/>
              </a:p>
              <a:p>
                <a:endParaRPr lang="en-IN" sz="2000" dirty="0"/>
              </a:p>
              <a:p>
                <a:pPr marL="0" indent="0">
                  <a:buNone/>
                </a:pPr>
                <a:endParaRPr lang="en-US" sz="2000" dirty="0"/>
              </a:p>
              <a:p>
                <a:pPr marL="0" indent="0">
                  <a:buNone/>
                </a:pPr>
                <a:endParaRPr lang="en-IN" sz="2000" dirty="0"/>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7915835" y="1423572"/>
                <a:ext cx="3832819" cy="4351338"/>
              </a:xfrm>
              <a:blipFill>
                <a:blip r:embed="rId2"/>
                <a:stretch>
                  <a:fillRect l="-1433" t="-1403" r="-2866"/>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12</a:t>
            </a:fld>
            <a:endParaRPr lang="en-GB" dirty="0"/>
          </a:p>
        </p:txBody>
      </p:sp>
      <p:pic>
        <p:nvPicPr>
          <p:cNvPr id="6" name="Picture 5">
            <a:extLst>
              <a:ext uri="{FF2B5EF4-FFF2-40B4-BE49-F238E27FC236}">
                <a16:creationId xmlns:a16="http://schemas.microsoft.com/office/drawing/2014/main" id="{A33DD682-8390-4B1C-F933-00AC9D3DE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2868" y="1562991"/>
            <a:ext cx="3709545" cy="1545644"/>
          </a:xfrm>
          <a:prstGeom prst="rect">
            <a:avLst/>
          </a:prstGeom>
        </p:spPr>
      </p:pic>
      <p:sp>
        <p:nvSpPr>
          <p:cNvPr id="10" name="TextBox 9">
            <a:extLst>
              <a:ext uri="{FF2B5EF4-FFF2-40B4-BE49-F238E27FC236}">
                <a16:creationId xmlns:a16="http://schemas.microsoft.com/office/drawing/2014/main" id="{FE694E4B-BB4E-68BE-6830-73BDBA532C0D}"/>
              </a:ext>
            </a:extLst>
          </p:cNvPr>
          <p:cNvSpPr txBox="1"/>
          <p:nvPr/>
        </p:nvSpPr>
        <p:spPr>
          <a:xfrm>
            <a:off x="443345" y="6256433"/>
            <a:ext cx="5186491" cy="215444"/>
          </a:xfrm>
          <a:prstGeom prst="rect">
            <a:avLst/>
          </a:prstGeom>
          <a:noFill/>
        </p:spPr>
        <p:txBody>
          <a:bodyPr wrap="square">
            <a:spAutoFit/>
          </a:bodyPr>
          <a:lstStyle/>
          <a:p>
            <a:r>
              <a:rPr lang="en-US" sz="800" dirty="0">
                <a:latin typeface="Arial" panose="020B0604020202020204" pitchFamily="34" charset="0"/>
                <a:cs typeface="Arial" panose="020B0604020202020204" pitchFamily="34" charset="0"/>
              </a:rPr>
              <a:t>Image </a:t>
            </a:r>
            <a:r>
              <a:rPr lang="en-US" sz="800" dirty="0" err="1">
                <a:latin typeface="Arial" panose="020B0604020202020204" pitchFamily="34" charset="0"/>
                <a:cs typeface="Arial" panose="020B0604020202020204" pitchFamily="34" charset="0"/>
              </a:rPr>
              <a:t>source:Bézier</a:t>
            </a:r>
            <a:r>
              <a:rPr lang="en-US" sz="800" dirty="0">
                <a:latin typeface="Arial" panose="020B0604020202020204" pitchFamily="34" charset="0"/>
                <a:cs typeface="Arial" panose="020B0604020202020204" pitchFamily="34" charset="0"/>
              </a:rPr>
              <a:t> curve. (2024, July 18). In Wikipedia. https://en.wikipedia.org/wiki/B%C3%A9zier_curve</a:t>
            </a:r>
            <a:endParaRPr lang="en-IN" sz="8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A29FEBE0-DDF4-133B-842D-59310AA99C4F}"/>
              </a:ext>
            </a:extLst>
          </p:cNvPr>
          <p:cNvPicPr>
            <a:picLocks noChangeAspect="1"/>
          </p:cNvPicPr>
          <p:nvPr/>
        </p:nvPicPr>
        <p:blipFill>
          <a:blip r:embed="rId4"/>
          <a:stretch>
            <a:fillRect/>
          </a:stretch>
        </p:blipFill>
        <p:spPr>
          <a:xfrm>
            <a:off x="358341" y="3280719"/>
            <a:ext cx="6175783" cy="384081"/>
          </a:xfrm>
          <a:prstGeom prst="rect">
            <a:avLst/>
          </a:prstGeom>
        </p:spPr>
      </p:pic>
      <p:pic>
        <p:nvPicPr>
          <p:cNvPr id="15" name="Picture 14">
            <a:extLst>
              <a:ext uri="{FF2B5EF4-FFF2-40B4-BE49-F238E27FC236}">
                <a16:creationId xmlns:a16="http://schemas.microsoft.com/office/drawing/2014/main" id="{FD350079-4F09-A68A-DB21-FF411FF7687D}"/>
              </a:ext>
            </a:extLst>
          </p:cNvPr>
          <p:cNvPicPr>
            <a:picLocks noChangeAspect="1"/>
          </p:cNvPicPr>
          <p:nvPr/>
        </p:nvPicPr>
        <p:blipFill rotWithShape="1">
          <a:blip r:embed="rId5">
            <a:extLst>
              <a:ext uri="{28A0092B-C50C-407E-A947-70E740481C1C}">
                <a14:useLocalDpi xmlns:a14="http://schemas.microsoft.com/office/drawing/2010/main" val="0"/>
              </a:ext>
            </a:extLst>
          </a:blip>
          <a:srcRect l="3849" r="5999" b="23468"/>
          <a:stretch/>
        </p:blipFill>
        <p:spPr>
          <a:xfrm>
            <a:off x="443345" y="4674383"/>
            <a:ext cx="3263154" cy="946488"/>
          </a:xfrm>
          <a:prstGeom prst="rect">
            <a:avLst/>
          </a:prstGeom>
        </p:spPr>
      </p:pic>
      <p:pic>
        <p:nvPicPr>
          <p:cNvPr id="16" name="Picture 15">
            <a:extLst>
              <a:ext uri="{FF2B5EF4-FFF2-40B4-BE49-F238E27FC236}">
                <a16:creationId xmlns:a16="http://schemas.microsoft.com/office/drawing/2014/main" id="{0E7A71B1-A41D-38B4-01EC-203631DD6F2F}"/>
              </a:ext>
            </a:extLst>
          </p:cNvPr>
          <p:cNvPicPr>
            <a:picLocks noChangeAspect="1"/>
          </p:cNvPicPr>
          <p:nvPr/>
        </p:nvPicPr>
        <p:blipFill rotWithShape="1">
          <a:blip r:embed="rId6">
            <a:extLst>
              <a:ext uri="{28A0092B-C50C-407E-A947-70E740481C1C}">
                <a14:useLocalDpi xmlns:a14="http://schemas.microsoft.com/office/drawing/2010/main" val="0"/>
              </a:ext>
            </a:extLst>
          </a:blip>
          <a:srcRect l="5777" r="5591" b="17456"/>
          <a:stretch/>
        </p:blipFill>
        <p:spPr>
          <a:xfrm>
            <a:off x="4103470" y="4551926"/>
            <a:ext cx="3415393" cy="1222984"/>
          </a:xfrm>
          <a:prstGeom prst="rect">
            <a:avLst/>
          </a:prstGeom>
        </p:spPr>
      </p:pic>
      <p:sp>
        <p:nvSpPr>
          <p:cNvPr id="17" name="TextBox 16">
            <a:extLst>
              <a:ext uri="{FF2B5EF4-FFF2-40B4-BE49-F238E27FC236}">
                <a16:creationId xmlns:a16="http://schemas.microsoft.com/office/drawing/2014/main" id="{4DEAD927-7692-1044-5216-87CF129BE1B4}"/>
              </a:ext>
            </a:extLst>
          </p:cNvPr>
          <p:cNvSpPr txBox="1"/>
          <p:nvPr/>
        </p:nvSpPr>
        <p:spPr>
          <a:xfrm>
            <a:off x="2308004" y="3667706"/>
            <a:ext cx="175708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Cubic </a:t>
            </a:r>
            <a:r>
              <a:rPr lang="en-US" sz="1400" kern="1200" dirty="0" err="1">
                <a:solidFill>
                  <a:srgbClr val="000000"/>
                </a:solidFill>
                <a:effectLst/>
                <a:latin typeface="Arial" panose="020B0604020202020204" pitchFamily="34" charset="0"/>
                <a:ea typeface="+mn-ea"/>
                <a:cs typeface="Arial" panose="020B0604020202020204" pitchFamily="34" charset="0"/>
              </a:rPr>
              <a:t>Bézier</a:t>
            </a:r>
            <a:r>
              <a:rPr lang="en-IN" sz="1400" kern="1200" dirty="0">
                <a:solidFill>
                  <a:srgbClr val="000000"/>
                </a:solidFill>
                <a:effectLst/>
                <a:latin typeface="Arial" panose="020B0604020202020204" pitchFamily="34" charset="0"/>
                <a:ea typeface="+mn-ea"/>
                <a:cs typeface="Arial" panose="020B0604020202020204" pitchFamily="34" charset="0"/>
              </a:rPr>
              <a:t> Curve</a:t>
            </a:r>
            <a:endParaRPr lang="en-IN" sz="1400" dirty="0"/>
          </a:p>
        </p:txBody>
      </p:sp>
      <p:sp>
        <p:nvSpPr>
          <p:cNvPr id="7" name="TextBox 6">
            <a:extLst>
              <a:ext uri="{FF2B5EF4-FFF2-40B4-BE49-F238E27FC236}">
                <a16:creationId xmlns:a16="http://schemas.microsoft.com/office/drawing/2014/main" id="{467FAE8B-1E66-37FA-1EBB-F3244A499792}"/>
              </a:ext>
            </a:extLst>
          </p:cNvPr>
          <p:cNvSpPr txBox="1"/>
          <p:nvPr/>
        </p:nvSpPr>
        <p:spPr>
          <a:xfrm>
            <a:off x="1196381" y="5620871"/>
            <a:ext cx="175708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Action for Method 3</a:t>
            </a:r>
            <a:endParaRPr lang="en-IN" sz="1400" dirty="0"/>
          </a:p>
        </p:txBody>
      </p:sp>
      <p:sp>
        <p:nvSpPr>
          <p:cNvPr id="8" name="TextBox 7">
            <a:extLst>
              <a:ext uri="{FF2B5EF4-FFF2-40B4-BE49-F238E27FC236}">
                <a16:creationId xmlns:a16="http://schemas.microsoft.com/office/drawing/2014/main" id="{646C983A-0721-3A73-1AFF-198B78D64C19}"/>
              </a:ext>
            </a:extLst>
          </p:cNvPr>
          <p:cNvSpPr txBox="1"/>
          <p:nvPr/>
        </p:nvSpPr>
        <p:spPr>
          <a:xfrm>
            <a:off x="4871909" y="5737986"/>
            <a:ext cx="2093667" cy="307777"/>
          </a:xfrm>
          <a:prstGeom prst="rect">
            <a:avLst/>
          </a:prstGeom>
          <a:noFill/>
        </p:spPr>
        <p:txBody>
          <a:bodyPr wrap="square" rtlCol="0">
            <a:spAutoFit/>
          </a:bodyPr>
          <a:lstStyle/>
          <a:p>
            <a:r>
              <a:rPr lang="en-US" sz="1400" kern="1200" dirty="0" err="1">
                <a:solidFill>
                  <a:srgbClr val="000000"/>
                </a:solidFill>
                <a:effectLst/>
                <a:latin typeface="Arial" panose="020B0604020202020204" pitchFamily="34" charset="0"/>
                <a:ea typeface="+mn-ea"/>
                <a:cs typeface="Arial" panose="020B0604020202020204" pitchFamily="34" charset="0"/>
              </a:rPr>
              <a:t>Bézier</a:t>
            </a:r>
            <a:r>
              <a:rPr lang="en-IN" sz="1400" kern="1200" dirty="0">
                <a:solidFill>
                  <a:srgbClr val="000000"/>
                </a:solidFill>
                <a:effectLst/>
                <a:latin typeface="Arial" panose="020B0604020202020204" pitchFamily="34" charset="0"/>
                <a:ea typeface="+mn-ea"/>
                <a:cs typeface="Arial" panose="020B0604020202020204" pitchFamily="34" charset="0"/>
              </a:rPr>
              <a:t> Control Points</a:t>
            </a:r>
            <a:endParaRPr lang="en-IN" sz="1400" dirty="0"/>
          </a:p>
        </p:txBody>
      </p:sp>
    </p:spTree>
    <p:extLst>
      <p:ext uri="{BB962C8B-B14F-4D97-AF65-F5344CB8AC3E}">
        <p14:creationId xmlns:p14="http://schemas.microsoft.com/office/powerpoint/2010/main" val="3030196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517341" y="1190577"/>
                <a:ext cx="5531224" cy="5604669"/>
              </a:xfrm>
            </p:spPr>
            <p:txBody>
              <a:bodyPr>
                <a:normAutofit lnSpcReduction="10000"/>
              </a:bodyPr>
              <a:lstStyle/>
              <a:p>
                <a:pPr marL="0" indent="0">
                  <a:buNone/>
                </a:pPr>
                <a:r>
                  <a:rPr lang="en-US" sz="2000" dirty="0"/>
                  <a:t>Things learned from previous trials:</a:t>
                </a:r>
              </a:p>
              <a:p>
                <a:r>
                  <a:rPr lang="en-US" sz="2000" dirty="0"/>
                  <a:t>Flexible shape drawing technique.</a:t>
                </a:r>
              </a:p>
              <a:p>
                <a:r>
                  <a:rPr lang="en-US" sz="2000" dirty="0"/>
                  <a:t>Action Space Limitation: Best results achieved by limiting the search space to (0, 0.2).</a:t>
                </a:r>
              </a:p>
              <a:p>
                <a:pPr lvl="1"/>
                <a:r>
                  <a:rPr lang="en-US" sz="1600" dirty="0"/>
                  <a:t>Limiting the search space ensures necessary conditions</a:t>
                </a:r>
                <a:r>
                  <a:rPr lang="en-US" sz="2000" dirty="0"/>
                  <a:t>.</a:t>
                </a:r>
              </a:p>
              <a:p>
                <a:r>
                  <a:rPr lang="en-US" sz="2000" dirty="0"/>
                  <a:t>Dynamic Entropy Coefficient: Varying the entropy coefficient during training encourages exploration.</a:t>
                </a:r>
              </a:p>
              <a:p>
                <a:r>
                  <a:rPr lang="en-US" sz="2000" dirty="0"/>
                  <a:t>Reward Scaling: Scale the reward scheme to prevent early convergence.</a:t>
                </a:r>
              </a:p>
              <a:p>
                <a:pPr marL="0" indent="0">
                  <a:buFont typeface="Arial" panose="020B0604020202020204" pitchFamily="34" charset="0"/>
                  <a:buNone/>
                </a:pPr>
                <a:r>
                  <a:rPr lang="en-IN" sz="2000" dirty="0"/>
                  <a:t>Reward Scheme:</a:t>
                </a:r>
              </a:p>
              <a:p>
                <a:r>
                  <a:rPr lang="en-US" sz="2000" dirty="0"/>
                  <a:t>A baseline value to compare predicted energies </a:t>
                </a:r>
                <a14:m>
                  <m:oMath xmlns:m="http://schemas.openxmlformats.org/officeDocument/2006/math">
                    <m:r>
                      <a:rPr lang="en-IN" sz="1800" b="0" i="1" kern="1200" smtClean="0">
                        <a:solidFill>
                          <a:srgbClr val="000000"/>
                        </a:solidFill>
                        <a:effectLst/>
                        <a:latin typeface="Cambria Math" panose="02040503050406030204" pitchFamily="18" charset="0"/>
                        <a:ea typeface="+mn-ea"/>
                        <a:cs typeface="Arial" panose="020B0604020202020204" pitchFamily="34" charset="0"/>
                      </a:rPr>
                      <m:t>→</m:t>
                    </m:r>
                  </m:oMath>
                </a14:m>
                <a:r>
                  <a:rPr lang="en-US" sz="2000" dirty="0"/>
                  <a:t> Method 3 result is used (</a:t>
                </a:r>
                <a:r>
                  <a:rPr lang="en-IN" sz="2000" dirty="0"/>
                  <a:t>action value [0,0,0,0]</a:t>
                </a:r>
                <a:r>
                  <a:rPr lang="en-US" sz="2000" dirty="0"/>
                  <a:t>).</a:t>
                </a:r>
              </a:p>
              <a:p>
                <a:r>
                  <a:rPr lang="en-US" sz="2000" dirty="0"/>
                  <a:t>Baseline energy is calculated as </a:t>
                </a:r>
                <a14:m>
                  <m:oMath xmlns:m="http://schemas.openxmlformats.org/officeDocument/2006/math">
                    <m:sSub>
                      <m:sSubPr>
                        <m:ctrlPr>
                          <a:rPr lang="en-IN" sz="2000" i="1" smtClean="0">
                            <a:latin typeface="Cambria Math" panose="02040503050406030204" pitchFamily="18" charset="0"/>
                          </a:rPr>
                        </m:ctrlPr>
                      </m:sSubPr>
                      <m:e>
                        <m:r>
                          <a:rPr lang="en-IN" sz="2000" i="1" smtClean="0">
                            <a:latin typeface="Cambria Math" panose="02040503050406030204" pitchFamily="18" charset="0"/>
                          </a:rPr>
                          <m:t>𝑊</m:t>
                        </m:r>
                      </m:e>
                      <m:sub>
                        <m:r>
                          <a:rPr lang="en-IN" sz="2000" i="1" smtClean="0">
                            <a:latin typeface="Cambria Math" panose="02040503050406030204" pitchFamily="18" charset="0"/>
                          </a:rPr>
                          <m:t>𝑏𝑎𝑠𝑒𝑙𝑖𝑛𝑒</m:t>
                        </m:r>
                      </m:sub>
                    </m:sSub>
                  </m:oMath>
                </a14:m>
                <a:r>
                  <a:rPr lang="en-IN" sz="2000" dirty="0"/>
                  <a:t> </a:t>
                </a:r>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6517341" y="1190577"/>
                <a:ext cx="5531224" cy="5604669"/>
              </a:xfrm>
              <a:blipFill>
                <a:blip r:embed="rId2"/>
                <a:stretch>
                  <a:fillRect l="-1103" t="-1522" r="-1544"/>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13</a:t>
            </a:fld>
            <a:endParaRPr lang="en-GB" dirty="0"/>
          </a:p>
        </p:txBody>
      </p:sp>
      <p:pic>
        <p:nvPicPr>
          <p:cNvPr id="7" name="Picture 6">
            <a:extLst>
              <a:ext uri="{FF2B5EF4-FFF2-40B4-BE49-F238E27FC236}">
                <a16:creationId xmlns:a16="http://schemas.microsoft.com/office/drawing/2014/main" id="{88105E4E-8E36-BC12-F645-A4F761B8C772}"/>
              </a:ext>
            </a:extLst>
          </p:cNvPr>
          <p:cNvPicPr>
            <a:picLocks noChangeAspect="1"/>
          </p:cNvPicPr>
          <p:nvPr/>
        </p:nvPicPr>
        <p:blipFill>
          <a:blip r:embed="rId3">
            <a:extLst>
              <a:ext uri="{28A0092B-C50C-407E-A947-70E740481C1C}">
                <a14:useLocalDpi xmlns:a14="http://schemas.microsoft.com/office/drawing/2010/main" val="0"/>
              </a:ext>
            </a:extLst>
          </a:blip>
          <a:srcRect b="27075"/>
          <a:stretch/>
        </p:blipFill>
        <p:spPr>
          <a:xfrm>
            <a:off x="1387194" y="1837429"/>
            <a:ext cx="3590048" cy="843018"/>
          </a:xfrm>
          <a:prstGeom prst="rect">
            <a:avLst/>
          </a:prstGeom>
        </p:spPr>
      </p:pic>
      <p:pic>
        <p:nvPicPr>
          <p:cNvPr id="9" name="Picture 8">
            <a:extLst>
              <a:ext uri="{FF2B5EF4-FFF2-40B4-BE49-F238E27FC236}">
                <a16:creationId xmlns:a16="http://schemas.microsoft.com/office/drawing/2014/main" id="{0CF3D05A-ACD2-7F1F-B174-0B144C4990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05" y="3322301"/>
            <a:ext cx="3135313" cy="2125594"/>
          </a:xfrm>
          <a:prstGeom prst="rect">
            <a:avLst/>
          </a:prstGeom>
        </p:spPr>
      </p:pic>
      <p:pic>
        <p:nvPicPr>
          <p:cNvPr id="11" name="Picture 10">
            <a:extLst>
              <a:ext uri="{FF2B5EF4-FFF2-40B4-BE49-F238E27FC236}">
                <a16:creationId xmlns:a16="http://schemas.microsoft.com/office/drawing/2014/main" id="{302014BA-D53C-5366-7B9B-F4FCA9434C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2218" y="3322300"/>
            <a:ext cx="3135315" cy="2125595"/>
          </a:xfrm>
          <a:prstGeom prst="rect">
            <a:avLst/>
          </a:prstGeom>
        </p:spPr>
      </p:pic>
      <p:sp>
        <p:nvSpPr>
          <p:cNvPr id="12" name="TextBox 11">
            <a:extLst>
              <a:ext uri="{FF2B5EF4-FFF2-40B4-BE49-F238E27FC236}">
                <a16:creationId xmlns:a16="http://schemas.microsoft.com/office/drawing/2014/main" id="{5997A3AD-0577-10B7-6852-9D175518BD3D}"/>
              </a:ext>
            </a:extLst>
          </p:cNvPr>
          <p:cNvSpPr txBox="1"/>
          <p:nvPr/>
        </p:nvSpPr>
        <p:spPr>
          <a:xfrm>
            <a:off x="712411" y="5495933"/>
            <a:ext cx="2205068"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Case D Baseline Curve</a:t>
            </a:r>
            <a:endParaRPr lang="en-IN" sz="14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622E67B-7A41-0B79-C4CE-FCF6B1241E46}"/>
              </a:ext>
            </a:extLst>
          </p:cNvPr>
          <p:cNvSpPr txBox="1"/>
          <p:nvPr/>
        </p:nvSpPr>
        <p:spPr>
          <a:xfrm>
            <a:off x="4068143" y="5495932"/>
            <a:ext cx="202785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Case L Baseline Curve</a:t>
            </a:r>
            <a:endParaRPr lang="en-IN"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37276DB-96AE-9F5D-D231-ED8D5E740764}"/>
              </a:ext>
            </a:extLst>
          </p:cNvPr>
          <p:cNvSpPr txBox="1"/>
          <p:nvPr/>
        </p:nvSpPr>
        <p:spPr>
          <a:xfrm>
            <a:off x="2303677" y="2714978"/>
            <a:ext cx="175708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Action for Method 4</a:t>
            </a:r>
            <a:endParaRPr lang="en-IN" sz="1400" dirty="0"/>
          </a:p>
        </p:txBody>
      </p:sp>
    </p:spTree>
    <p:extLst>
      <p:ext uri="{BB962C8B-B14F-4D97-AF65-F5344CB8AC3E}">
        <p14:creationId xmlns:p14="http://schemas.microsoft.com/office/powerpoint/2010/main" val="1316329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266329" y="1279290"/>
            <a:ext cx="5620871" cy="5372521"/>
          </a:xfrm>
        </p:spPr>
        <p:txBody>
          <a:bodyPr>
            <a:noAutofit/>
          </a:bodyPr>
          <a:lstStyle/>
          <a:p>
            <a:r>
              <a:rPr lang="en-US" sz="2000" dirty="0"/>
              <a:t>The rewards as a ratio</a:t>
            </a:r>
          </a:p>
          <a:p>
            <a:pPr marL="0" indent="0">
              <a:buNone/>
            </a:pPr>
            <a:endParaRPr lang="en-US" sz="2000" dirty="0"/>
          </a:p>
          <a:p>
            <a:pPr lvl="1"/>
            <a:endParaRPr lang="en-US" sz="1600" dirty="0"/>
          </a:p>
          <a:p>
            <a:pPr lvl="1">
              <a:buFont typeface="Wingdings" panose="05000000000000000000" pitchFamily="2" charset="2"/>
              <a:buChar char="Ø"/>
            </a:pPr>
            <a:r>
              <a:rPr lang="en-US" sz="1600" dirty="0"/>
              <a:t>As the predicted energy of the region decreases and approaches that of the baseline energy, the value will rise to 100. If the energy falls below the baseline, the value will exceed 100.</a:t>
            </a:r>
          </a:p>
          <a:p>
            <a:r>
              <a:rPr lang="en-US" sz="2000" dirty="0"/>
              <a:t>A check for necessary conditions is also added.</a:t>
            </a:r>
          </a:p>
          <a:p>
            <a:r>
              <a:rPr lang="en-US" sz="2000" dirty="0"/>
              <a:t>The model is trained with SAC agent for Test Case 2.1 Case D and L Environments separately. </a:t>
            </a:r>
          </a:p>
          <a:p>
            <a:r>
              <a:rPr lang="en-US" sz="2000" dirty="0"/>
              <a:t>Dynamic entropy coefficients are deployed to boost exploration. </a:t>
            </a:r>
          </a:p>
          <a:p>
            <a:endParaRPr lang="en-US" sz="2000" dirty="0"/>
          </a:p>
          <a:p>
            <a:endParaRPr lang="en-US"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14</a:t>
            </a:fld>
            <a:endParaRPr lang="en-GB" dirty="0"/>
          </a:p>
        </p:txBody>
      </p:sp>
      <p:pic>
        <p:nvPicPr>
          <p:cNvPr id="9" name="Picture 8">
            <a:extLst>
              <a:ext uri="{FF2B5EF4-FFF2-40B4-BE49-F238E27FC236}">
                <a16:creationId xmlns:a16="http://schemas.microsoft.com/office/drawing/2014/main" id="{CFAE3B08-B4CF-DBA3-603E-5D4FA9D0F58D}"/>
              </a:ext>
            </a:extLst>
          </p:cNvPr>
          <p:cNvPicPr>
            <a:picLocks noChangeAspect="1"/>
          </p:cNvPicPr>
          <p:nvPr/>
        </p:nvPicPr>
        <p:blipFill>
          <a:blip r:embed="rId2">
            <a:extLst>
              <a:ext uri="{28A0092B-C50C-407E-A947-70E740481C1C}">
                <a14:useLocalDpi xmlns:a14="http://schemas.microsoft.com/office/drawing/2010/main" val="0"/>
              </a:ext>
            </a:extLst>
          </a:blip>
          <a:srcRect t="6512"/>
          <a:stretch/>
        </p:blipFill>
        <p:spPr>
          <a:xfrm>
            <a:off x="443345" y="1744626"/>
            <a:ext cx="5480009" cy="3906184"/>
          </a:xfrm>
          <a:prstGeom prst="rect">
            <a:avLst/>
          </a:prstGeom>
        </p:spPr>
      </p:pic>
      <p:pic>
        <p:nvPicPr>
          <p:cNvPr id="10" name="Picture 9">
            <a:extLst>
              <a:ext uri="{FF2B5EF4-FFF2-40B4-BE49-F238E27FC236}">
                <a16:creationId xmlns:a16="http://schemas.microsoft.com/office/drawing/2014/main" id="{75C06874-8FD1-214F-19FA-0D269F29AE4D}"/>
              </a:ext>
            </a:extLst>
          </p:cNvPr>
          <p:cNvPicPr>
            <a:picLocks noChangeAspect="1"/>
          </p:cNvPicPr>
          <p:nvPr/>
        </p:nvPicPr>
        <p:blipFill rotWithShape="1">
          <a:blip r:embed="rId3"/>
          <a:srcRect l="4716" t="21345" r="14485"/>
          <a:stretch/>
        </p:blipFill>
        <p:spPr>
          <a:xfrm>
            <a:off x="7705164" y="1637397"/>
            <a:ext cx="2743200" cy="585250"/>
          </a:xfrm>
          <a:prstGeom prst="rect">
            <a:avLst/>
          </a:prstGeom>
        </p:spPr>
      </p:pic>
      <p:sp>
        <p:nvSpPr>
          <p:cNvPr id="6" name="TextBox 5">
            <a:extLst>
              <a:ext uri="{FF2B5EF4-FFF2-40B4-BE49-F238E27FC236}">
                <a16:creationId xmlns:a16="http://schemas.microsoft.com/office/drawing/2014/main" id="{8C657345-A392-A8B1-CDE0-6A30A6202B4B}"/>
              </a:ext>
            </a:extLst>
          </p:cNvPr>
          <p:cNvSpPr txBox="1"/>
          <p:nvPr/>
        </p:nvSpPr>
        <p:spPr>
          <a:xfrm>
            <a:off x="2090814" y="5650810"/>
            <a:ext cx="175708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Rewards Method 4</a:t>
            </a:r>
            <a:endParaRPr lang="en-IN" sz="1400" dirty="0"/>
          </a:p>
        </p:txBody>
      </p:sp>
    </p:spTree>
    <p:extLst>
      <p:ext uri="{BB962C8B-B14F-4D97-AF65-F5344CB8AC3E}">
        <p14:creationId xmlns:p14="http://schemas.microsoft.com/office/powerpoint/2010/main" val="4119524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 Training 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490447" y="1341531"/>
                <a:ext cx="5349894" cy="1941010"/>
              </a:xfrm>
            </p:spPr>
            <p:txBody>
              <a:bodyPr>
                <a:normAutofit/>
              </a:bodyPr>
              <a:lstStyle/>
              <a:p>
                <a:pPr marL="0" indent="0">
                  <a:buNone/>
                </a:pPr>
                <a:r>
                  <a:rPr lang="en-IN" sz="2000" dirty="0"/>
                  <a:t>Case D Training Results:</a:t>
                </a:r>
              </a:p>
              <a:p>
                <a:r>
                  <a:rPr lang="en-IN" sz="2000" dirty="0"/>
                  <a:t>Converged around 20K timesteps (7 hrs)</a:t>
                </a:r>
              </a:p>
              <a:p>
                <a:r>
                  <a:rPr lang="en-IN" sz="2000" dirty="0"/>
                  <a:t>Baseline curve near to nominal arrow </a:t>
                </a:r>
                <a:endParaRPr lang="en-IN" sz="2000" i="1" dirty="0">
                  <a:latin typeface="Cambria Math" panose="02040503050406030204" pitchFamily="18" charset="0"/>
                  <a:ea typeface="Cambria Math" panose="02040503050406030204" pitchFamily="18" charset="0"/>
                </a:endParaRPr>
              </a:p>
              <a:p>
                <a:pPr marL="457200" lvl="1" indent="0">
                  <a:buNone/>
                </a:pPr>
                <a14:m>
                  <m:oMath xmlns:m="http://schemas.openxmlformats.org/officeDocument/2006/math">
                    <m:r>
                      <a:rPr lang="en-IN" sz="1600" i="1" smtClean="0">
                        <a:latin typeface="Cambria Math" panose="02040503050406030204" pitchFamily="18" charset="0"/>
                        <a:ea typeface="Cambria Math" panose="02040503050406030204" pitchFamily="18" charset="0"/>
                      </a:rPr>
                      <m:t>→</m:t>
                    </m:r>
                  </m:oMath>
                </a14:m>
                <a:r>
                  <a:rPr lang="en-IN" sz="1600" dirty="0"/>
                  <a:t> entropy did not shoot up for exploration.</a:t>
                </a:r>
              </a:p>
              <a:p>
                <a:r>
                  <a:rPr lang="en-IN" sz="2000" dirty="0"/>
                  <a:t> Losses also settled</a:t>
                </a:r>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6490447" y="1341531"/>
                <a:ext cx="5349894" cy="1941010"/>
              </a:xfrm>
              <a:blipFill>
                <a:blip r:embed="rId2"/>
                <a:stretch>
                  <a:fillRect l="-1254" t="-2830" b="-1258"/>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15</a:t>
            </a:fld>
            <a:endParaRPr lang="en-GB" dirty="0"/>
          </a:p>
        </p:txBody>
      </p:sp>
      <p:pic>
        <p:nvPicPr>
          <p:cNvPr id="7" name="Picture 6">
            <a:extLst>
              <a:ext uri="{FF2B5EF4-FFF2-40B4-BE49-F238E27FC236}">
                <a16:creationId xmlns:a16="http://schemas.microsoft.com/office/drawing/2014/main" id="{917D5360-2BCD-6C17-94D5-65CE8C178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789" y="1206402"/>
            <a:ext cx="2836921" cy="2055547"/>
          </a:xfrm>
          <a:prstGeom prst="rect">
            <a:avLst/>
          </a:prstGeom>
        </p:spPr>
      </p:pic>
      <p:pic>
        <p:nvPicPr>
          <p:cNvPr id="9" name="Picture 8">
            <a:extLst>
              <a:ext uri="{FF2B5EF4-FFF2-40B4-BE49-F238E27FC236}">
                <a16:creationId xmlns:a16="http://schemas.microsoft.com/office/drawing/2014/main" id="{62A1CA33-3413-3A76-56B2-2234E5651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9055" y="1320939"/>
            <a:ext cx="2863047" cy="1941010"/>
          </a:xfrm>
          <a:prstGeom prst="rect">
            <a:avLst/>
          </a:prstGeom>
        </p:spPr>
      </p:pic>
      <p:pic>
        <p:nvPicPr>
          <p:cNvPr id="14" name="Picture 13">
            <a:extLst>
              <a:ext uri="{FF2B5EF4-FFF2-40B4-BE49-F238E27FC236}">
                <a16:creationId xmlns:a16="http://schemas.microsoft.com/office/drawing/2014/main" id="{FE10F15E-F69A-0A12-397F-714332B6F0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790" y="3825711"/>
            <a:ext cx="3282310" cy="2183056"/>
          </a:xfrm>
          <a:prstGeom prst="rect">
            <a:avLst/>
          </a:prstGeom>
        </p:spPr>
      </p:pic>
      <p:pic>
        <p:nvPicPr>
          <p:cNvPr id="6" name="Picture 5">
            <a:extLst>
              <a:ext uri="{FF2B5EF4-FFF2-40B4-BE49-F238E27FC236}">
                <a16:creationId xmlns:a16="http://schemas.microsoft.com/office/drawing/2014/main" id="{3A703573-7C57-F86E-3BE6-039CD76E32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38246" y="3614474"/>
            <a:ext cx="3697534" cy="2465023"/>
          </a:xfrm>
          <a:prstGeom prst="rect">
            <a:avLst/>
          </a:prstGeom>
        </p:spPr>
      </p:pic>
      <p:pic>
        <p:nvPicPr>
          <p:cNvPr id="8" name="Picture 7">
            <a:extLst>
              <a:ext uri="{FF2B5EF4-FFF2-40B4-BE49-F238E27FC236}">
                <a16:creationId xmlns:a16="http://schemas.microsoft.com/office/drawing/2014/main" id="{9C65CCA7-9070-7C74-E7E7-8D37E909E6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63945" y="3614475"/>
            <a:ext cx="3697533" cy="2465022"/>
          </a:xfrm>
          <a:prstGeom prst="rect">
            <a:avLst/>
          </a:prstGeom>
        </p:spPr>
      </p:pic>
      <p:sp>
        <p:nvSpPr>
          <p:cNvPr id="10" name="TextBox 9">
            <a:extLst>
              <a:ext uri="{FF2B5EF4-FFF2-40B4-BE49-F238E27FC236}">
                <a16:creationId xmlns:a16="http://schemas.microsoft.com/office/drawing/2014/main" id="{34A5FA8B-AEAF-5BF9-692B-DE9175FB0C9E}"/>
              </a:ext>
            </a:extLst>
          </p:cNvPr>
          <p:cNvSpPr txBox="1"/>
          <p:nvPr/>
        </p:nvSpPr>
        <p:spPr>
          <a:xfrm>
            <a:off x="4396986" y="6079497"/>
            <a:ext cx="2464121"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G-Points at 20K Timesteps for Case D with SAC Agent</a:t>
            </a:r>
            <a:endParaRPr lang="en-IN" sz="1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E991228-F972-FEF8-A8AB-4A896180C29C}"/>
              </a:ext>
            </a:extLst>
          </p:cNvPr>
          <p:cNvSpPr txBox="1"/>
          <p:nvPr/>
        </p:nvSpPr>
        <p:spPr>
          <a:xfrm>
            <a:off x="8386412" y="6079497"/>
            <a:ext cx="2398129"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G-Points at 50K Timesteps for Case D with SAC Agent</a:t>
            </a:r>
            <a:endParaRPr lang="en-IN"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CD19F72-11DA-C13A-AB8A-724C04BBD81A}"/>
              </a:ext>
            </a:extLst>
          </p:cNvPr>
          <p:cNvSpPr txBox="1"/>
          <p:nvPr/>
        </p:nvSpPr>
        <p:spPr>
          <a:xfrm>
            <a:off x="1425567" y="6046985"/>
            <a:ext cx="9231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Losses</a:t>
            </a:r>
            <a:endParaRPr lang="en-IN" sz="14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2052580-0CA4-D489-0E78-520D453E00A6}"/>
              </a:ext>
            </a:extLst>
          </p:cNvPr>
          <p:cNvSpPr txBox="1"/>
          <p:nvPr/>
        </p:nvSpPr>
        <p:spPr>
          <a:xfrm>
            <a:off x="1353351" y="3306697"/>
            <a:ext cx="9231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Rewards</a:t>
            </a:r>
            <a:endParaRPr lang="en-IN" sz="14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318457D-5357-D648-3CDD-052CFC345E31}"/>
              </a:ext>
            </a:extLst>
          </p:cNvPr>
          <p:cNvSpPr txBox="1"/>
          <p:nvPr/>
        </p:nvSpPr>
        <p:spPr>
          <a:xfrm>
            <a:off x="4546579" y="3275111"/>
            <a:ext cx="9231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Entropy</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5376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490447" y="1341531"/>
                <a:ext cx="5349894" cy="1941010"/>
              </a:xfrm>
            </p:spPr>
            <p:txBody>
              <a:bodyPr>
                <a:normAutofit lnSpcReduction="10000"/>
              </a:bodyPr>
              <a:lstStyle/>
              <a:p>
                <a:pPr marL="0" indent="0">
                  <a:buNone/>
                </a:pPr>
                <a:r>
                  <a:rPr lang="en-IN" sz="2000" dirty="0"/>
                  <a:t>Case L Training Results:</a:t>
                </a:r>
              </a:p>
              <a:p>
                <a:r>
                  <a:rPr lang="en-IN" sz="2000" dirty="0"/>
                  <a:t>Converged around 45K timesteps (nearly 7 hrs)</a:t>
                </a:r>
              </a:p>
              <a:p>
                <a:r>
                  <a:rPr lang="en-IN" sz="2000" dirty="0"/>
                  <a:t>Baseline curve not near to nominal </a:t>
                </a:r>
                <a14:m>
                  <m:oMath xmlns:m="http://schemas.openxmlformats.org/officeDocument/2006/math">
                    <m:r>
                      <a:rPr lang="en-IN" sz="2000" i="1" smtClean="0">
                        <a:latin typeface="Cambria Math" panose="02040503050406030204" pitchFamily="18" charset="0"/>
                        <a:ea typeface="Cambria Math" panose="02040503050406030204" pitchFamily="18" charset="0"/>
                      </a:rPr>
                      <m:t>→</m:t>
                    </m:r>
                  </m:oMath>
                </a14:m>
                <a:r>
                  <a:rPr lang="en-IN" sz="2000" dirty="0"/>
                  <a:t> entropy shot up for exploration.</a:t>
                </a:r>
              </a:p>
              <a:p>
                <a:r>
                  <a:rPr lang="en-IN" sz="2000" dirty="0"/>
                  <a:t>Losses also settled</a:t>
                </a:r>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6490447" y="1341531"/>
                <a:ext cx="5349894" cy="1941010"/>
              </a:xfrm>
              <a:blipFill>
                <a:blip r:embed="rId2"/>
                <a:stretch>
                  <a:fillRect l="-1254" t="-4403" r="-684" b="-5660"/>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16</a:t>
            </a:fld>
            <a:endParaRPr lang="en-GB" dirty="0"/>
          </a:p>
        </p:txBody>
      </p:sp>
      <p:sp>
        <p:nvSpPr>
          <p:cNvPr id="10" name="TextBox 9">
            <a:extLst>
              <a:ext uri="{FF2B5EF4-FFF2-40B4-BE49-F238E27FC236}">
                <a16:creationId xmlns:a16="http://schemas.microsoft.com/office/drawing/2014/main" id="{34A5FA8B-AEAF-5BF9-692B-DE9175FB0C9E}"/>
              </a:ext>
            </a:extLst>
          </p:cNvPr>
          <p:cNvSpPr txBox="1"/>
          <p:nvPr/>
        </p:nvSpPr>
        <p:spPr>
          <a:xfrm>
            <a:off x="4396986" y="6079497"/>
            <a:ext cx="2464121"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G-Points at 45K Timesteps for Case L with SAC Agent</a:t>
            </a:r>
            <a:endParaRPr lang="en-IN" sz="1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E991228-F972-FEF8-A8AB-4A896180C29C}"/>
              </a:ext>
            </a:extLst>
          </p:cNvPr>
          <p:cNvSpPr txBox="1"/>
          <p:nvPr/>
        </p:nvSpPr>
        <p:spPr>
          <a:xfrm>
            <a:off x="8386412" y="6079497"/>
            <a:ext cx="2398129"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G-Points at 50K Timesteps for Case L with SAC Agent</a:t>
            </a:r>
            <a:endParaRPr lang="en-IN"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CD19F72-11DA-C13A-AB8A-724C04BBD81A}"/>
              </a:ext>
            </a:extLst>
          </p:cNvPr>
          <p:cNvSpPr txBox="1"/>
          <p:nvPr/>
        </p:nvSpPr>
        <p:spPr>
          <a:xfrm>
            <a:off x="1425567" y="6046985"/>
            <a:ext cx="9231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Losses</a:t>
            </a:r>
            <a:endParaRPr lang="en-IN" sz="14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2052580-0CA4-D489-0E78-520D453E00A6}"/>
              </a:ext>
            </a:extLst>
          </p:cNvPr>
          <p:cNvSpPr txBox="1"/>
          <p:nvPr/>
        </p:nvSpPr>
        <p:spPr>
          <a:xfrm>
            <a:off x="1407816" y="3306697"/>
            <a:ext cx="1202578"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Rewards</a:t>
            </a:r>
            <a:endParaRPr lang="en-IN" sz="14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318457D-5357-D648-3CDD-052CFC345E31}"/>
              </a:ext>
            </a:extLst>
          </p:cNvPr>
          <p:cNvSpPr txBox="1"/>
          <p:nvPr/>
        </p:nvSpPr>
        <p:spPr>
          <a:xfrm>
            <a:off x="4546579" y="3275111"/>
            <a:ext cx="923187"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Entropy</a:t>
            </a:r>
            <a:endParaRPr lang="en-IN" sz="14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46F34584-776B-0CAF-240F-CADE0CC4DB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708" y="1195419"/>
            <a:ext cx="2913837" cy="2111278"/>
          </a:xfrm>
          <a:prstGeom prst="rect">
            <a:avLst/>
          </a:prstGeom>
        </p:spPr>
      </p:pic>
      <p:pic>
        <p:nvPicPr>
          <p:cNvPr id="17" name="Picture 16">
            <a:extLst>
              <a:ext uri="{FF2B5EF4-FFF2-40B4-BE49-F238E27FC236}">
                <a16:creationId xmlns:a16="http://schemas.microsoft.com/office/drawing/2014/main" id="{D69F36E3-6A26-83FD-1068-1DB263A320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6100" y="1341531"/>
            <a:ext cx="2913837" cy="1963077"/>
          </a:xfrm>
          <a:prstGeom prst="rect">
            <a:avLst/>
          </a:prstGeom>
        </p:spPr>
      </p:pic>
      <p:pic>
        <p:nvPicPr>
          <p:cNvPr id="18" name="Picture 17">
            <a:extLst>
              <a:ext uri="{FF2B5EF4-FFF2-40B4-BE49-F238E27FC236}">
                <a16:creationId xmlns:a16="http://schemas.microsoft.com/office/drawing/2014/main" id="{A067F8D1-EB9C-C198-41AE-4F6CBDC32B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7191" y="4003079"/>
            <a:ext cx="2951564" cy="1963078"/>
          </a:xfrm>
          <a:prstGeom prst="rect">
            <a:avLst/>
          </a:prstGeom>
        </p:spPr>
      </p:pic>
      <p:pic>
        <p:nvPicPr>
          <p:cNvPr id="19" name="Picture 18">
            <a:extLst>
              <a:ext uri="{FF2B5EF4-FFF2-40B4-BE49-F238E27FC236}">
                <a16:creationId xmlns:a16="http://schemas.microsoft.com/office/drawing/2014/main" id="{5C6648A8-ED0C-F082-E89B-009931077B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80279" y="3598681"/>
            <a:ext cx="3697533" cy="2465022"/>
          </a:xfrm>
          <a:prstGeom prst="rect">
            <a:avLst/>
          </a:prstGeom>
        </p:spPr>
      </p:pic>
      <p:pic>
        <p:nvPicPr>
          <p:cNvPr id="20" name="Picture 19">
            <a:extLst>
              <a:ext uri="{FF2B5EF4-FFF2-40B4-BE49-F238E27FC236}">
                <a16:creationId xmlns:a16="http://schemas.microsoft.com/office/drawing/2014/main" id="{22EB682D-2CA4-8638-A640-8AE6C80D01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31215" y="3614475"/>
            <a:ext cx="3697533" cy="2465022"/>
          </a:xfrm>
          <a:prstGeom prst="rect">
            <a:avLst/>
          </a:prstGeom>
        </p:spPr>
      </p:pic>
    </p:spTree>
    <p:extLst>
      <p:ext uri="{BB962C8B-B14F-4D97-AF65-F5344CB8AC3E}">
        <p14:creationId xmlns:p14="http://schemas.microsoft.com/office/powerpoint/2010/main" val="267503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085509" y="1825625"/>
            <a:ext cx="5879321" cy="1787151"/>
          </a:xfrm>
        </p:spPr>
        <p:txBody>
          <a:bodyPr>
            <a:normAutofit/>
          </a:bodyPr>
          <a:lstStyle/>
          <a:p>
            <a:r>
              <a:rPr lang="en-IN" sz="2000" dirty="0"/>
              <a:t>Relative error is very small.</a:t>
            </a:r>
          </a:p>
          <a:p>
            <a:r>
              <a:rPr lang="en-IN" sz="2000" dirty="0"/>
              <a:t>In comparison to the results of Method 3 significant improvement can be observed.</a:t>
            </a:r>
          </a:p>
          <a:p>
            <a:r>
              <a:rPr lang="en-IN" sz="2000" dirty="0"/>
              <a:t>Both Case D and Case L converged around seven hours of training.</a:t>
            </a:r>
          </a:p>
          <a:p>
            <a:endParaRPr lang="en-IN" sz="2000" dirty="0"/>
          </a:p>
          <a:p>
            <a:pPr marL="0" indent="0">
              <a:buNone/>
            </a:pP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17</a:t>
            </a:fld>
            <a:endParaRPr lang="en-GB" dirty="0"/>
          </a:p>
        </p:txBody>
      </p:sp>
      <p:pic>
        <p:nvPicPr>
          <p:cNvPr id="7" name="Picture 6">
            <a:extLst>
              <a:ext uri="{FF2B5EF4-FFF2-40B4-BE49-F238E27FC236}">
                <a16:creationId xmlns:a16="http://schemas.microsoft.com/office/drawing/2014/main" id="{785A35D4-8973-2A49-96F9-7BA89067A013}"/>
              </a:ext>
            </a:extLst>
          </p:cNvPr>
          <p:cNvPicPr>
            <a:picLocks noChangeAspect="1"/>
          </p:cNvPicPr>
          <p:nvPr/>
        </p:nvPicPr>
        <p:blipFill rotWithShape="1">
          <a:blip r:embed="rId2">
            <a:extLst>
              <a:ext uri="{28A0092B-C50C-407E-A947-70E740481C1C}">
                <a14:useLocalDpi xmlns:a14="http://schemas.microsoft.com/office/drawing/2010/main" val="0"/>
              </a:ext>
            </a:extLst>
          </a:blip>
          <a:srcRect t="-1" b="49888"/>
          <a:stretch/>
        </p:blipFill>
        <p:spPr>
          <a:xfrm>
            <a:off x="134574" y="1825626"/>
            <a:ext cx="5879321" cy="3723528"/>
          </a:xfrm>
          <a:prstGeom prst="rect">
            <a:avLst/>
          </a:prstGeom>
        </p:spPr>
      </p:pic>
      <p:pic>
        <p:nvPicPr>
          <p:cNvPr id="6" name="Picture 5">
            <a:extLst>
              <a:ext uri="{FF2B5EF4-FFF2-40B4-BE49-F238E27FC236}">
                <a16:creationId xmlns:a16="http://schemas.microsoft.com/office/drawing/2014/main" id="{10C88232-D9F3-A65F-6181-E82E3A813813}"/>
              </a:ext>
            </a:extLst>
          </p:cNvPr>
          <p:cNvPicPr>
            <a:picLocks noChangeAspect="1"/>
          </p:cNvPicPr>
          <p:nvPr/>
        </p:nvPicPr>
        <p:blipFill rotWithShape="1">
          <a:blip r:embed="rId2">
            <a:extLst>
              <a:ext uri="{28A0092B-C50C-407E-A947-70E740481C1C}">
                <a14:useLocalDpi xmlns:a14="http://schemas.microsoft.com/office/drawing/2010/main" val="0"/>
              </a:ext>
            </a:extLst>
          </a:blip>
          <a:srcRect t="61459" b="9130"/>
          <a:stretch/>
        </p:blipFill>
        <p:spPr>
          <a:xfrm>
            <a:off x="6096000" y="3549851"/>
            <a:ext cx="5378823" cy="1999303"/>
          </a:xfrm>
          <a:prstGeom prst="rect">
            <a:avLst/>
          </a:prstGeom>
        </p:spPr>
      </p:pic>
      <p:sp>
        <p:nvSpPr>
          <p:cNvPr id="8" name="TextBox 7">
            <a:extLst>
              <a:ext uri="{FF2B5EF4-FFF2-40B4-BE49-F238E27FC236}">
                <a16:creationId xmlns:a16="http://schemas.microsoft.com/office/drawing/2014/main" id="{C1ADF715-80B6-D0D9-87D2-1CF4C6BAC914}"/>
              </a:ext>
            </a:extLst>
          </p:cNvPr>
          <p:cNvSpPr txBox="1"/>
          <p:nvPr/>
        </p:nvSpPr>
        <p:spPr>
          <a:xfrm>
            <a:off x="497134" y="5549153"/>
            <a:ext cx="537882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Attribute Relative Error for Case D and Case L with Method 4</a:t>
            </a:r>
            <a:endParaRPr lang="en-IN" sz="1400" dirty="0"/>
          </a:p>
        </p:txBody>
      </p:sp>
      <p:sp>
        <p:nvSpPr>
          <p:cNvPr id="9" name="TextBox 8">
            <a:extLst>
              <a:ext uri="{FF2B5EF4-FFF2-40B4-BE49-F238E27FC236}">
                <a16:creationId xmlns:a16="http://schemas.microsoft.com/office/drawing/2014/main" id="{CEF6C53D-4601-8550-8DFA-3FD6C33C1D4A}"/>
              </a:ext>
            </a:extLst>
          </p:cNvPr>
          <p:cNvSpPr txBox="1"/>
          <p:nvPr/>
        </p:nvSpPr>
        <p:spPr>
          <a:xfrm>
            <a:off x="6178106" y="5549154"/>
            <a:ext cx="5378822"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Attribute Relative Error for Case D and Case L with Method 3</a:t>
            </a:r>
            <a:endParaRPr lang="en-IN" sz="1400" dirty="0"/>
          </a:p>
        </p:txBody>
      </p:sp>
    </p:spTree>
    <p:extLst>
      <p:ext uri="{BB962C8B-B14F-4D97-AF65-F5344CB8AC3E}">
        <p14:creationId xmlns:p14="http://schemas.microsoft.com/office/powerpoint/2010/main" val="2015145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5190565" y="1358731"/>
            <a:ext cx="6558089" cy="4790328"/>
          </a:xfrm>
        </p:spPr>
        <p:txBody>
          <a:bodyPr>
            <a:normAutofit lnSpcReduction="10000"/>
          </a:bodyPr>
          <a:lstStyle/>
          <a:p>
            <a:pPr marL="0" indent="0">
              <a:buNone/>
            </a:pPr>
            <a:r>
              <a:rPr lang="en-IN" sz="2000" dirty="0"/>
              <a:t>Agent Comparison: </a:t>
            </a:r>
            <a:r>
              <a:rPr lang="en-US" sz="2000" dirty="0"/>
              <a:t>Evaluated SAC, TD3, and PPO using Method 4.</a:t>
            </a:r>
          </a:p>
          <a:p>
            <a:r>
              <a:rPr lang="en-US" sz="2000" dirty="0"/>
              <a:t>SAC performed best in case D; all agents performed well in case L.</a:t>
            </a:r>
          </a:p>
          <a:p>
            <a:r>
              <a:rPr lang="en-US" sz="2000" dirty="0"/>
              <a:t>TD3 converged faster for Case L, but SAC's slower convergence was due to higher exploration (auto entropy coefficient).</a:t>
            </a:r>
          </a:p>
          <a:p>
            <a:r>
              <a:rPr lang="en-US" sz="2000" dirty="0"/>
              <a:t>Lack of exploration led to TD3's poor performance in case D; SAC's heavy exploration avoided local solutions.</a:t>
            </a:r>
          </a:p>
          <a:p>
            <a:r>
              <a:rPr lang="en-US" sz="2000" dirty="0"/>
              <a:t>Further tuning of the entropy coefficient could optimize performance but may not generalize to other environments.</a:t>
            </a:r>
          </a:p>
          <a:p>
            <a:r>
              <a:rPr lang="en-US" sz="2000" dirty="0"/>
              <a:t>In conclusion it is observed that SAC is more stable and reliable for this problem.</a:t>
            </a: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18</a:t>
            </a:fld>
            <a:endParaRPr lang="en-GB" dirty="0"/>
          </a:p>
        </p:txBody>
      </p:sp>
      <p:pic>
        <p:nvPicPr>
          <p:cNvPr id="7" name="Picture 6">
            <a:extLst>
              <a:ext uri="{FF2B5EF4-FFF2-40B4-BE49-F238E27FC236}">
                <a16:creationId xmlns:a16="http://schemas.microsoft.com/office/drawing/2014/main" id="{A474E890-530E-8860-7603-CF757020F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783" y="1190911"/>
            <a:ext cx="3366655" cy="2226336"/>
          </a:xfrm>
          <a:prstGeom prst="rect">
            <a:avLst/>
          </a:prstGeom>
        </p:spPr>
      </p:pic>
      <p:pic>
        <p:nvPicPr>
          <p:cNvPr id="9" name="Picture 8">
            <a:extLst>
              <a:ext uri="{FF2B5EF4-FFF2-40B4-BE49-F238E27FC236}">
                <a16:creationId xmlns:a16="http://schemas.microsoft.com/office/drawing/2014/main" id="{8EA16E2A-53A0-71D3-D96A-FED4479F5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782" y="3440754"/>
            <a:ext cx="3366655" cy="2226336"/>
          </a:xfrm>
          <a:prstGeom prst="rect">
            <a:avLst/>
          </a:prstGeom>
        </p:spPr>
      </p:pic>
      <p:sp>
        <p:nvSpPr>
          <p:cNvPr id="11" name="TextBox 10">
            <a:extLst>
              <a:ext uri="{FF2B5EF4-FFF2-40B4-BE49-F238E27FC236}">
                <a16:creationId xmlns:a16="http://schemas.microsoft.com/office/drawing/2014/main" id="{8F594E21-DB8B-DA8A-0A2D-3D82D757AED9}"/>
              </a:ext>
            </a:extLst>
          </p:cNvPr>
          <p:cNvSpPr txBox="1"/>
          <p:nvPr/>
        </p:nvSpPr>
        <p:spPr>
          <a:xfrm>
            <a:off x="506098" y="5687760"/>
            <a:ext cx="4191408"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Multiple Agents Episode Reward Mean for Method 4 Case D (Top), Case L(Bottom)</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3707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DRL Methods – Method 4</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5127812" y="1306733"/>
            <a:ext cx="6468442" cy="4351338"/>
          </a:xfrm>
        </p:spPr>
        <p:txBody>
          <a:bodyPr>
            <a:normAutofit/>
          </a:bodyPr>
          <a:lstStyle/>
          <a:p>
            <a:pPr marL="0" indent="0">
              <a:buNone/>
            </a:pPr>
            <a:r>
              <a:rPr lang="en-IN" sz="2000" dirty="0"/>
              <a:t>Model Comparison: </a:t>
            </a:r>
            <a:r>
              <a:rPr lang="en-US" sz="2000" dirty="0"/>
              <a:t>Alternated models between cases to assess performance.</a:t>
            </a:r>
            <a:endParaRPr lang="en-IN" sz="2000" dirty="0"/>
          </a:p>
          <a:p>
            <a:r>
              <a:rPr lang="en-US" sz="2000" dirty="0"/>
              <a:t>Case D model performed well for Case L, but the Case L model was poor for Case D.</a:t>
            </a:r>
          </a:p>
          <a:p>
            <a:r>
              <a:rPr lang="en-US" sz="2000" dirty="0"/>
              <a:t>Case D curve has more flexibility, while Case L curve is flatter.</a:t>
            </a:r>
          </a:p>
          <a:p>
            <a:r>
              <a:rPr lang="en-US" sz="2000" dirty="0"/>
              <a:t>In conclusion it is observed that training on Case D is sufficient, as it generalizes well to Case L.</a:t>
            </a: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19</a:t>
            </a:fld>
            <a:endParaRPr lang="en-GB" dirty="0"/>
          </a:p>
        </p:txBody>
      </p:sp>
      <p:pic>
        <p:nvPicPr>
          <p:cNvPr id="11" name="Picture 10">
            <a:extLst>
              <a:ext uri="{FF2B5EF4-FFF2-40B4-BE49-F238E27FC236}">
                <a16:creationId xmlns:a16="http://schemas.microsoft.com/office/drawing/2014/main" id="{F745E58E-DF8B-A48F-D710-B42A0C2E4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098" y="3418759"/>
            <a:ext cx="3599738" cy="2399825"/>
          </a:xfrm>
          <a:prstGeom prst="rect">
            <a:avLst/>
          </a:prstGeom>
        </p:spPr>
      </p:pic>
      <p:pic>
        <p:nvPicPr>
          <p:cNvPr id="13" name="Picture 12">
            <a:extLst>
              <a:ext uri="{FF2B5EF4-FFF2-40B4-BE49-F238E27FC236}">
                <a16:creationId xmlns:a16="http://schemas.microsoft.com/office/drawing/2014/main" id="{DCD47F71-4642-A6D6-59F9-A5BB613DC6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098" y="1061346"/>
            <a:ext cx="3599738" cy="2399825"/>
          </a:xfrm>
          <a:prstGeom prst="rect">
            <a:avLst/>
          </a:prstGeom>
        </p:spPr>
      </p:pic>
      <p:sp>
        <p:nvSpPr>
          <p:cNvPr id="14" name="TextBox 13">
            <a:extLst>
              <a:ext uri="{FF2B5EF4-FFF2-40B4-BE49-F238E27FC236}">
                <a16:creationId xmlns:a16="http://schemas.microsoft.com/office/drawing/2014/main" id="{17FE17A7-DCA8-2FAF-D251-6DFDD76C56C9}"/>
              </a:ext>
            </a:extLst>
          </p:cNvPr>
          <p:cNvSpPr txBox="1"/>
          <p:nvPr/>
        </p:nvSpPr>
        <p:spPr>
          <a:xfrm>
            <a:off x="506098" y="5796654"/>
            <a:ext cx="4451384" cy="523220"/>
          </a:xfrm>
          <a:prstGeom prst="rect">
            <a:avLst/>
          </a:prstGeom>
          <a:noFill/>
        </p:spPr>
        <p:txBody>
          <a:bodyPr wrap="square">
            <a:spAutoFit/>
          </a:bodyPr>
          <a:lstStyle/>
          <a:p>
            <a:r>
              <a:rPr lang="en-US" sz="1400" dirty="0"/>
              <a:t>Case L predicted with model Case D(Top), Case D predicted with model Case L(Bottom)</a:t>
            </a:r>
            <a:endParaRPr lang="en-IN" sz="1400" dirty="0"/>
          </a:p>
        </p:txBody>
      </p:sp>
      <p:pic>
        <p:nvPicPr>
          <p:cNvPr id="16" name="Picture 15">
            <a:extLst>
              <a:ext uri="{FF2B5EF4-FFF2-40B4-BE49-F238E27FC236}">
                <a16:creationId xmlns:a16="http://schemas.microsoft.com/office/drawing/2014/main" id="{3EAE1AEB-21DE-B041-3BB0-6B50A8E9D53B}"/>
              </a:ext>
            </a:extLst>
          </p:cNvPr>
          <p:cNvPicPr>
            <a:picLocks noChangeAspect="1"/>
          </p:cNvPicPr>
          <p:nvPr/>
        </p:nvPicPr>
        <p:blipFill>
          <a:blip r:embed="rId4">
            <a:extLst>
              <a:ext uri="{28A0092B-C50C-407E-A947-70E740481C1C}">
                <a14:useLocalDpi xmlns:a14="http://schemas.microsoft.com/office/drawing/2010/main" val="0"/>
              </a:ext>
            </a:extLst>
          </a:blip>
          <a:srcRect b="24122"/>
          <a:stretch/>
        </p:blipFill>
        <p:spPr>
          <a:xfrm>
            <a:off x="5608924" y="4618671"/>
            <a:ext cx="5506218" cy="1199913"/>
          </a:xfrm>
          <a:prstGeom prst="rect">
            <a:avLst/>
          </a:prstGeom>
        </p:spPr>
      </p:pic>
      <p:sp>
        <p:nvSpPr>
          <p:cNvPr id="6" name="TextBox 5">
            <a:extLst>
              <a:ext uri="{FF2B5EF4-FFF2-40B4-BE49-F238E27FC236}">
                <a16:creationId xmlns:a16="http://schemas.microsoft.com/office/drawing/2014/main" id="{C777160F-0F51-7A20-E1B5-7148EA238922}"/>
              </a:ext>
            </a:extLst>
          </p:cNvPr>
          <p:cNvSpPr txBox="1"/>
          <p:nvPr/>
        </p:nvSpPr>
        <p:spPr>
          <a:xfrm>
            <a:off x="7333333" y="5886472"/>
            <a:ext cx="2057399" cy="307777"/>
          </a:xfrm>
          <a:prstGeom prst="rect">
            <a:avLst/>
          </a:prstGeom>
          <a:noFill/>
        </p:spPr>
        <p:txBody>
          <a:bodyPr wrap="square" rtlCol="0">
            <a:spAutoFit/>
          </a:bodyPr>
          <a:lstStyle/>
          <a:p>
            <a:r>
              <a:rPr lang="en-IN" sz="1400" kern="1200" dirty="0">
                <a:solidFill>
                  <a:srgbClr val="000000"/>
                </a:solidFill>
                <a:effectLst/>
                <a:latin typeface="Arial" panose="020B0604020202020204" pitchFamily="34" charset="0"/>
                <a:ea typeface="+mn-ea"/>
                <a:cs typeface="Arial" panose="020B0604020202020204" pitchFamily="34" charset="0"/>
              </a:rPr>
              <a:t>Energy after Prediction</a:t>
            </a:r>
            <a:endParaRPr lang="en-IN" sz="1400" dirty="0"/>
          </a:p>
        </p:txBody>
      </p:sp>
    </p:spTree>
    <p:extLst>
      <p:ext uri="{BB962C8B-B14F-4D97-AF65-F5344CB8AC3E}">
        <p14:creationId xmlns:p14="http://schemas.microsoft.com/office/powerpoint/2010/main" val="1210997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Test Case Results</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43345" y="1305672"/>
            <a:ext cx="11305309" cy="2656728"/>
          </a:xfrm>
        </p:spPr>
        <p:txBody>
          <a:bodyPr>
            <a:normAutofit/>
          </a:bodyPr>
          <a:lstStyle/>
          <a:p>
            <a:r>
              <a:rPr lang="en-IN" sz="2000" dirty="0"/>
              <a:t>Motivation: to test whether the trained model can predict for different environments even though it was not specifically trained for it. Stochastic policy like SAC should be able to do this.</a:t>
            </a:r>
          </a:p>
          <a:p>
            <a:r>
              <a:rPr lang="en-IN" sz="2000" dirty="0"/>
              <a:t>Test cases done with 47 G-points and 2000 Fourier coefficients.</a:t>
            </a:r>
          </a:p>
          <a:p>
            <a:r>
              <a:rPr lang="en-US" sz="2000" dirty="0"/>
              <a:t>It can be observed that the relative error compared to the attributes of the nominal curve is very low, less than 2 %</a:t>
            </a:r>
          </a:p>
          <a:p>
            <a:r>
              <a:rPr lang="en-US" sz="2000" dirty="0"/>
              <a:t>We are obtaining a near-global solution.</a:t>
            </a:r>
            <a:endParaRPr lang="en-IN" sz="2000" dirty="0"/>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20</a:t>
            </a:fld>
            <a:endParaRPr lang="en-GB" dirty="0"/>
          </a:p>
        </p:txBody>
      </p:sp>
      <p:pic>
        <p:nvPicPr>
          <p:cNvPr id="6" name="Picture 5">
            <a:extLst>
              <a:ext uri="{FF2B5EF4-FFF2-40B4-BE49-F238E27FC236}">
                <a16:creationId xmlns:a16="http://schemas.microsoft.com/office/drawing/2014/main" id="{75A9C177-3DE0-5E6B-2B06-EECA1F2DE626}"/>
              </a:ext>
            </a:extLst>
          </p:cNvPr>
          <p:cNvPicPr>
            <a:picLocks noChangeAspect="1"/>
          </p:cNvPicPr>
          <p:nvPr/>
        </p:nvPicPr>
        <p:blipFill rotWithShape="1">
          <a:blip r:embed="rId2">
            <a:extLst>
              <a:ext uri="{28A0092B-C50C-407E-A947-70E740481C1C}">
                <a14:useLocalDpi xmlns:a14="http://schemas.microsoft.com/office/drawing/2010/main" val="0"/>
              </a:ext>
            </a:extLst>
          </a:blip>
          <a:srcRect l="3516" b="12399"/>
          <a:stretch/>
        </p:blipFill>
        <p:spPr>
          <a:xfrm>
            <a:off x="235121" y="4377534"/>
            <a:ext cx="3896666" cy="1503313"/>
          </a:xfrm>
          <a:prstGeom prst="rect">
            <a:avLst/>
          </a:prstGeom>
        </p:spPr>
      </p:pic>
      <p:pic>
        <p:nvPicPr>
          <p:cNvPr id="7" name="Picture 6">
            <a:extLst>
              <a:ext uri="{FF2B5EF4-FFF2-40B4-BE49-F238E27FC236}">
                <a16:creationId xmlns:a16="http://schemas.microsoft.com/office/drawing/2014/main" id="{613AAB05-3D9D-B5A1-2ED1-8314BEE46CFA}"/>
              </a:ext>
            </a:extLst>
          </p:cNvPr>
          <p:cNvPicPr>
            <a:picLocks noChangeAspect="1"/>
          </p:cNvPicPr>
          <p:nvPr/>
        </p:nvPicPr>
        <p:blipFill rotWithShape="1">
          <a:blip r:embed="rId3">
            <a:extLst>
              <a:ext uri="{28A0092B-C50C-407E-A947-70E740481C1C}">
                <a14:useLocalDpi xmlns:a14="http://schemas.microsoft.com/office/drawing/2010/main" val="0"/>
              </a:ext>
            </a:extLst>
          </a:blip>
          <a:srcRect l="5578" b="10636"/>
          <a:stretch/>
        </p:blipFill>
        <p:spPr>
          <a:xfrm>
            <a:off x="4225357" y="4377534"/>
            <a:ext cx="3896666" cy="1503313"/>
          </a:xfrm>
          <a:prstGeom prst="rect">
            <a:avLst/>
          </a:prstGeom>
        </p:spPr>
      </p:pic>
      <p:pic>
        <p:nvPicPr>
          <p:cNvPr id="9" name="Picture 8">
            <a:extLst>
              <a:ext uri="{FF2B5EF4-FFF2-40B4-BE49-F238E27FC236}">
                <a16:creationId xmlns:a16="http://schemas.microsoft.com/office/drawing/2014/main" id="{C980CF4C-34C3-EA16-940E-12A31D398D89}"/>
              </a:ext>
            </a:extLst>
          </p:cNvPr>
          <p:cNvPicPr>
            <a:picLocks noChangeAspect="1"/>
          </p:cNvPicPr>
          <p:nvPr/>
        </p:nvPicPr>
        <p:blipFill rotWithShape="1">
          <a:blip r:embed="rId4">
            <a:extLst>
              <a:ext uri="{28A0092B-C50C-407E-A947-70E740481C1C}">
                <a14:useLocalDpi xmlns:a14="http://schemas.microsoft.com/office/drawing/2010/main" val="0"/>
              </a:ext>
            </a:extLst>
          </a:blip>
          <a:srcRect l="5905" b="16626"/>
          <a:stretch/>
        </p:blipFill>
        <p:spPr>
          <a:xfrm>
            <a:off x="8122023" y="4382475"/>
            <a:ext cx="3890584" cy="1426654"/>
          </a:xfrm>
          <a:prstGeom prst="rect">
            <a:avLst/>
          </a:prstGeom>
        </p:spPr>
      </p:pic>
      <p:sp>
        <p:nvSpPr>
          <p:cNvPr id="8" name="TextBox 7">
            <a:extLst>
              <a:ext uri="{FF2B5EF4-FFF2-40B4-BE49-F238E27FC236}">
                <a16:creationId xmlns:a16="http://schemas.microsoft.com/office/drawing/2014/main" id="{93E2C3CA-AD79-74E1-D297-62AEA626C97C}"/>
              </a:ext>
            </a:extLst>
          </p:cNvPr>
          <p:cNvSpPr txBox="1"/>
          <p:nvPr/>
        </p:nvSpPr>
        <p:spPr>
          <a:xfrm>
            <a:off x="4894728" y="6265798"/>
            <a:ext cx="240254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Relative Errors</a:t>
            </a:r>
          </a:p>
        </p:txBody>
      </p:sp>
      <p:sp>
        <p:nvSpPr>
          <p:cNvPr id="10" name="TextBox 9">
            <a:extLst>
              <a:ext uri="{FF2B5EF4-FFF2-40B4-BE49-F238E27FC236}">
                <a16:creationId xmlns:a16="http://schemas.microsoft.com/office/drawing/2014/main" id="{E0C82D01-20E5-FFEA-4788-97332D659494}"/>
              </a:ext>
            </a:extLst>
          </p:cNvPr>
          <p:cNvSpPr txBox="1"/>
          <p:nvPr/>
        </p:nvSpPr>
        <p:spPr>
          <a:xfrm>
            <a:off x="1422943" y="5880847"/>
            <a:ext cx="1359655"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2.2</a:t>
            </a:r>
          </a:p>
        </p:txBody>
      </p:sp>
      <p:sp>
        <p:nvSpPr>
          <p:cNvPr id="11" name="TextBox 10">
            <a:extLst>
              <a:ext uri="{FF2B5EF4-FFF2-40B4-BE49-F238E27FC236}">
                <a16:creationId xmlns:a16="http://schemas.microsoft.com/office/drawing/2014/main" id="{4F8A00BB-14F0-4A13-5C3D-02279910E6D9}"/>
              </a:ext>
            </a:extLst>
          </p:cNvPr>
          <p:cNvSpPr txBox="1"/>
          <p:nvPr/>
        </p:nvSpPr>
        <p:spPr>
          <a:xfrm>
            <a:off x="5319609" y="5880847"/>
            <a:ext cx="1359655"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2.3</a:t>
            </a:r>
          </a:p>
        </p:txBody>
      </p:sp>
      <p:sp>
        <p:nvSpPr>
          <p:cNvPr id="12" name="TextBox 11">
            <a:extLst>
              <a:ext uri="{FF2B5EF4-FFF2-40B4-BE49-F238E27FC236}">
                <a16:creationId xmlns:a16="http://schemas.microsoft.com/office/drawing/2014/main" id="{2E10DBBE-08DB-5E3D-655E-E6169A99D6CD}"/>
              </a:ext>
            </a:extLst>
          </p:cNvPr>
          <p:cNvSpPr txBox="1"/>
          <p:nvPr/>
        </p:nvSpPr>
        <p:spPr>
          <a:xfrm>
            <a:off x="9387487" y="5880846"/>
            <a:ext cx="1359655"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2.4</a:t>
            </a:r>
          </a:p>
        </p:txBody>
      </p:sp>
    </p:spTree>
    <p:extLst>
      <p:ext uri="{BB962C8B-B14F-4D97-AF65-F5344CB8AC3E}">
        <p14:creationId xmlns:p14="http://schemas.microsoft.com/office/powerpoint/2010/main" val="3216037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2900" dirty="0"/>
              <a:t>Test Case Results </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21</a:t>
            </a:fld>
            <a:endParaRPr lang="en-GB" dirty="0"/>
          </a:p>
        </p:txBody>
      </p:sp>
      <p:pic>
        <p:nvPicPr>
          <p:cNvPr id="9" name="Picture 8">
            <a:extLst>
              <a:ext uri="{FF2B5EF4-FFF2-40B4-BE49-F238E27FC236}">
                <a16:creationId xmlns:a16="http://schemas.microsoft.com/office/drawing/2014/main" id="{202AB2F5-7503-A966-126C-876B4BE62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345" y="1124712"/>
            <a:ext cx="3519460" cy="2346306"/>
          </a:xfrm>
          <a:prstGeom prst="rect">
            <a:avLst/>
          </a:prstGeom>
        </p:spPr>
      </p:pic>
      <p:pic>
        <p:nvPicPr>
          <p:cNvPr id="11" name="Picture 10">
            <a:extLst>
              <a:ext uri="{FF2B5EF4-FFF2-40B4-BE49-F238E27FC236}">
                <a16:creationId xmlns:a16="http://schemas.microsoft.com/office/drawing/2014/main" id="{46B2E4F7-2E95-44D4-46E4-B2AEA71F0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00" y="3733549"/>
            <a:ext cx="3519459" cy="2346306"/>
          </a:xfrm>
          <a:prstGeom prst="rect">
            <a:avLst/>
          </a:prstGeom>
        </p:spPr>
      </p:pic>
      <p:sp>
        <p:nvSpPr>
          <p:cNvPr id="14" name="TextBox 13">
            <a:extLst>
              <a:ext uri="{FF2B5EF4-FFF2-40B4-BE49-F238E27FC236}">
                <a16:creationId xmlns:a16="http://schemas.microsoft.com/office/drawing/2014/main" id="{05D6AD9B-DE9F-BA55-B40D-33B5B1D3FA4D}"/>
              </a:ext>
            </a:extLst>
          </p:cNvPr>
          <p:cNvSpPr txBox="1"/>
          <p:nvPr/>
        </p:nvSpPr>
        <p:spPr>
          <a:xfrm>
            <a:off x="1172134" y="3439219"/>
            <a:ext cx="240254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D Test Case 2.2</a:t>
            </a:r>
          </a:p>
        </p:txBody>
      </p:sp>
      <p:sp>
        <p:nvSpPr>
          <p:cNvPr id="15" name="TextBox 14">
            <a:extLst>
              <a:ext uri="{FF2B5EF4-FFF2-40B4-BE49-F238E27FC236}">
                <a16:creationId xmlns:a16="http://schemas.microsoft.com/office/drawing/2014/main" id="{D5DCD585-40B7-B191-C146-628F42808100}"/>
              </a:ext>
            </a:extLst>
          </p:cNvPr>
          <p:cNvSpPr txBox="1"/>
          <p:nvPr/>
        </p:nvSpPr>
        <p:spPr>
          <a:xfrm>
            <a:off x="1288675" y="6040665"/>
            <a:ext cx="240254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L Test Case 2.2</a:t>
            </a:r>
          </a:p>
        </p:txBody>
      </p:sp>
      <p:sp>
        <p:nvSpPr>
          <p:cNvPr id="3" name="TextBox 2">
            <a:extLst>
              <a:ext uri="{FF2B5EF4-FFF2-40B4-BE49-F238E27FC236}">
                <a16:creationId xmlns:a16="http://schemas.microsoft.com/office/drawing/2014/main" id="{05D6AD9B-DE9F-BA55-B40D-33B5B1D3FA4D}"/>
              </a:ext>
            </a:extLst>
          </p:cNvPr>
          <p:cNvSpPr txBox="1"/>
          <p:nvPr/>
        </p:nvSpPr>
        <p:spPr>
          <a:xfrm>
            <a:off x="4945336" y="3390110"/>
            <a:ext cx="2178098"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D Test Case 2.3</a:t>
            </a:r>
          </a:p>
        </p:txBody>
      </p:sp>
      <p:sp>
        <p:nvSpPr>
          <p:cNvPr id="6" name="TextBox 5">
            <a:extLst>
              <a:ext uri="{FF2B5EF4-FFF2-40B4-BE49-F238E27FC236}">
                <a16:creationId xmlns:a16="http://schemas.microsoft.com/office/drawing/2014/main" id="{D5DCD585-40B7-B191-C146-628F42808100}"/>
              </a:ext>
            </a:extLst>
          </p:cNvPr>
          <p:cNvSpPr txBox="1"/>
          <p:nvPr/>
        </p:nvSpPr>
        <p:spPr>
          <a:xfrm>
            <a:off x="5025660" y="5996819"/>
            <a:ext cx="2178098"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L Test Case 2.3</a:t>
            </a:r>
          </a:p>
        </p:txBody>
      </p:sp>
      <p:pic>
        <p:nvPicPr>
          <p:cNvPr id="13" name="Picture 12">
            <a:extLst>
              <a:ext uri="{FF2B5EF4-FFF2-40B4-BE49-F238E27FC236}">
                <a16:creationId xmlns:a16="http://schemas.microsoft.com/office/drawing/2014/main" id="{AF0A0908-44DE-3193-8F11-65220315B3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4654" y="1091178"/>
            <a:ext cx="3519461" cy="2346307"/>
          </a:xfrm>
          <a:prstGeom prst="rect">
            <a:avLst/>
          </a:prstGeom>
        </p:spPr>
      </p:pic>
      <p:pic>
        <p:nvPicPr>
          <p:cNvPr id="17" name="Picture 16">
            <a:extLst>
              <a:ext uri="{FF2B5EF4-FFF2-40B4-BE49-F238E27FC236}">
                <a16:creationId xmlns:a16="http://schemas.microsoft.com/office/drawing/2014/main" id="{E8CB67FA-47A0-EBC9-512B-FBACBBF15C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4655" y="3697887"/>
            <a:ext cx="3519460" cy="2346307"/>
          </a:xfrm>
          <a:prstGeom prst="rect">
            <a:avLst/>
          </a:prstGeom>
        </p:spPr>
      </p:pic>
      <p:sp>
        <p:nvSpPr>
          <p:cNvPr id="8" name="TextBox 7">
            <a:extLst>
              <a:ext uri="{FF2B5EF4-FFF2-40B4-BE49-F238E27FC236}">
                <a16:creationId xmlns:a16="http://schemas.microsoft.com/office/drawing/2014/main" id="{05D6AD9B-DE9F-BA55-B40D-33B5B1D3FA4D}"/>
              </a:ext>
            </a:extLst>
          </p:cNvPr>
          <p:cNvSpPr txBox="1"/>
          <p:nvPr/>
        </p:nvSpPr>
        <p:spPr>
          <a:xfrm>
            <a:off x="8837891" y="3392872"/>
            <a:ext cx="2178098"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D Test Case 2.4</a:t>
            </a:r>
          </a:p>
        </p:txBody>
      </p:sp>
      <p:sp>
        <p:nvSpPr>
          <p:cNvPr id="10" name="TextBox 9">
            <a:extLst>
              <a:ext uri="{FF2B5EF4-FFF2-40B4-BE49-F238E27FC236}">
                <a16:creationId xmlns:a16="http://schemas.microsoft.com/office/drawing/2014/main" id="{D5DCD585-40B7-B191-C146-628F42808100}"/>
              </a:ext>
            </a:extLst>
          </p:cNvPr>
          <p:cNvSpPr txBox="1"/>
          <p:nvPr/>
        </p:nvSpPr>
        <p:spPr>
          <a:xfrm>
            <a:off x="8990498" y="6040665"/>
            <a:ext cx="2178098"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Case L Test Case 2.4</a:t>
            </a:r>
          </a:p>
        </p:txBody>
      </p:sp>
      <p:pic>
        <p:nvPicPr>
          <p:cNvPr id="12" name="Picture 11">
            <a:extLst>
              <a:ext uri="{FF2B5EF4-FFF2-40B4-BE49-F238E27FC236}">
                <a16:creationId xmlns:a16="http://schemas.microsoft.com/office/drawing/2014/main" id="{84018FBE-DC24-4B42-934C-0C11ACF23B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73258" y="1112337"/>
            <a:ext cx="3519461" cy="2346307"/>
          </a:xfrm>
          <a:prstGeom prst="rect">
            <a:avLst/>
          </a:prstGeom>
        </p:spPr>
      </p:pic>
      <p:pic>
        <p:nvPicPr>
          <p:cNvPr id="16" name="Picture 15">
            <a:extLst>
              <a:ext uri="{FF2B5EF4-FFF2-40B4-BE49-F238E27FC236}">
                <a16:creationId xmlns:a16="http://schemas.microsoft.com/office/drawing/2014/main" id="{7A06D209-6083-EC33-E232-B83441DDFE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73257" y="3733549"/>
            <a:ext cx="3519462" cy="2346308"/>
          </a:xfrm>
          <a:prstGeom prst="rect">
            <a:avLst/>
          </a:prstGeom>
        </p:spPr>
      </p:pic>
    </p:spTree>
    <p:extLst>
      <p:ext uri="{BB962C8B-B14F-4D97-AF65-F5344CB8AC3E}">
        <p14:creationId xmlns:p14="http://schemas.microsoft.com/office/powerpoint/2010/main" val="1810508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372D1-150A-5DF2-D4D9-0B8489CD7384}"/>
              </a:ext>
            </a:extLst>
          </p:cNvPr>
          <p:cNvSpPr/>
          <p:nvPr/>
        </p:nvSpPr>
        <p:spPr>
          <a:xfrm>
            <a:off x="443345" y="6267169"/>
            <a:ext cx="6813176" cy="18256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fontScale="90000"/>
          </a:bodyPr>
          <a:lstStyle/>
          <a:p>
            <a:r>
              <a:rPr lang="en-IN" sz="3200" dirty="0"/>
              <a:t>Reinforcement Learning &amp; Genetic Algorithm</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5674659" y="1253331"/>
            <a:ext cx="6391835" cy="5283994"/>
          </a:xfrm>
        </p:spPr>
        <p:txBody>
          <a:bodyPr>
            <a:normAutofit/>
          </a:bodyPr>
          <a:lstStyle/>
          <a:p>
            <a:pPr marL="0" indent="0">
              <a:buNone/>
            </a:pPr>
            <a:r>
              <a:rPr lang="en-US" sz="2000" dirty="0"/>
              <a:t>RL Limitations</a:t>
            </a:r>
          </a:p>
          <a:p>
            <a:r>
              <a:rPr lang="en-US" sz="2000" dirty="0"/>
              <a:t>Hyperparameter Challenges: </a:t>
            </a:r>
          </a:p>
          <a:p>
            <a:pPr lvl="1"/>
            <a:r>
              <a:rPr lang="en-US" sz="1600" dirty="0"/>
              <a:t>Too many hyper parameters</a:t>
            </a:r>
          </a:p>
          <a:p>
            <a:r>
              <a:rPr lang="en-US" sz="2000" dirty="0"/>
              <a:t>Reward Shaping: </a:t>
            </a:r>
          </a:p>
          <a:p>
            <a:pPr lvl="1"/>
            <a:r>
              <a:rPr lang="en-US" sz="1600" dirty="0"/>
              <a:t>Often trial and error method</a:t>
            </a:r>
          </a:p>
          <a:p>
            <a:r>
              <a:rPr lang="en-US" sz="2000" dirty="0"/>
              <a:t>Debugging Difficulty: </a:t>
            </a:r>
          </a:p>
          <a:p>
            <a:pPr lvl="1"/>
            <a:r>
              <a:rPr lang="en-US" sz="1600" dirty="0"/>
              <a:t>Hard to pinpoint exact issue</a:t>
            </a:r>
          </a:p>
          <a:p>
            <a:r>
              <a:rPr lang="en-US" sz="2000" dirty="0"/>
              <a:t>Model-Free Learning: </a:t>
            </a:r>
          </a:p>
          <a:p>
            <a:pPr lvl="1"/>
            <a:r>
              <a:rPr lang="en-US" sz="1600" dirty="0"/>
              <a:t>Requires extensive direct environment interactions</a:t>
            </a:r>
          </a:p>
          <a:p>
            <a:pPr marL="0" indent="0">
              <a:buNone/>
            </a:pPr>
            <a:r>
              <a:rPr lang="en-US" sz="2000" dirty="0"/>
              <a:t>Genetic Algorithm</a:t>
            </a:r>
          </a:p>
          <a:p>
            <a:r>
              <a:rPr lang="en-US" sz="2000" dirty="0"/>
              <a:t>Effective search space exploration and solution convergence.</a:t>
            </a:r>
          </a:p>
          <a:p>
            <a:r>
              <a:rPr lang="en-US" sz="2000" dirty="0"/>
              <a:t>GA program was adapted from the source code provided by M.Sc. Julian </a:t>
            </a:r>
            <a:r>
              <a:rPr lang="en-US" sz="2000" dirty="0" err="1"/>
              <a:t>Withöft</a:t>
            </a:r>
            <a:r>
              <a:rPr lang="en-US" sz="2000" dirty="0"/>
              <a:t>.</a:t>
            </a:r>
            <a:endParaRPr lang="en-IN" sz="2000" dirty="0"/>
          </a:p>
          <a:p>
            <a:endParaRPr lang="en-US" sz="2000" dirty="0"/>
          </a:p>
          <a:p>
            <a:endParaRPr lang="en-IN" sz="2000" dirty="0"/>
          </a:p>
          <a:p>
            <a:pPr marL="0" indent="0">
              <a:buNone/>
            </a:pPr>
            <a:endParaRPr lang="en-US" sz="2000" dirty="0"/>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22</a:t>
            </a:fld>
            <a:endParaRPr lang="en-GB" dirty="0"/>
          </a:p>
        </p:txBody>
      </p:sp>
      <p:pic>
        <p:nvPicPr>
          <p:cNvPr id="7" name="Picture 6">
            <a:extLst>
              <a:ext uri="{FF2B5EF4-FFF2-40B4-BE49-F238E27FC236}">
                <a16:creationId xmlns:a16="http://schemas.microsoft.com/office/drawing/2014/main" id="{DE07F5BC-D20B-A551-A53B-14D221BCCA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627" y="2048213"/>
            <a:ext cx="4960919" cy="3299011"/>
          </a:xfrm>
          <a:prstGeom prst="rect">
            <a:avLst/>
          </a:prstGeom>
        </p:spPr>
      </p:pic>
      <p:sp>
        <p:nvSpPr>
          <p:cNvPr id="6" name="TextBox 5">
            <a:extLst>
              <a:ext uri="{FF2B5EF4-FFF2-40B4-BE49-F238E27FC236}">
                <a16:creationId xmlns:a16="http://schemas.microsoft.com/office/drawing/2014/main" id="{B296CD92-9442-AB3C-0D02-29D25FFD8A4B}"/>
              </a:ext>
            </a:extLst>
          </p:cNvPr>
          <p:cNvSpPr txBox="1"/>
          <p:nvPr/>
        </p:nvSpPr>
        <p:spPr>
          <a:xfrm>
            <a:off x="2359346" y="5475070"/>
            <a:ext cx="165439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Genetic Algorithm</a:t>
            </a:r>
          </a:p>
        </p:txBody>
      </p:sp>
      <p:sp>
        <p:nvSpPr>
          <p:cNvPr id="8" name="TextBox 7">
            <a:extLst>
              <a:ext uri="{FF2B5EF4-FFF2-40B4-BE49-F238E27FC236}">
                <a16:creationId xmlns:a16="http://schemas.microsoft.com/office/drawing/2014/main" id="{94EFF49F-52F2-A30E-BBD1-F0F5AA33568E}"/>
              </a:ext>
            </a:extLst>
          </p:cNvPr>
          <p:cNvSpPr txBox="1"/>
          <p:nvPr/>
        </p:nvSpPr>
        <p:spPr>
          <a:xfrm>
            <a:off x="443345" y="6247039"/>
            <a:ext cx="8108985" cy="215444"/>
          </a:xfrm>
          <a:prstGeom prst="rect">
            <a:avLst/>
          </a:prstGeom>
          <a:noFill/>
        </p:spPr>
        <p:txBody>
          <a:bodyPr wrap="square">
            <a:spAutoFit/>
          </a:bodyPr>
          <a:lstStyle/>
          <a:p>
            <a:r>
              <a:rPr lang="en-US" sz="800" dirty="0">
                <a:latin typeface="Arial" panose="020B0604020202020204" pitchFamily="34" charset="0"/>
                <a:cs typeface="Arial" panose="020B0604020202020204" pitchFamily="34" charset="0"/>
              </a:rPr>
              <a:t>Image </a:t>
            </a:r>
            <a:r>
              <a:rPr lang="en-US" sz="800" dirty="0" err="1">
                <a:latin typeface="Arial" panose="020B0604020202020204" pitchFamily="34" charset="0"/>
                <a:cs typeface="Arial" panose="020B0604020202020204" pitchFamily="34" charset="0"/>
              </a:rPr>
              <a:t>source:https</a:t>
            </a:r>
            <a:r>
              <a:rPr lang="en-US" sz="800" dirty="0">
                <a:latin typeface="Arial" panose="020B0604020202020204" pitchFamily="34" charset="0"/>
                <a:cs typeface="Arial" panose="020B0604020202020204" pitchFamily="34" charset="0"/>
              </a:rPr>
              <a:t>://towardsdatascience.com/an-introduction-to-genetic-algorithms-the-concept-of-biological-evolution-in-optimization-fc96e78fa6db</a:t>
            </a:r>
            <a:endParaRPr lang="en-IN"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379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fontScale="90000"/>
          </a:bodyPr>
          <a:lstStyle/>
          <a:p>
            <a:r>
              <a:rPr lang="en-IN" sz="3200" dirty="0"/>
              <a:t>Reinforcement Learning &amp; Genetic Algorithm</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23</a:t>
            </a:fld>
            <a:endParaRPr lang="en-GB" dirty="0"/>
          </a:p>
        </p:txBody>
      </p:sp>
      <p:pic>
        <p:nvPicPr>
          <p:cNvPr id="7" name="Picture 6">
            <a:extLst>
              <a:ext uri="{FF2B5EF4-FFF2-40B4-BE49-F238E27FC236}">
                <a16:creationId xmlns:a16="http://schemas.microsoft.com/office/drawing/2014/main" id="{09CB5242-8751-2870-3CE8-CDB6BD2AA11A}"/>
              </a:ext>
            </a:extLst>
          </p:cNvPr>
          <p:cNvPicPr>
            <a:picLocks noChangeAspect="1"/>
          </p:cNvPicPr>
          <p:nvPr/>
        </p:nvPicPr>
        <p:blipFill rotWithShape="1">
          <a:blip r:embed="rId2">
            <a:extLst>
              <a:ext uri="{28A0092B-C50C-407E-A947-70E740481C1C}">
                <a14:useLocalDpi xmlns:a14="http://schemas.microsoft.com/office/drawing/2010/main" val="0"/>
              </a:ext>
            </a:extLst>
          </a:blip>
          <a:srcRect t="6963"/>
          <a:stretch/>
        </p:blipFill>
        <p:spPr>
          <a:xfrm>
            <a:off x="7302532" y="1233032"/>
            <a:ext cx="4011506" cy="2488117"/>
          </a:xfrm>
          <a:prstGeom prst="rect">
            <a:avLst/>
          </a:prstGeom>
        </p:spPr>
      </p:pic>
      <p:pic>
        <p:nvPicPr>
          <p:cNvPr id="9" name="Picture 8">
            <a:extLst>
              <a:ext uri="{FF2B5EF4-FFF2-40B4-BE49-F238E27FC236}">
                <a16:creationId xmlns:a16="http://schemas.microsoft.com/office/drawing/2014/main" id="{C247C595-5A75-927E-E285-E454BA5917D0}"/>
              </a:ext>
            </a:extLst>
          </p:cNvPr>
          <p:cNvPicPr>
            <a:picLocks noChangeAspect="1"/>
          </p:cNvPicPr>
          <p:nvPr/>
        </p:nvPicPr>
        <p:blipFill rotWithShape="1">
          <a:blip r:embed="rId3">
            <a:extLst>
              <a:ext uri="{28A0092B-C50C-407E-A947-70E740481C1C}">
                <a14:useLocalDpi xmlns:a14="http://schemas.microsoft.com/office/drawing/2010/main" val="0"/>
              </a:ext>
            </a:extLst>
          </a:blip>
          <a:srcRect t="6963"/>
          <a:stretch/>
        </p:blipFill>
        <p:spPr>
          <a:xfrm>
            <a:off x="1088804" y="1233032"/>
            <a:ext cx="4011506" cy="2488117"/>
          </a:xfrm>
          <a:prstGeom prst="rect">
            <a:avLst/>
          </a:prstGeom>
        </p:spPr>
      </p:pic>
      <p:pic>
        <p:nvPicPr>
          <p:cNvPr id="6" name="Picture 5">
            <a:extLst>
              <a:ext uri="{FF2B5EF4-FFF2-40B4-BE49-F238E27FC236}">
                <a16:creationId xmlns:a16="http://schemas.microsoft.com/office/drawing/2014/main" id="{EDAE4455-7D3E-A653-EC7A-5F19DDACC6D4}"/>
              </a:ext>
            </a:extLst>
          </p:cNvPr>
          <p:cNvPicPr>
            <a:picLocks noChangeAspect="1"/>
          </p:cNvPicPr>
          <p:nvPr/>
        </p:nvPicPr>
        <p:blipFill rotWithShape="1">
          <a:blip r:embed="rId4">
            <a:extLst>
              <a:ext uri="{28A0092B-C50C-407E-A947-70E740481C1C}">
                <a14:useLocalDpi xmlns:a14="http://schemas.microsoft.com/office/drawing/2010/main" val="0"/>
              </a:ext>
            </a:extLst>
          </a:blip>
          <a:srcRect t="6963"/>
          <a:stretch/>
        </p:blipFill>
        <p:spPr>
          <a:xfrm>
            <a:off x="1088804" y="3983185"/>
            <a:ext cx="4011506" cy="2488117"/>
          </a:xfrm>
          <a:prstGeom prst="rect">
            <a:avLst/>
          </a:prstGeom>
        </p:spPr>
      </p:pic>
      <p:pic>
        <p:nvPicPr>
          <p:cNvPr id="10" name="Picture 9">
            <a:extLst>
              <a:ext uri="{FF2B5EF4-FFF2-40B4-BE49-F238E27FC236}">
                <a16:creationId xmlns:a16="http://schemas.microsoft.com/office/drawing/2014/main" id="{A48907A0-6751-4CB9-96C3-5F901C6E5594}"/>
              </a:ext>
            </a:extLst>
          </p:cNvPr>
          <p:cNvPicPr>
            <a:picLocks noChangeAspect="1"/>
          </p:cNvPicPr>
          <p:nvPr/>
        </p:nvPicPr>
        <p:blipFill rotWithShape="1">
          <a:blip r:embed="rId5">
            <a:extLst>
              <a:ext uri="{28A0092B-C50C-407E-A947-70E740481C1C}">
                <a14:useLocalDpi xmlns:a14="http://schemas.microsoft.com/office/drawing/2010/main" val="0"/>
              </a:ext>
            </a:extLst>
          </a:blip>
          <a:srcRect t="6963"/>
          <a:stretch/>
        </p:blipFill>
        <p:spPr>
          <a:xfrm>
            <a:off x="7302532" y="3907370"/>
            <a:ext cx="4011506" cy="2488117"/>
          </a:xfrm>
          <a:prstGeom prst="rect">
            <a:avLst/>
          </a:prstGeom>
        </p:spPr>
      </p:pic>
      <p:sp>
        <p:nvSpPr>
          <p:cNvPr id="3" name="TextBox 2">
            <a:extLst>
              <a:ext uri="{FF2B5EF4-FFF2-40B4-BE49-F238E27FC236}">
                <a16:creationId xmlns:a16="http://schemas.microsoft.com/office/drawing/2014/main" id="{1B82AA04-CEE6-6293-FB11-C83A37D3F398}"/>
              </a:ext>
            </a:extLst>
          </p:cNvPr>
          <p:cNvSpPr txBox="1"/>
          <p:nvPr/>
        </p:nvSpPr>
        <p:spPr>
          <a:xfrm rot="16200000">
            <a:off x="-360766" y="4999697"/>
            <a:ext cx="2138902" cy="338554"/>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Test Case 2.1 Case L</a:t>
            </a:r>
          </a:p>
        </p:txBody>
      </p:sp>
      <p:sp>
        <p:nvSpPr>
          <p:cNvPr id="8" name="TextBox 7">
            <a:extLst>
              <a:ext uri="{FF2B5EF4-FFF2-40B4-BE49-F238E27FC236}">
                <a16:creationId xmlns:a16="http://schemas.microsoft.com/office/drawing/2014/main" id="{29AA76CE-7A44-7413-2337-17690EEFFFE2}"/>
              </a:ext>
            </a:extLst>
          </p:cNvPr>
          <p:cNvSpPr txBox="1"/>
          <p:nvPr/>
        </p:nvSpPr>
        <p:spPr>
          <a:xfrm rot="16200000">
            <a:off x="-409651" y="2282723"/>
            <a:ext cx="2236675" cy="338554"/>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Test Case 2.1 Case D</a:t>
            </a:r>
          </a:p>
        </p:txBody>
      </p:sp>
      <p:sp>
        <p:nvSpPr>
          <p:cNvPr id="11" name="Arrow: Right 10">
            <a:extLst>
              <a:ext uri="{FF2B5EF4-FFF2-40B4-BE49-F238E27FC236}">
                <a16:creationId xmlns:a16="http://schemas.microsoft.com/office/drawing/2014/main" id="{6A181FA4-B4FD-05CC-FAC0-602AB35B912D}"/>
              </a:ext>
            </a:extLst>
          </p:cNvPr>
          <p:cNvSpPr/>
          <p:nvPr/>
        </p:nvSpPr>
        <p:spPr>
          <a:xfrm>
            <a:off x="5285276" y="3361149"/>
            <a:ext cx="1767606" cy="72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359F477-2EBC-5EFF-E905-05161B6E5EF2}"/>
              </a:ext>
            </a:extLst>
          </p:cNvPr>
          <p:cNvSpPr txBox="1"/>
          <p:nvPr/>
        </p:nvSpPr>
        <p:spPr>
          <a:xfrm>
            <a:off x="5321135" y="3548572"/>
            <a:ext cx="1448550" cy="338554"/>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GA Optimised</a:t>
            </a:r>
          </a:p>
        </p:txBody>
      </p:sp>
    </p:spTree>
    <p:extLst>
      <p:ext uri="{BB962C8B-B14F-4D97-AF65-F5344CB8AC3E}">
        <p14:creationId xmlns:p14="http://schemas.microsoft.com/office/powerpoint/2010/main" val="1676635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fontScale="90000"/>
          </a:bodyPr>
          <a:lstStyle/>
          <a:p>
            <a:r>
              <a:rPr lang="en-IN" sz="3200" dirty="0"/>
              <a:t>Reinforcement Learning &amp; Genetic Algorithm</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24</a:t>
            </a:fld>
            <a:endParaRPr lang="en-GB" dirty="0"/>
          </a:p>
        </p:txBody>
      </p:sp>
      <p:pic>
        <p:nvPicPr>
          <p:cNvPr id="7" name="Picture 6">
            <a:extLst>
              <a:ext uri="{FF2B5EF4-FFF2-40B4-BE49-F238E27FC236}">
                <a16:creationId xmlns:a16="http://schemas.microsoft.com/office/drawing/2014/main" id="{4B5612FE-E963-DDBB-4CE2-9FE2668E4388}"/>
              </a:ext>
            </a:extLst>
          </p:cNvPr>
          <p:cNvPicPr>
            <a:picLocks noChangeAspect="1"/>
          </p:cNvPicPr>
          <p:nvPr/>
        </p:nvPicPr>
        <p:blipFill>
          <a:blip r:embed="rId2">
            <a:extLst>
              <a:ext uri="{28A0092B-C50C-407E-A947-70E740481C1C}">
                <a14:useLocalDpi xmlns:a14="http://schemas.microsoft.com/office/drawing/2010/main" val="0"/>
              </a:ext>
            </a:extLst>
          </a:blip>
          <a:srcRect b="30252"/>
          <a:stretch/>
        </p:blipFill>
        <p:spPr>
          <a:xfrm>
            <a:off x="1132781" y="3101056"/>
            <a:ext cx="9926435" cy="1255791"/>
          </a:xfrm>
          <a:prstGeom prst="rect">
            <a:avLst/>
          </a:prstGeom>
        </p:spPr>
      </p:pic>
      <p:sp>
        <p:nvSpPr>
          <p:cNvPr id="8" name="Content Placeholder 2">
            <a:extLst>
              <a:ext uri="{FF2B5EF4-FFF2-40B4-BE49-F238E27FC236}">
                <a16:creationId xmlns:a16="http://schemas.microsoft.com/office/drawing/2014/main" id="{C3B893E9-F85A-06FC-1AA3-847A3199C0D0}"/>
              </a:ext>
            </a:extLst>
          </p:cNvPr>
          <p:cNvSpPr>
            <a:spLocks noGrp="1"/>
          </p:cNvSpPr>
          <p:nvPr>
            <p:ph idx="1"/>
          </p:nvPr>
        </p:nvSpPr>
        <p:spPr>
          <a:xfrm>
            <a:off x="443345" y="1522049"/>
            <a:ext cx="11305309" cy="4351338"/>
          </a:xfrm>
        </p:spPr>
        <p:txBody>
          <a:bodyPr>
            <a:normAutofit/>
          </a:bodyPr>
          <a:lstStyle/>
          <a:p>
            <a:r>
              <a:rPr lang="en-US" sz="2000" dirty="0"/>
              <a:t>The energy value comparison is shown.</a:t>
            </a:r>
          </a:p>
          <a:p>
            <a:r>
              <a:rPr lang="en-US" sz="2000" dirty="0"/>
              <a:t>The results show convergence to nominal value with 2 floating point precision.</a:t>
            </a:r>
          </a:p>
          <a:p>
            <a:pPr marL="0" indent="0">
              <a:buNone/>
            </a:pPr>
            <a:endParaRPr lang="en-US" sz="2000" dirty="0"/>
          </a:p>
        </p:txBody>
      </p:sp>
      <p:sp>
        <p:nvSpPr>
          <p:cNvPr id="9" name="TextBox 8">
            <a:extLst>
              <a:ext uri="{FF2B5EF4-FFF2-40B4-BE49-F238E27FC236}">
                <a16:creationId xmlns:a16="http://schemas.microsoft.com/office/drawing/2014/main" id="{11F8E488-4538-ED44-A068-C7B82FC1C850}"/>
              </a:ext>
            </a:extLst>
          </p:cNvPr>
          <p:cNvSpPr txBox="1"/>
          <p:nvPr/>
        </p:nvSpPr>
        <p:spPr>
          <a:xfrm>
            <a:off x="3594846" y="4443646"/>
            <a:ext cx="559397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Energy Values for Case D and Case L after GA Optimisation</a:t>
            </a:r>
          </a:p>
        </p:txBody>
      </p:sp>
    </p:spTree>
    <p:extLst>
      <p:ext uri="{BB962C8B-B14F-4D97-AF65-F5344CB8AC3E}">
        <p14:creationId xmlns:p14="http://schemas.microsoft.com/office/powerpoint/2010/main" val="39100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fontScale="90000"/>
          </a:bodyPr>
          <a:lstStyle/>
          <a:p>
            <a:r>
              <a:rPr lang="en-IN" sz="3200" dirty="0"/>
              <a:t>Reinforcement Learning &amp; Genetic Algorithm</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572000" y="1489682"/>
            <a:ext cx="7176654" cy="4351338"/>
          </a:xfrm>
        </p:spPr>
        <p:txBody>
          <a:bodyPr>
            <a:normAutofit fontScale="92500" lnSpcReduction="10000"/>
          </a:bodyPr>
          <a:lstStyle/>
          <a:p>
            <a:pPr marL="0" indent="0">
              <a:buNone/>
            </a:pPr>
            <a:r>
              <a:rPr lang="en-US" sz="2000" i="1" dirty="0"/>
              <a:t>“RL algorithms and their training are usually like searching in the darkness. However, it is the best method for the same”. </a:t>
            </a:r>
          </a:p>
          <a:p>
            <a:pPr marL="0" indent="0">
              <a:buNone/>
            </a:pPr>
            <a:r>
              <a:rPr lang="en-IN" sz="2000" dirty="0"/>
              <a:t>Impact of RL</a:t>
            </a:r>
          </a:p>
          <a:p>
            <a:r>
              <a:rPr lang="en-US" sz="2000" dirty="0"/>
              <a:t>Question: Is the RL-predicted starting curve necessary for GA optimization?</a:t>
            </a:r>
          </a:p>
          <a:p>
            <a:r>
              <a:rPr lang="en-US" sz="2000" dirty="0"/>
              <a:t>Test: GA optimization was tested without the RL starting curve, using a line segment instead, and compared with RL methods.</a:t>
            </a:r>
          </a:p>
          <a:p>
            <a:r>
              <a:rPr lang="en-US" sz="2000" dirty="0"/>
              <a:t>Results: GA optimization starting from RL-predicted curves (Methods 3 and 4) converged to the nominal curve; others did not.</a:t>
            </a:r>
          </a:p>
          <a:p>
            <a:r>
              <a:rPr lang="en-US" sz="2000" dirty="0"/>
              <a:t>Performance: GA starting from RL curves performed better in nearly the same time as GA without RL curves.</a:t>
            </a:r>
          </a:p>
          <a:p>
            <a:r>
              <a:rPr lang="en-US" sz="2000" dirty="0"/>
              <a:t>Inference: RL's near-global solution is essential for GA to perform well.</a:t>
            </a:r>
          </a:p>
          <a:p>
            <a:endParaRPr lang="en-US"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25</a:t>
            </a:fld>
            <a:endParaRPr lang="en-GB" dirty="0"/>
          </a:p>
        </p:txBody>
      </p:sp>
      <p:pic>
        <p:nvPicPr>
          <p:cNvPr id="7" name="Picture 6">
            <a:extLst>
              <a:ext uri="{FF2B5EF4-FFF2-40B4-BE49-F238E27FC236}">
                <a16:creationId xmlns:a16="http://schemas.microsoft.com/office/drawing/2014/main" id="{7BC4E00A-59A3-CEF3-BF04-7FFA5E971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882" y="3788360"/>
            <a:ext cx="3586520" cy="2431491"/>
          </a:xfrm>
          <a:prstGeom prst="rect">
            <a:avLst/>
          </a:prstGeom>
        </p:spPr>
      </p:pic>
      <p:pic>
        <p:nvPicPr>
          <p:cNvPr id="9" name="Picture 8">
            <a:extLst>
              <a:ext uri="{FF2B5EF4-FFF2-40B4-BE49-F238E27FC236}">
                <a16:creationId xmlns:a16="http://schemas.microsoft.com/office/drawing/2014/main" id="{0135A605-2C1F-AF29-BC6E-2C2ABB502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 y="1144213"/>
            <a:ext cx="3586520" cy="2431491"/>
          </a:xfrm>
          <a:prstGeom prst="rect">
            <a:avLst/>
          </a:prstGeom>
        </p:spPr>
      </p:pic>
      <p:sp>
        <p:nvSpPr>
          <p:cNvPr id="12" name="TextBox 11">
            <a:extLst>
              <a:ext uri="{FF2B5EF4-FFF2-40B4-BE49-F238E27FC236}">
                <a16:creationId xmlns:a16="http://schemas.microsoft.com/office/drawing/2014/main" id="{EE05C0A9-5866-583A-5F67-76423A9FF98B}"/>
              </a:ext>
            </a:extLst>
          </p:cNvPr>
          <p:cNvSpPr txBox="1"/>
          <p:nvPr/>
        </p:nvSpPr>
        <p:spPr>
          <a:xfrm>
            <a:off x="1510144" y="3480583"/>
            <a:ext cx="150199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Starting </a:t>
            </a:r>
            <a:r>
              <a:rPr lang="en-IN" sz="1400" dirty="0" err="1">
                <a:latin typeface="Arial" panose="020B0604020202020204" pitchFamily="34" charset="0"/>
                <a:cs typeface="Arial" panose="020B0604020202020204" pitchFamily="34" charset="0"/>
              </a:rPr>
              <a:t>Cruves</a:t>
            </a:r>
            <a:endParaRPr lang="en-IN" sz="14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D14F74D-F566-B133-2E37-B5617768B230}"/>
              </a:ext>
            </a:extLst>
          </p:cNvPr>
          <p:cNvSpPr txBox="1"/>
          <p:nvPr/>
        </p:nvSpPr>
        <p:spPr>
          <a:xfrm>
            <a:off x="1667347" y="6156490"/>
            <a:ext cx="1138516"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GA Results</a:t>
            </a:r>
          </a:p>
        </p:txBody>
      </p:sp>
    </p:spTree>
    <p:extLst>
      <p:ext uri="{BB962C8B-B14F-4D97-AF65-F5344CB8AC3E}">
        <p14:creationId xmlns:p14="http://schemas.microsoft.com/office/powerpoint/2010/main" val="445954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fontScale="90000"/>
          </a:bodyPr>
          <a:lstStyle/>
          <a:p>
            <a:r>
              <a:rPr lang="en-IN" sz="3200" dirty="0"/>
              <a:t>Reinforcement Learning &amp; Genetic Algorithm</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758628" y="1532199"/>
            <a:ext cx="4818936" cy="4711700"/>
          </a:xfrm>
        </p:spPr>
        <p:txBody>
          <a:bodyPr>
            <a:normAutofit fontScale="92500" lnSpcReduction="10000"/>
          </a:bodyPr>
          <a:lstStyle/>
          <a:p>
            <a:pPr marL="0" indent="0">
              <a:buNone/>
            </a:pPr>
            <a:r>
              <a:rPr lang="en-US" sz="2200" dirty="0"/>
              <a:t>Method Comparison: </a:t>
            </a:r>
          </a:p>
          <a:p>
            <a:r>
              <a:rPr lang="en-US" sz="2200" dirty="0"/>
              <a:t>Method 4 converged faster (400 steps) than Method 3 (600 steps), but Method 3 still provided a sufficient starting point for GA.</a:t>
            </a:r>
          </a:p>
          <a:p>
            <a:pPr marL="0" indent="0">
              <a:buNone/>
            </a:pPr>
            <a:r>
              <a:rPr lang="en-US" sz="2200" dirty="0"/>
              <a:t>Inference: </a:t>
            </a:r>
          </a:p>
          <a:p>
            <a:r>
              <a:rPr lang="en-US" sz="2200" dirty="0"/>
              <a:t>A good starting curve is beneficial, making RL crucial for effective GA optimization.</a:t>
            </a:r>
          </a:p>
          <a:p>
            <a:r>
              <a:rPr lang="en-US" sz="2200" dirty="0"/>
              <a:t>RL prediction takes on average 1.75 s ± 30.7 </a:t>
            </a:r>
            <a:r>
              <a:rPr lang="en-US" sz="2200" dirty="0" err="1"/>
              <a:t>ms.</a:t>
            </a:r>
            <a:endParaRPr lang="en-US" sz="2200" dirty="0"/>
          </a:p>
          <a:p>
            <a:r>
              <a:rPr lang="en-US" sz="2200" dirty="0"/>
              <a:t>GA optimization starting from near global solution takes very little time.</a:t>
            </a:r>
          </a:p>
          <a:p>
            <a:r>
              <a:rPr lang="en-US" sz="2200" dirty="0"/>
              <a:t>With RL + GA we get a suitable solution for the problem.</a:t>
            </a:r>
            <a:endParaRPr lang="en-IN" sz="2200" dirty="0"/>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26</a:t>
            </a:fld>
            <a:endParaRPr lang="en-GB" dirty="0"/>
          </a:p>
        </p:txBody>
      </p:sp>
      <p:pic>
        <p:nvPicPr>
          <p:cNvPr id="7" name="Picture 6">
            <a:extLst>
              <a:ext uri="{FF2B5EF4-FFF2-40B4-BE49-F238E27FC236}">
                <a16:creationId xmlns:a16="http://schemas.microsoft.com/office/drawing/2014/main" id="{2550DB13-DD50-E4FC-8A81-198A457DB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7" y="1532199"/>
            <a:ext cx="4371183" cy="2975258"/>
          </a:xfrm>
          <a:prstGeom prst="rect">
            <a:avLst/>
          </a:prstGeom>
        </p:spPr>
      </p:pic>
      <p:pic>
        <p:nvPicPr>
          <p:cNvPr id="8" name="Picture 7">
            <a:extLst>
              <a:ext uri="{FF2B5EF4-FFF2-40B4-BE49-F238E27FC236}">
                <a16:creationId xmlns:a16="http://schemas.microsoft.com/office/drawing/2014/main" id="{D3EBBB3E-B193-F38C-F7EB-D5A7481BF95F}"/>
              </a:ext>
            </a:extLst>
          </p:cNvPr>
          <p:cNvPicPr>
            <a:picLocks noChangeAspect="1"/>
          </p:cNvPicPr>
          <p:nvPr/>
        </p:nvPicPr>
        <p:blipFill>
          <a:blip r:embed="rId3">
            <a:extLst>
              <a:ext uri="{28A0092B-C50C-407E-A947-70E740481C1C}">
                <a14:useLocalDpi xmlns:a14="http://schemas.microsoft.com/office/drawing/2010/main" val="0"/>
              </a:ext>
            </a:extLst>
          </a:blip>
          <a:srcRect b="17608"/>
          <a:stretch/>
        </p:blipFill>
        <p:spPr>
          <a:xfrm>
            <a:off x="614436" y="4878182"/>
            <a:ext cx="5144218" cy="1216584"/>
          </a:xfrm>
          <a:prstGeom prst="rect">
            <a:avLst/>
          </a:prstGeom>
        </p:spPr>
      </p:pic>
      <p:sp>
        <p:nvSpPr>
          <p:cNvPr id="9" name="TextBox 8">
            <a:extLst>
              <a:ext uri="{FF2B5EF4-FFF2-40B4-BE49-F238E27FC236}">
                <a16:creationId xmlns:a16="http://schemas.microsoft.com/office/drawing/2014/main" id="{76F1D1ED-7AC7-945B-C717-1F3154DB315D}"/>
              </a:ext>
            </a:extLst>
          </p:cNvPr>
          <p:cNvSpPr txBox="1"/>
          <p:nvPr/>
        </p:nvSpPr>
        <p:spPr>
          <a:xfrm>
            <a:off x="1884096" y="4532561"/>
            <a:ext cx="260489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Method 3 and 4 Convergence</a:t>
            </a:r>
          </a:p>
        </p:txBody>
      </p:sp>
      <p:sp>
        <p:nvSpPr>
          <p:cNvPr id="11" name="TextBox 10">
            <a:extLst>
              <a:ext uri="{FF2B5EF4-FFF2-40B4-BE49-F238E27FC236}">
                <a16:creationId xmlns:a16="http://schemas.microsoft.com/office/drawing/2014/main" id="{4A990AAD-9E40-297A-142F-EBAA325988E5}"/>
              </a:ext>
            </a:extLst>
          </p:cNvPr>
          <p:cNvSpPr txBox="1"/>
          <p:nvPr/>
        </p:nvSpPr>
        <p:spPr>
          <a:xfrm>
            <a:off x="1219198" y="6100318"/>
            <a:ext cx="3944472"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2.1 Case D: GA Optimisation Results</a:t>
            </a:r>
          </a:p>
        </p:txBody>
      </p:sp>
    </p:spTree>
    <p:extLst>
      <p:ext uri="{BB962C8B-B14F-4D97-AF65-F5344CB8AC3E}">
        <p14:creationId xmlns:p14="http://schemas.microsoft.com/office/powerpoint/2010/main" val="2748173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Conclusion and Future Scope</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43345" y="1386354"/>
            <a:ext cx="11305309" cy="4351338"/>
          </a:xfrm>
        </p:spPr>
        <p:txBody>
          <a:bodyPr>
            <a:normAutofit/>
          </a:bodyPr>
          <a:lstStyle/>
          <a:p>
            <a:pPr marL="0" indent="0">
              <a:buNone/>
            </a:pPr>
            <a:r>
              <a:rPr lang="en-US" sz="2000" dirty="0"/>
              <a:t>Conclusion:</a:t>
            </a:r>
          </a:p>
          <a:p>
            <a:r>
              <a:rPr lang="en-US" sz="2000" dirty="0"/>
              <a:t>A Reinforcement Learning (RL) algorithm was developed to predict near-global solutions, </a:t>
            </a:r>
            <a:r>
              <a:rPr lang="en-US" sz="2000" dirty="0" err="1"/>
              <a:t>optimised</a:t>
            </a:r>
            <a:r>
              <a:rPr lang="en-US" sz="2000" dirty="0"/>
              <a:t> further using Genetic Algorithm (GA).</a:t>
            </a:r>
          </a:p>
          <a:p>
            <a:r>
              <a:rPr lang="en-US" sz="2000" dirty="0"/>
              <a:t>The combination of </a:t>
            </a:r>
            <a:r>
              <a:rPr lang="en-US" sz="2000" b="1" dirty="0"/>
              <a:t>RL + GA </a:t>
            </a:r>
            <a:r>
              <a:rPr lang="en-US" sz="2000" dirty="0"/>
              <a:t>proved to be an effective solution.</a:t>
            </a:r>
          </a:p>
          <a:p>
            <a:r>
              <a:rPr lang="en-US" sz="2000" dirty="0"/>
              <a:t>The Case D RL model + GA was implemented and hosted as a web application with a Graphical User Interface (GUI) using </a:t>
            </a:r>
            <a:r>
              <a:rPr lang="en-US" sz="2000" b="1" dirty="0" err="1"/>
              <a:t>Streamlit</a:t>
            </a:r>
            <a:r>
              <a:rPr lang="en-US" sz="2000" dirty="0"/>
              <a:t>. The application allows users to input environment parameters, view live convergence plots, and download resulting curve coordinates.</a:t>
            </a: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27</a:t>
            </a:fld>
            <a:endParaRPr lang="en-GB" dirty="0"/>
          </a:p>
        </p:txBody>
      </p:sp>
    </p:spTree>
    <p:extLst>
      <p:ext uri="{BB962C8B-B14F-4D97-AF65-F5344CB8AC3E}">
        <p14:creationId xmlns:p14="http://schemas.microsoft.com/office/powerpoint/2010/main" val="1802674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CC2A5AD-A2ED-B26C-A8AF-64CDD731E94D}"/>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D66B72E6-A28B-4B72-A62C-5640CAD10C07}"/>
              </a:ext>
            </a:extLst>
          </p:cNvPr>
          <p:cNvSpPr>
            <a:spLocks noGrp="1"/>
          </p:cNvSpPr>
          <p:nvPr>
            <p:ph type="sldNum" sz="quarter" idx="12"/>
          </p:nvPr>
        </p:nvSpPr>
        <p:spPr/>
        <p:txBody>
          <a:bodyPr/>
          <a:lstStyle/>
          <a:p>
            <a:fld id="{EECF65F8-F24C-4BCD-B573-6D272FD28F94}" type="slidenum">
              <a:rPr lang="en-GB" smtClean="0"/>
              <a:t>28</a:t>
            </a:fld>
            <a:endParaRPr lang="en-GB" dirty="0"/>
          </a:p>
        </p:txBody>
      </p:sp>
      <p:pic>
        <p:nvPicPr>
          <p:cNvPr id="6" name="GUIAppVideo">
            <a:hlinkClick r:id="" action="ppaction://media"/>
            <a:extLst>
              <a:ext uri="{FF2B5EF4-FFF2-40B4-BE49-F238E27FC236}">
                <a16:creationId xmlns:a16="http://schemas.microsoft.com/office/drawing/2014/main" id="{C65BB0D8-BAB3-858A-BD6F-879AB2B6CB7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379931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33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Conclusion and Future Scope</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43343" y="1350495"/>
            <a:ext cx="11305309" cy="4351338"/>
          </a:xfrm>
        </p:spPr>
        <p:txBody>
          <a:bodyPr>
            <a:normAutofit/>
          </a:bodyPr>
          <a:lstStyle/>
          <a:p>
            <a:pPr marL="0" indent="0">
              <a:buNone/>
            </a:pPr>
            <a:r>
              <a:rPr lang="en-US" sz="2000" dirty="0"/>
              <a:t>Future Scope:</a:t>
            </a:r>
          </a:p>
          <a:p>
            <a:r>
              <a:rPr lang="en-US" sz="2000" dirty="0"/>
              <a:t>Training for cases D and L stabilizes around seven hours, which is long despite achieving near-global accuracy.</a:t>
            </a:r>
          </a:p>
          <a:p>
            <a:r>
              <a:rPr lang="en-US" sz="2000" dirty="0"/>
              <a:t>Faster implementations of the DRL algorithm, such as JAX and SB3-JAX, could be explored. </a:t>
            </a:r>
          </a:p>
          <a:p>
            <a:r>
              <a:rPr lang="en-US" sz="2000" dirty="0"/>
              <a:t>Figure shows that compiled languages like C++ and </a:t>
            </a:r>
            <a:r>
              <a:rPr lang="en-US" sz="2000" dirty="0" err="1"/>
              <a:t>Cython</a:t>
            </a:r>
            <a:r>
              <a:rPr lang="en-US" sz="2000" dirty="0"/>
              <a:t> offer significant performance boosts over others</a:t>
            </a: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29</a:t>
            </a:fld>
            <a:endParaRPr lang="en-GB" dirty="0"/>
          </a:p>
        </p:txBody>
      </p:sp>
      <p:pic>
        <p:nvPicPr>
          <p:cNvPr id="7" name="Picture 6">
            <a:extLst>
              <a:ext uri="{FF2B5EF4-FFF2-40B4-BE49-F238E27FC236}">
                <a16:creationId xmlns:a16="http://schemas.microsoft.com/office/drawing/2014/main" id="{33104ACC-3BD1-23BB-61FC-5EE53E913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6212" y="3654161"/>
            <a:ext cx="4075509" cy="2700601"/>
          </a:xfrm>
          <a:prstGeom prst="rect">
            <a:avLst/>
          </a:prstGeom>
        </p:spPr>
      </p:pic>
    </p:spTree>
    <p:extLst>
      <p:ext uri="{BB962C8B-B14F-4D97-AF65-F5344CB8AC3E}">
        <p14:creationId xmlns:p14="http://schemas.microsoft.com/office/powerpoint/2010/main" val="1361908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858A1C4-A622-060F-51D1-B0D854597CFB}"/>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13371702-3E0C-D43E-D828-639930240CB0}"/>
              </a:ext>
            </a:extLst>
          </p:cNvPr>
          <p:cNvSpPr>
            <a:spLocks noGrp="1"/>
          </p:cNvSpPr>
          <p:nvPr>
            <p:ph type="sldNum" sz="quarter" idx="12"/>
          </p:nvPr>
        </p:nvSpPr>
        <p:spPr/>
        <p:txBody>
          <a:bodyPr/>
          <a:lstStyle/>
          <a:p>
            <a:fld id="{EECF65F8-F24C-4BCD-B573-6D272FD28F94}" type="slidenum">
              <a:rPr lang="en-GB" smtClean="0"/>
              <a:t>30</a:t>
            </a:fld>
            <a:endParaRPr lang="en-GB" dirty="0"/>
          </a:p>
        </p:txBody>
      </p:sp>
      <p:sp>
        <p:nvSpPr>
          <p:cNvPr id="6" name="TextBox 5">
            <a:extLst>
              <a:ext uri="{FF2B5EF4-FFF2-40B4-BE49-F238E27FC236}">
                <a16:creationId xmlns:a16="http://schemas.microsoft.com/office/drawing/2014/main" id="{97D52DCE-2CD9-14D7-C9EB-797E154A48E1}"/>
              </a:ext>
            </a:extLst>
          </p:cNvPr>
          <p:cNvSpPr txBox="1"/>
          <p:nvPr/>
        </p:nvSpPr>
        <p:spPr>
          <a:xfrm>
            <a:off x="277906" y="2061882"/>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2BAD53A3-CE5D-F64E-2219-F7EF9AEF2FC3}"/>
              </a:ext>
            </a:extLst>
          </p:cNvPr>
          <p:cNvSpPr txBox="1"/>
          <p:nvPr/>
        </p:nvSpPr>
        <p:spPr>
          <a:xfrm>
            <a:off x="4045323" y="2921168"/>
            <a:ext cx="4101354" cy="1015663"/>
          </a:xfrm>
          <a:prstGeom prst="rect">
            <a:avLst/>
          </a:prstGeom>
          <a:noFill/>
        </p:spPr>
        <p:txBody>
          <a:bodyPr wrap="square" rtlCol="0">
            <a:spAutoFit/>
          </a:bodyPr>
          <a:lstStyle/>
          <a:p>
            <a:r>
              <a:rPr lang="en-IN" sz="6000" dirty="0">
                <a:solidFill>
                  <a:srgbClr val="84B819"/>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713415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858A1C4-A622-060F-51D1-B0D854597CFB}"/>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13371702-3E0C-D43E-D828-639930240CB0}"/>
              </a:ext>
            </a:extLst>
          </p:cNvPr>
          <p:cNvSpPr>
            <a:spLocks noGrp="1"/>
          </p:cNvSpPr>
          <p:nvPr>
            <p:ph type="sldNum" sz="quarter" idx="12"/>
          </p:nvPr>
        </p:nvSpPr>
        <p:spPr/>
        <p:txBody>
          <a:bodyPr/>
          <a:lstStyle/>
          <a:p>
            <a:fld id="{EECF65F8-F24C-4BCD-B573-6D272FD28F94}" type="slidenum">
              <a:rPr lang="en-GB" smtClean="0"/>
              <a:t>31</a:t>
            </a:fld>
            <a:endParaRPr lang="en-GB" dirty="0"/>
          </a:p>
        </p:txBody>
      </p:sp>
      <p:sp>
        <p:nvSpPr>
          <p:cNvPr id="6" name="TextBox 5">
            <a:extLst>
              <a:ext uri="{FF2B5EF4-FFF2-40B4-BE49-F238E27FC236}">
                <a16:creationId xmlns:a16="http://schemas.microsoft.com/office/drawing/2014/main" id="{97D52DCE-2CD9-14D7-C9EB-797E154A48E1}"/>
              </a:ext>
            </a:extLst>
          </p:cNvPr>
          <p:cNvSpPr txBox="1"/>
          <p:nvPr/>
        </p:nvSpPr>
        <p:spPr>
          <a:xfrm>
            <a:off x="277906" y="2061882"/>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2BAD53A3-CE5D-F64E-2219-F7EF9AEF2FC3}"/>
              </a:ext>
            </a:extLst>
          </p:cNvPr>
          <p:cNvSpPr txBox="1"/>
          <p:nvPr/>
        </p:nvSpPr>
        <p:spPr>
          <a:xfrm>
            <a:off x="4415117" y="2921168"/>
            <a:ext cx="3361765" cy="1015663"/>
          </a:xfrm>
          <a:prstGeom prst="rect">
            <a:avLst/>
          </a:prstGeom>
          <a:noFill/>
        </p:spPr>
        <p:txBody>
          <a:bodyPr wrap="square" rtlCol="0">
            <a:spAutoFit/>
          </a:bodyPr>
          <a:lstStyle/>
          <a:p>
            <a:r>
              <a:rPr lang="en-IN" sz="6000" dirty="0">
                <a:solidFill>
                  <a:srgbClr val="84B819"/>
                </a:solidFill>
                <a:latin typeface="Arial" panose="020B0604020202020204" pitchFamily="34" charset="0"/>
                <a:cs typeface="Arial" panose="020B0604020202020204" pitchFamily="34" charset="0"/>
              </a:rPr>
              <a:t>Appendix</a:t>
            </a:r>
          </a:p>
        </p:txBody>
      </p:sp>
    </p:spTree>
    <p:extLst>
      <p:ext uri="{BB962C8B-B14F-4D97-AF65-F5344CB8AC3E}">
        <p14:creationId xmlns:p14="http://schemas.microsoft.com/office/powerpoint/2010/main" val="3544372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de-DE" sz="3200" dirty="0"/>
              <a:t>Shape Optimisation</a:t>
            </a:r>
          </a:p>
        </p:txBody>
      </p:sp>
      <p:sp>
        <p:nvSpPr>
          <p:cNvPr id="3" name="Inhaltsplatzhalter 2">
            <a:extLst>
              <a:ext uri="{FF2B5EF4-FFF2-40B4-BE49-F238E27FC236}">
                <a16:creationId xmlns:a16="http://schemas.microsoft.com/office/drawing/2014/main" id="{62FFA286-0010-4F14-83FE-E579336F66F6}"/>
              </a:ext>
            </a:extLst>
          </p:cNvPr>
          <p:cNvSpPr>
            <a:spLocks noGrp="1"/>
          </p:cNvSpPr>
          <p:nvPr>
            <p:ph idx="1"/>
          </p:nvPr>
        </p:nvSpPr>
        <p:spPr>
          <a:xfrm>
            <a:off x="443346" y="1820861"/>
            <a:ext cx="4298984" cy="4351338"/>
          </a:xfrm>
        </p:spPr>
        <p:txBody>
          <a:bodyPr/>
          <a:lstStyle/>
          <a:p>
            <a:pPr marL="457200" indent="-457200">
              <a:buFont typeface="+mj-lt"/>
              <a:buAutoNum type="arabicPeriod"/>
            </a:pPr>
            <a:r>
              <a:rPr lang="en-US" sz="2000" dirty="0"/>
              <a:t>Gradient-Based Methods:</a:t>
            </a:r>
          </a:p>
          <a:p>
            <a:pPr lvl="1"/>
            <a:r>
              <a:rPr lang="en-US" sz="1800" dirty="0"/>
              <a:t>Prone to local optima in non-linear problems.</a:t>
            </a:r>
          </a:p>
          <a:p>
            <a:pPr lvl="1"/>
            <a:r>
              <a:rPr lang="en-US" sz="1800" dirty="0"/>
              <a:t>Computationally efficient.</a:t>
            </a:r>
          </a:p>
          <a:p>
            <a:pPr marL="457200" indent="-457200">
              <a:buFont typeface="+mj-lt"/>
              <a:buAutoNum type="arabicPeriod"/>
            </a:pPr>
            <a:r>
              <a:rPr lang="en-US" sz="2000" dirty="0"/>
              <a:t>Gradient-Free Methods:</a:t>
            </a:r>
          </a:p>
          <a:p>
            <a:pPr lvl="1"/>
            <a:r>
              <a:rPr lang="en-US" sz="1800" dirty="0"/>
              <a:t>Robust against local optima.</a:t>
            </a:r>
          </a:p>
          <a:p>
            <a:pPr lvl="1"/>
            <a:r>
              <a:rPr lang="en-US" sz="1800" dirty="0"/>
              <a:t>Challenging to implement.</a:t>
            </a:r>
          </a:p>
          <a:p>
            <a:pPr lvl="1"/>
            <a:r>
              <a:rPr lang="en-US" sz="1800" dirty="0"/>
              <a:t>Heavily reliant on heuristics and more computationally expensive.</a:t>
            </a:r>
            <a:endParaRPr lang="de-DE" sz="1800" dirty="0"/>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p:txBody>
          <a:bodyPr/>
          <a:lstStyle/>
          <a:p>
            <a:fld id="{EECF65F8-F24C-4BCD-B573-6D272FD28F94}" type="slidenum">
              <a:rPr lang="en-GB" smtClean="0"/>
              <a:t>32</a:t>
            </a:fld>
            <a:endParaRPr lang="en-GB" dirty="0"/>
          </a:p>
        </p:txBody>
      </p:sp>
      <p:graphicFrame>
        <p:nvGraphicFramePr>
          <p:cNvPr id="6" name="Diagram 5">
            <a:extLst>
              <a:ext uri="{FF2B5EF4-FFF2-40B4-BE49-F238E27FC236}">
                <a16:creationId xmlns:a16="http://schemas.microsoft.com/office/drawing/2014/main" id="{1E55D9D0-DA31-0DC0-C23C-F1668737BEFB}"/>
              </a:ext>
            </a:extLst>
          </p:cNvPr>
          <p:cNvGraphicFramePr/>
          <p:nvPr>
            <p:extLst>
              <p:ext uri="{D42A27DB-BD31-4B8C-83A1-F6EECF244321}">
                <p14:modId xmlns:p14="http://schemas.microsoft.com/office/powerpoint/2010/main" val="867503142"/>
              </p:ext>
            </p:extLst>
          </p:nvPr>
        </p:nvGraphicFramePr>
        <p:xfrm>
          <a:off x="5650208" y="1924399"/>
          <a:ext cx="6244325" cy="36960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53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8CAFF-0795-470C-B85A-74CE8D954F3B}"/>
              </a:ext>
            </a:extLst>
          </p:cNvPr>
          <p:cNvSpPr>
            <a:spLocks noGrp="1"/>
          </p:cNvSpPr>
          <p:nvPr>
            <p:ph type="title"/>
          </p:nvPr>
        </p:nvSpPr>
        <p:spPr/>
        <p:txBody>
          <a:bodyPr>
            <a:normAutofit/>
          </a:bodyPr>
          <a:lstStyle/>
          <a:p>
            <a:r>
              <a:rPr lang="en-IN" sz="3200" dirty="0"/>
              <a:t>Deep Reinforcement Learning</a:t>
            </a:r>
            <a:endParaRPr lang="de-DE" sz="3200" dirty="0"/>
          </a:p>
        </p:txBody>
      </p:sp>
      <p:sp>
        <p:nvSpPr>
          <p:cNvPr id="4" name="Datumsplatzhalter 3">
            <a:extLst>
              <a:ext uri="{FF2B5EF4-FFF2-40B4-BE49-F238E27FC236}">
                <a16:creationId xmlns:a16="http://schemas.microsoft.com/office/drawing/2014/main" id="{60480893-6A17-496E-A9D8-E04083F210D2}"/>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Foliennummernplatzhalter 4">
            <a:extLst>
              <a:ext uri="{FF2B5EF4-FFF2-40B4-BE49-F238E27FC236}">
                <a16:creationId xmlns:a16="http://schemas.microsoft.com/office/drawing/2014/main" id="{CDF8C1BA-F8EA-44E5-865A-6F4FF3C19283}"/>
              </a:ext>
            </a:extLst>
          </p:cNvPr>
          <p:cNvSpPr>
            <a:spLocks noGrp="1"/>
          </p:cNvSpPr>
          <p:nvPr>
            <p:ph type="sldNum" sz="quarter" idx="12"/>
          </p:nvPr>
        </p:nvSpPr>
        <p:spPr>
          <a:xfrm>
            <a:off x="8970410" y="6354762"/>
            <a:ext cx="2743200" cy="365125"/>
          </a:xfrm>
        </p:spPr>
        <p:txBody>
          <a:bodyPr/>
          <a:lstStyle/>
          <a:p>
            <a:fld id="{EECF65F8-F24C-4BCD-B573-6D272FD28F94}" type="slidenum">
              <a:rPr lang="en-GB" smtClean="0"/>
              <a:t>33</a:t>
            </a:fld>
            <a:endParaRPr lang="en-GB" dirty="0"/>
          </a:p>
        </p:txBody>
      </p:sp>
      <p:sp>
        <p:nvSpPr>
          <p:cNvPr id="7" name="Rectangle 1">
            <a:extLst>
              <a:ext uri="{FF2B5EF4-FFF2-40B4-BE49-F238E27FC236}">
                <a16:creationId xmlns:a16="http://schemas.microsoft.com/office/drawing/2014/main" id="{AB81BAEB-D1B2-293F-A802-C5F90F30684C}"/>
              </a:ext>
            </a:extLst>
          </p:cNvPr>
          <p:cNvSpPr>
            <a:spLocks noGrp="1" noChangeArrowheads="1"/>
          </p:cNvSpPr>
          <p:nvPr>
            <p:ph idx="1"/>
          </p:nvPr>
        </p:nvSpPr>
        <p:spPr bwMode="auto">
          <a:xfrm>
            <a:off x="7360024" y="1261709"/>
            <a:ext cx="4388631"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DRL approach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Sequential Decision-Making:</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Handling Complex Problems: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Exploration-Exploitation Balance</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marL="0" indent="0" eaLnBrk="0" fontAlgn="base" hangingPunct="0">
              <a:lnSpc>
                <a:spcPct val="100000"/>
              </a:lnSpc>
              <a:spcBef>
                <a:spcPct val="0"/>
              </a:spcBef>
              <a:spcAft>
                <a:spcPct val="0"/>
              </a:spcAft>
              <a:buNone/>
            </a:pPr>
            <a:r>
              <a:rPr lang="en-IN" sz="2000" dirty="0"/>
              <a:t>DRL algorithms explored for this use case are listed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CE14F3F7-CF9E-3C57-2FEA-540101008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 y="1407436"/>
            <a:ext cx="3819260" cy="1745190"/>
          </a:xfrm>
          <a:prstGeom prst="rect">
            <a:avLst/>
          </a:prstGeom>
        </p:spPr>
      </p:pic>
      <p:sp>
        <p:nvSpPr>
          <p:cNvPr id="6" name="Rectangle 5">
            <a:extLst>
              <a:ext uri="{FF2B5EF4-FFF2-40B4-BE49-F238E27FC236}">
                <a16:creationId xmlns:a16="http://schemas.microsoft.com/office/drawing/2014/main" id="{BD5CB4DE-A827-0FD2-9B8C-89702EF15AA7}"/>
              </a:ext>
            </a:extLst>
          </p:cNvPr>
          <p:cNvSpPr/>
          <p:nvPr/>
        </p:nvSpPr>
        <p:spPr>
          <a:xfrm>
            <a:off x="488578" y="6273893"/>
            <a:ext cx="7664823" cy="174123"/>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36DD18E3-81A7-B61F-ABF7-9D9705D81A23}"/>
              </a:ext>
            </a:extLst>
          </p:cNvPr>
          <p:cNvSpPr txBox="1"/>
          <p:nvPr/>
        </p:nvSpPr>
        <p:spPr>
          <a:xfrm>
            <a:off x="443345" y="6239346"/>
            <a:ext cx="7803777" cy="230832"/>
          </a:xfrm>
          <a:prstGeom prst="rect">
            <a:avLst/>
          </a:prstGeom>
          <a:noFill/>
        </p:spPr>
        <p:txBody>
          <a:bodyPr wrap="square" rtlCol="0">
            <a:spAutoFit/>
          </a:bodyPr>
          <a:lstStyle/>
          <a:p>
            <a:r>
              <a:rPr lang="en-IN" sz="900" dirty="0">
                <a:latin typeface="Arial" panose="020B0604020202020204" pitchFamily="34" charset="0"/>
                <a:cs typeface="Arial" panose="020B0604020202020204" pitchFamily="34" charset="0"/>
              </a:rPr>
              <a:t>https://medium.com/@vishnuvijayanpv/deep-reinforcement-learning-value-functions-dqn-actor-critic-method-backpropagation-through-83a277d8c38d</a:t>
            </a:r>
          </a:p>
        </p:txBody>
      </p:sp>
      <p:graphicFrame>
        <p:nvGraphicFramePr>
          <p:cNvPr id="8" name="Diagram 7">
            <a:extLst>
              <a:ext uri="{FF2B5EF4-FFF2-40B4-BE49-F238E27FC236}">
                <a16:creationId xmlns:a16="http://schemas.microsoft.com/office/drawing/2014/main" id="{05247000-42DB-FB5A-0312-7800225FA10C}"/>
              </a:ext>
            </a:extLst>
          </p:cNvPr>
          <p:cNvGraphicFramePr/>
          <p:nvPr>
            <p:extLst>
              <p:ext uri="{D42A27DB-BD31-4B8C-83A1-F6EECF244321}">
                <p14:modId xmlns:p14="http://schemas.microsoft.com/office/powerpoint/2010/main" val="2486439383"/>
              </p:ext>
            </p:extLst>
          </p:nvPr>
        </p:nvGraphicFramePr>
        <p:xfrm>
          <a:off x="221672" y="3795760"/>
          <a:ext cx="11748655" cy="22593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33191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1</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p:txBody>
          <a:bodyPr>
            <a:normAutofit/>
          </a:bodyPr>
          <a:lstStyle/>
          <a:p>
            <a:r>
              <a:rPr lang="en-US" sz="2000" dirty="0"/>
              <a:t>The most intuitive approach for our problem is to ask the agent to generate the points for the piece-wise linear function.</a:t>
            </a:r>
          </a:p>
          <a:p>
            <a:r>
              <a:rPr lang="en-US" sz="2000" dirty="0"/>
              <a:t>Agent predicts the y-coordinates for the preset x-coordinates.</a:t>
            </a:r>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34</a:t>
            </a:fld>
            <a:endParaRPr lang="en-GB" dirty="0"/>
          </a:p>
        </p:txBody>
      </p:sp>
      <p:grpSp>
        <p:nvGrpSpPr>
          <p:cNvPr id="25" name="Group 24">
            <a:extLst>
              <a:ext uri="{FF2B5EF4-FFF2-40B4-BE49-F238E27FC236}">
                <a16:creationId xmlns:a16="http://schemas.microsoft.com/office/drawing/2014/main" id="{EFC74910-F572-A783-91F0-187888F27882}"/>
              </a:ext>
            </a:extLst>
          </p:cNvPr>
          <p:cNvGrpSpPr/>
          <p:nvPr/>
        </p:nvGrpSpPr>
        <p:grpSpPr>
          <a:xfrm>
            <a:off x="3446321" y="3146374"/>
            <a:ext cx="4591148" cy="3208388"/>
            <a:chOff x="3446321" y="3146374"/>
            <a:chExt cx="4591148" cy="3208388"/>
          </a:xfrm>
        </p:grpSpPr>
        <p:cxnSp>
          <p:nvCxnSpPr>
            <p:cNvPr id="7" name="Straight Arrow Connector 6">
              <a:extLst>
                <a:ext uri="{FF2B5EF4-FFF2-40B4-BE49-F238E27FC236}">
                  <a16:creationId xmlns:a16="http://schemas.microsoft.com/office/drawing/2014/main" id="{7BA80B30-F37F-21C5-B8A3-B7E3E79E5A98}"/>
                </a:ext>
              </a:extLst>
            </p:cNvPr>
            <p:cNvCxnSpPr/>
            <p:nvPr/>
          </p:nvCxnSpPr>
          <p:spPr>
            <a:xfrm>
              <a:off x="3648636" y="5985430"/>
              <a:ext cx="383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3AD2F5-F636-D9D5-F1F1-AC2544FFB832}"/>
                </a:ext>
              </a:extLst>
            </p:cNvPr>
            <p:cNvCxnSpPr>
              <a:cxnSpLocks/>
            </p:cNvCxnSpPr>
            <p:nvPr/>
          </p:nvCxnSpPr>
          <p:spPr>
            <a:xfrm flipV="1">
              <a:off x="3854824" y="3627712"/>
              <a:ext cx="0" cy="25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B257E47-453F-B2FC-F956-B8199538EB74}"/>
                </a:ext>
              </a:extLst>
            </p:cNvPr>
            <p:cNvSpPr txBox="1"/>
            <p:nvPr/>
          </p:nvSpPr>
          <p:spPr>
            <a:xfrm>
              <a:off x="3567954" y="5985430"/>
              <a:ext cx="364698"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0</a:t>
              </a:r>
            </a:p>
          </p:txBody>
        </p:sp>
        <p:sp>
          <p:nvSpPr>
            <p:cNvPr id="11" name="TextBox 10">
              <a:extLst>
                <a:ext uri="{FF2B5EF4-FFF2-40B4-BE49-F238E27FC236}">
                  <a16:creationId xmlns:a16="http://schemas.microsoft.com/office/drawing/2014/main" id="{BF484657-FF58-D1BC-DEA7-F9C66F0FF75C}"/>
                </a:ext>
              </a:extLst>
            </p:cNvPr>
            <p:cNvSpPr txBox="1"/>
            <p:nvPr/>
          </p:nvSpPr>
          <p:spPr>
            <a:xfrm>
              <a:off x="4138840" y="5985430"/>
              <a:ext cx="326804"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d</a:t>
              </a:r>
            </a:p>
          </p:txBody>
        </p:sp>
        <p:sp>
          <p:nvSpPr>
            <p:cNvPr id="12" name="TextBox 11">
              <a:extLst>
                <a:ext uri="{FF2B5EF4-FFF2-40B4-BE49-F238E27FC236}">
                  <a16:creationId xmlns:a16="http://schemas.microsoft.com/office/drawing/2014/main" id="{78F26465-A7AD-06CC-A1B2-0E42281EF3DC}"/>
                </a:ext>
              </a:extLst>
            </p:cNvPr>
            <p:cNvSpPr txBox="1"/>
            <p:nvPr/>
          </p:nvSpPr>
          <p:spPr>
            <a:xfrm>
              <a:off x="6348638" y="5985430"/>
              <a:ext cx="288909"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a</a:t>
              </a:r>
            </a:p>
          </p:txBody>
        </p:sp>
        <p:cxnSp>
          <p:nvCxnSpPr>
            <p:cNvPr id="14" name="Straight Connector 13">
              <a:extLst>
                <a:ext uri="{FF2B5EF4-FFF2-40B4-BE49-F238E27FC236}">
                  <a16:creationId xmlns:a16="http://schemas.microsoft.com/office/drawing/2014/main" id="{743C83A7-CF21-7978-D15C-58AB9F8F7AFB}"/>
                </a:ext>
              </a:extLst>
            </p:cNvPr>
            <p:cNvCxnSpPr/>
            <p:nvPr/>
          </p:nvCxnSpPr>
          <p:spPr>
            <a:xfrm>
              <a:off x="3852378" y="4416606"/>
              <a:ext cx="449864"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6" name="Straight Connector 15">
              <a:extLst>
                <a:ext uri="{FF2B5EF4-FFF2-40B4-BE49-F238E27FC236}">
                  <a16:creationId xmlns:a16="http://schemas.microsoft.com/office/drawing/2014/main" id="{4FFC072D-EFB1-319C-8E8F-5FE851E0A0D5}"/>
                </a:ext>
              </a:extLst>
            </p:cNvPr>
            <p:cNvCxnSpPr>
              <a:endCxn id="11" idx="0"/>
            </p:cNvCxnSpPr>
            <p:nvPr/>
          </p:nvCxnSpPr>
          <p:spPr>
            <a:xfrm>
              <a:off x="4302242" y="4416606"/>
              <a:ext cx="0" cy="156882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D93B0A21-0806-04DB-9D7B-B89B2FA67CAE}"/>
                </a:ext>
              </a:extLst>
            </p:cNvPr>
            <p:cNvSpPr txBox="1"/>
            <p:nvPr/>
          </p:nvSpPr>
          <p:spPr>
            <a:xfrm>
              <a:off x="3446321" y="4231940"/>
              <a:ext cx="364698"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1</a:t>
              </a:r>
            </a:p>
          </p:txBody>
        </p:sp>
        <p:sp>
          <p:nvSpPr>
            <p:cNvPr id="18" name="TextBox 17">
              <a:extLst>
                <a:ext uri="{FF2B5EF4-FFF2-40B4-BE49-F238E27FC236}">
                  <a16:creationId xmlns:a16="http://schemas.microsoft.com/office/drawing/2014/main" id="{BEB3CA72-DC1F-B23D-1ABD-895239372F73}"/>
                </a:ext>
              </a:extLst>
            </p:cNvPr>
            <p:cNvSpPr txBox="1"/>
            <p:nvPr/>
          </p:nvSpPr>
          <p:spPr>
            <a:xfrm>
              <a:off x="3648636" y="3146374"/>
              <a:ext cx="364698"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V</a:t>
              </a:r>
            </a:p>
          </p:txBody>
        </p:sp>
        <p:sp>
          <p:nvSpPr>
            <p:cNvPr id="19" name="TextBox 18">
              <a:extLst>
                <a:ext uri="{FF2B5EF4-FFF2-40B4-BE49-F238E27FC236}">
                  <a16:creationId xmlns:a16="http://schemas.microsoft.com/office/drawing/2014/main" id="{F673205D-2B2E-9F90-6655-2266AF346DC1}"/>
                </a:ext>
              </a:extLst>
            </p:cNvPr>
            <p:cNvSpPr txBox="1"/>
            <p:nvPr/>
          </p:nvSpPr>
          <p:spPr>
            <a:xfrm>
              <a:off x="7672771" y="5816077"/>
              <a:ext cx="364698"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x</a:t>
              </a:r>
            </a:p>
          </p:txBody>
        </p:sp>
        <p:cxnSp>
          <p:nvCxnSpPr>
            <p:cNvPr id="20" name="Straight Connector 19">
              <a:extLst>
                <a:ext uri="{FF2B5EF4-FFF2-40B4-BE49-F238E27FC236}">
                  <a16:creationId xmlns:a16="http://schemas.microsoft.com/office/drawing/2014/main" id="{35462E01-2178-7A6A-E583-BAA8CAE43473}"/>
                </a:ext>
              </a:extLst>
            </p:cNvPr>
            <p:cNvCxnSpPr/>
            <p:nvPr/>
          </p:nvCxnSpPr>
          <p:spPr>
            <a:xfrm>
              <a:off x="6510204" y="4416606"/>
              <a:ext cx="0" cy="156882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061AB1F1-520C-AFED-8903-4CEA4F1C499B}"/>
                </a:ext>
              </a:extLst>
            </p:cNvPr>
            <p:cNvCxnSpPr>
              <a:cxnSpLocks/>
            </p:cNvCxnSpPr>
            <p:nvPr/>
          </p:nvCxnSpPr>
          <p:spPr>
            <a:xfrm flipH="1">
              <a:off x="4336779" y="4416606"/>
              <a:ext cx="2156313"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26" name="TextBox 25">
            <a:extLst>
              <a:ext uri="{FF2B5EF4-FFF2-40B4-BE49-F238E27FC236}">
                <a16:creationId xmlns:a16="http://schemas.microsoft.com/office/drawing/2014/main" id="{266DDB77-6BEF-9F0D-E29E-FC15D22FD4EB}"/>
              </a:ext>
            </a:extLst>
          </p:cNvPr>
          <p:cNvSpPr txBox="1"/>
          <p:nvPr/>
        </p:nvSpPr>
        <p:spPr>
          <a:xfrm>
            <a:off x="7485530" y="3875779"/>
            <a:ext cx="3384583"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Generate g-points in this region</a:t>
            </a:r>
          </a:p>
        </p:txBody>
      </p:sp>
      <p:cxnSp>
        <p:nvCxnSpPr>
          <p:cNvPr id="28" name="Straight Arrow Connector 27">
            <a:extLst>
              <a:ext uri="{FF2B5EF4-FFF2-40B4-BE49-F238E27FC236}">
                <a16:creationId xmlns:a16="http://schemas.microsoft.com/office/drawing/2014/main" id="{AD49CAAC-E988-8C52-8768-D0CDCCA84657}"/>
              </a:ext>
            </a:extLst>
          </p:cNvPr>
          <p:cNvCxnSpPr/>
          <p:nvPr/>
        </p:nvCxnSpPr>
        <p:spPr>
          <a:xfrm flipH="1">
            <a:off x="6348638" y="4199479"/>
            <a:ext cx="1030941" cy="4581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Multiplication Sign 28">
            <a:extLst>
              <a:ext uri="{FF2B5EF4-FFF2-40B4-BE49-F238E27FC236}">
                <a16:creationId xmlns:a16="http://schemas.microsoft.com/office/drawing/2014/main" id="{A05CE0A2-06BE-BA2E-5CC9-426087985BB8}"/>
              </a:ext>
            </a:extLst>
          </p:cNvPr>
          <p:cNvSpPr/>
          <p:nvPr/>
        </p:nvSpPr>
        <p:spPr>
          <a:xfrm>
            <a:off x="4374365" y="4582461"/>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0" name="Multiplication Sign 29">
            <a:extLst>
              <a:ext uri="{FF2B5EF4-FFF2-40B4-BE49-F238E27FC236}">
                <a16:creationId xmlns:a16="http://schemas.microsoft.com/office/drawing/2014/main" id="{7C7093AE-74C3-3F5E-4A01-9C2985F9E3F5}"/>
              </a:ext>
            </a:extLst>
          </p:cNvPr>
          <p:cNvSpPr/>
          <p:nvPr/>
        </p:nvSpPr>
        <p:spPr>
          <a:xfrm>
            <a:off x="4510057" y="4735601"/>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1" name="Multiplication Sign 30">
            <a:extLst>
              <a:ext uri="{FF2B5EF4-FFF2-40B4-BE49-F238E27FC236}">
                <a16:creationId xmlns:a16="http://schemas.microsoft.com/office/drawing/2014/main" id="{6008D326-0505-A74E-0BA2-91D6F2404D96}"/>
              </a:ext>
            </a:extLst>
          </p:cNvPr>
          <p:cNvSpPr/>
          <p:nvPr/>
        </p:nvSpPr>
        <p:spPr>
          <a:xfrm>
            <a:off x="4634743" y="4902361"/>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2" name="Multiplication Sign 31">
            <a:extLst>
              <a:ext uri="{FF2B5EF4-FFF2-40B4-BE49-F238E27FC236}">
                <a16:creationId xmlns:a16="http://schemas.microsoft.com/office/drawing/2014/main" id="{025DF353-4F66-8AAC-FE7F-3EE5C2882F7A}"/>
              </a:ext>
            </a:extLst>
          </p:cNvPr>
          <p:cNvSpPr/>
          <p:nvPr/>
        </p:nvSpPr>
        <p:spPr>
          <a:xfrm>
            <a:off x="4885951" y="4972333"/>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3" name="Multiplication Sign 32">
            <a:extLst>
              <a:ext uri="{FF2B5EF4-FFF2-40B4-BE49-F238E27FC236}">
                <a16:creationId xmlns:a16="http://schemas.microsoft.com/office/drawing/2014/main" id="{DDF182A1-3710-109D-F3A4-03D052843BE5}"/>
              </a:ext>
            </a:extLst>
          </p:cNvPr>
          <p:cNvSpPr/>
          <p:nvPr/>
        </p:nvSpPr>
        <p:spPr>
          <a:xfrm>
            <a:off x="5185862" y="5212976"/>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4" name="Multiplication Sign 33">
            <a:extLst>
              <a:ext uri="{FF2B5EF4-FFF2-40B4-BE49-F238E27FC236}">
                <a16:creationId xmlns:a16="http://schemas.microsoft.com/office/drawing/2014/main" id="{74E1CDEB-2F02-ABC4-903C-00072CD8A2E7}"/>
              </a:ext>
            </a:extLst>
          </p:cNvPr>
          <p:cNvSpPr/>
          <p:nvPr/>
        </p:nvSpPr>
        <p:spPr>
          <a:xfrm>
            <a:off x="5442285" y="5515340"/>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5" name="Multiplication Sign 34">
            <a:extLst>
              <a:ext uri="{FF2B5EF4-FFF2-40B4-BE49-F238E27FC236}">
                <a16:creationId xmlns:a16="http://schemas.microsoft.com/office/drawing/2014/main" id="{2DE046A0-9D32-3051-DDAB-915B4A79F644}"/>
              </a:ext>
            </a:extLst>
          </p:cNvPr>
          <p:cNvSpPr/>
          <p:nvPr/>
        </p:nvSpPr>
        <p:spPr>
          <a:xfrm>
            <a:off x="5672914" y="5606666"/>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6" name="Multiplication Sign 35">
            <a:extLst>
              <a:ext uri="{FF2B5EF4-FFF2-40B4-BE49-F238E27FC236}">
                <a16:creationId xmlns:a16="http://schemas.microsoft.com/office/drawing/2014/main" id="{4D8257C4-5B8E-D2DF-5D93-68A60D7EBBFB}"/>
              </a:ext>
            </a:extLst>
          </p:cNvPr>
          <p:cNvSpPr/>
          <p:nvPr/>
        </p:nvSpPr>
        <p:spPr>
          <a:xfrm>
            <a:off x="5935040" y="5677636"/>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7" name="Multiplication Sign 36">
            <a:extLst>
              <a:ext uri="{FF2B5EF4-FFF2-40B4-BE49-F238E27FC236}">
                <a16:creationId xmlns:a16="http://schemas.microsoft.com/office/drawing/2014/main" id="{33247680-D282-C671-4FBC-45A7E92D9A9A}"/>
              </a:ext>
            </a:extLst>
          </p:cNvPr>
          <p:cNvSpPr/>
          <p:nvPr/>
        </p:nvSpPr>
        <p:spPr>
          <a:xfrm>
            <a:off x="6206741" y="5814525"/>
            <a:ext cx="161776" cy="141940"/>
          </a:xfrm>
          <a:prstGeom prst="mathMultiply">
            <a:avLst/>
          </a:prstGeom>
          <a:ln w="3175"/>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66130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1</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p:txBody>
          <a:bodyPr>
            <a:normAutofit/>
          </a:bodyPr>
          <a:lstStyle/>
          <a:p>
            <a:r>
              <a:rPr lang="en-IN" sz="2000" dirty="0"/>
              <a:t>Action Space and Observation Space</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35</a:t>
            </a:fld>
            <a:endParaRPr lang="en-GB" dirty="0"/>
          </a:p>
        </p:txBody>
      </p:sp>
      <p:pic>
        <p:nvPicPr>
          <p:cNvPr id="7" name="Picture 6">
            <a:extLst>
              <a:ext uri="{FF2B5EF4-FFF2-40B4-BE49-F238E27FC236}">
                <a16:creationId xmlns:a16="http://schemas.microsoft.com/office/drawing/2014/main" id="{8C24677C-597D-E003-DD33-1AD43A90975D}"/>
              </a:ext>
            </a:extLst>
          </p:cNvPr>
          <p:cNvPicPr>
            <a:picLocks noChangeAspect="1"/>
          </p:cNvPicPr>
          <p:nvPr/>
        </p:nvPicPr>
        <p:blipFill>
          <a:blip r:embed="rId2">
            <a:extLst>
              <a:ext uri="{28A0092B-C50C-407E-A947-70E740481C1C}">
                <a14:useLocalDpi xmlns:a14="http://schemas.microsoft.com/office/drawing/2010/main" val="0"/>
              </a:ext>
            </a:extLst>
          </a:blip>
          <a:srcRect b="22943"/>
          <a:stretch/>
        </p:blipFill>
        <p:spPr>
          <a:xfrm>
            <a:off x="2637656" y="2625533"/>
            <a:ext cx="5515745" cy="1446111"/>
          </a:xfrm>
          <a:prstGeom prst="rect">
            <a:avLst/>
          </a:prstGeom>
        </p:spPr>
      </p:pic>
      <p:pic>
        <p:nvPicPr>
          <p:cNvPr id="9" name="Picture 8">
            <a:extLst>
              <a:ext uri="{FF2B5EF4-FFF2-40B4-BE49-F238E27FC236}">
                <a16:creationId xmlns:a16="http://schemas.microsoft.com/office/drawing/2014/main" id="{2693CE26-266E-B20A-9288-A33297B2A71C}"/>
              </a:ext>
            </a:extLst>
          </p:cNvPr>
          <p:cNvPicPr>
            <a:picLocks noChangeAspect="1"/>
          </p:cNvPicPr>
          <p:nvPr/>
        </p:nvPicPr>
        <p:blipFill>
          <a:blip r:embed="rId3">
            <a:extLst>
              <a:ext uri="{28A0092B-C50C-407E-A947-70E740481C1C}">
                <a14:useLocalDpi xmlns:a14="http://schemas.microsoft.com/office/drawing/2010/main" val="0"/>
              </a:ext>
            </a:extLst>
          </a:blip>
          <a:srcRect b="24369"/>
          <a:stretch/>
        </p:blipFill>
        <p:spPr>
          <a:xfrm>
            <a:off x="3142551" y="4432007"/>
            <a:ext cx="4505954" cy="1592276"/>
          </a:xfrm>
          <a:prstGeom prst="rect">
            <a:avLst/>
          </a:prstGeom>
        </p:spPr>
      </p:pic>
      <p:sp>
        <p:nvSpPr>
          <p:cNvPr id="10" name="TextBox 9">
            <a:extLst>
              <a:ext uri="{FF2B5EF4-FFF2-40B4-BE49-F238E27FC236}">
                <a16:creationId xmlns:a16="http://schemas.microsoft.com/office/drawing/2014/main" id="{C0D6E1A8-58AA-6FF2-29C9-7EAAD2A8CF2E}"/>
              </a:ext>
            </a:extLst>
          </p:cNvPr>
          <p:cNvSpPr txBox="1"/>
          <p:nvPr/>
        </p:nvSpPr>
        <p:spPr>
          <a:xfrm>
            <a:off x="8682628" y="3192792"/>
            <a:ext cx="1836329"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Array of size 10</a:t>
            </a:r>
          </a:p>
        </p:txBody>
      </p:sp>
      <p:sp>
        <p:nvSpPr>
          <p:cNvPr id="11" name="TextBox 10">
            <a:extLst>
              <a:ext uri="{FF2B5EF4-FFF2-40B4-BE49-F238E27FC236}">
                <a16:creationId xmlns:a16="http://schemas.microsoft.com/office/drawing/2014/main" id="{6A0A5623-A738-4440-88F1-92CD0153C3BA}"/>
              </a:ext>
            </a:extLst>
          </p:cNvPr>
          <p:cNvSpPr txBox="1"/>
          <p:nvPr/>
        </p:nvSpPr>
        <p:spPr>
          <a:xfrm>
            <a:off x="8758420" y="5115333"/>
            <a:ext cx="1836328"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Array of size 12</a:t>
            </a:r>
          </a:p>
        </p:txBody>
      </p:sp>
      <p:sp>
        <p:nvSpPr>
          <p:cNvPr id="6" name="TextBox 5">
            <a:extLst>
              <a:ext uri="{FF2B5EF4-FFF2-40B4-BE49-F238E27FC236}">
                <a16:creationId xmlns:a16="http://schemas.microsoft.com/office/drawing/2014/main" id="{7B3A4265-3F05-5A77-05D3-B7436B74B452}"/>
              </a:ext>
            </a:extLst>
          </p:cNvPr>
          <p:cNvSpPr txBox="1"/>
          <p:nvPr/>
        </p:nvSpPr>
        <p:spPr>
          <a:xfrm>
            <a:off x="4435287" y="4001294"/>
            <a:ext cx="178621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Action for Method 1</a:t>
            </a:r>
          </a:p>
        </p:txBody>
      </p:sp>
      <p:sp>
        <p:nvSpPr>
          <p:cNvPr id="8" name="TextBox 7">
            <a:extLst>
              <a:ext uri="{FF2B5EF4-FFF2-40B4-BE49-F238E27FC236}">
                <a16:creationId xmlns:a16="http://schemas.microsoft.com/office/drawing/2014/main" id="{F5D806F3-2077-1EF8-61D3-5A37A137B5B7}"/>
              </a:ext>
            </a:extLst>
          </p:cNvPr>
          <p:cNvSpPr txBox="1"/>
          <p:nvPr/>
        </p:nvSpPr>
        <p:spPr>
          <a:xfrm>
            <a:off x="3956796" y="6099415"/>
            <a:ext cx="2743200"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Observation Space for Method 1</a:t>
            </a:r>
          </a:p>
        </p:txBody>
      </p:sp>
    </p:spTree>
    <p:extLst>
      <p:ext uri="{BB962C8B-B14F-4D97-AF65-F5344CB8AC3E}">
        <p14:creationId xmlns:p14="http://schemas.microsoft.com/office/powerpoint/2010/main" val="1252120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1</a:t>
            </a:r>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36</a:t>
            </a:fld>
            <a:endParaRPr lang="en-GB" dirty="0"/>
          </a:p>
        </p:txBody>
      </p:sp>
      <p:pic>
        <p:nvPicPr>
          <p:cNvPr id="7" name="Content Placeholder 6">
            <a:extLst>
              <a:ext uri="{FF2B5EF4-FFF2-40B4-BE49-F238E27FC236}">
                <a16:creationId xmlns:a16="http://schemas.microsoft.com/office/drawing/2014/main" id="{05D5F524-2759-6C67-4B40-7442FEB442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0613" y="1416210"/>
            <a:ext cx="5640477" cy="4938552"/>
          </a:xfrm>
          <a:prstGeom prst="rect">
            <a:avLst/>
          </a:prstGeom>
        </p:spPr>
      </p:pic>
      <p:sp>
        <p:nvSpPr>
          <p:cNvPr id="6" name="Content Placeholder 2">
            <a:extLst>
              <a:ext uri="{FF2B5EF4-FFF2-40B4-BE49-F238E27FC236}">
                <a16:creationId xmlns:a16="http://schemas.microsoft.com/office/drawing/2014/main" id="{FF20CD53-6E00-646B-A276-311342BAE61E}"/>
              </a:ext>
            </a:extLst>
          </p:cNvPr>
          <p:cNvSpPr txBox="1">
            <a:spLocks/>
          </p:cNvSpPr>
          <p:nvPr/>
        </p:nvSpPr>
        <p:spPr>
          <a:xfrm>
            <a:off x="6678705" y="1592542"/>
            <a:ext cx="49354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dirty="0"/>
              <a:t>Reward Scheme is straightforward: checks for necessary conditions and if met, the inverse of the energy value is added as reward. </a:t>
            </a:r>
          </a:p>
          <a:p>
            <a:r>
              <a:rPr lang="en-IN" sz="2000" dirty="0"/>
              <a:t>Less the energy more the reward.</a:t>
            </a:r>
          </a:p>
        </p:txBody>
      </p:sp>
    </p:spTree>
    <p:extLst>
      <p:ext uri="{BB962C8B-B14F-4D97-AF65-F5344CB8AC3E}">
        <p14:creationId xmlns:p14="http://schemas.microsoft.com/office/powerpoint/2010/main" val="290026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1</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43346" y="1825625"/>
            <a:ext cx="6328296" cy="4351338"/>
          </a:xfrm>
        </p:spPr>
        <p:txBody>
          <a:bodyPr>
            <a:normAutofit lnSpcReduction="10000"/>
          </a:bodyPr>
          <a:lstStyle/>
          <a:p>
            <a:r>
              <a:rPr lang="en-IN" sz="2000" dirty="0"/>
              <a:t>The problem at hand is model less environment with continuous action space.</a:t>
            </a:r>
          </a:p>
          <a:p>
            <a:r>
              <a:rPr lang="en-IN" sz="2000" dirty="0"/>
              <a:t>PPO algorithm is deployed with MLP policy for one million timesteps.</a:t>
            </a:r>
          </a:p>
          <a:p>
            <a:r>
              <a:rPr lang="en-IN" sz="2000" dirty="0"/>
              <a:t>The resulting training metrics show poor performance.</a:t>
            </a:r>
          </a:p>
          <a:p>
            <a:endParaRPr lang="en-IN" sz="2000" dirty="0"/>
          </a:p>
          <a:p>
            <a:pPr marL="0" indent="0">
              <a:buNone/>
            </a:pPr>
            <a:r>
              <a:rPr lang="en-IN" sz="2000" dirty="0"/>
              <a:t>Inferences:</a:t>
            </a:r>
          </a:p>
          <a:p>
            <a:r>
              <a:rPr lang="en-IN" sz="2000" dirty="0"/>
              <a:t>g-points generation had higher degree of randomness. </a:t>
            </a:r>
          </a:p>
          <a:p>
            <a:pPr lvl="1"/>
            <a:r>
              <a:rPr lang="en-IN" sz="1600" dirty="0"/>
              <a:t>Increased complexity. </a:t>
            </a:r>
          </a:p>
          <a:p>
            <a:r>
              <a:rPr lang="en-IN" sz="2000" dirty="0"/>
              <a:t>Reward scheme had nested penalties. </a:t>
            </a:r>
          </a:p>
          <a:p>
            <a:pPr lvl="1"/>
            <a:r>
              <a:rPr lang="en-IN" sz="1600" dirty="0"/>
              <a:t>Penalise positive actions </a:t>
            </a:r>
          </a:p>
          <a:p>
            <a:pPr marL="0" indent="0">
              <a:buNone/>
            </a:pPr>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37</a:t>
            </a:fld>
            <a:endParaRPr lang="en-GB" dirty="0"/>
          </a:p>
        </p:txBody>
      </p:sp>
      <p:pic>
        <p:nvPicPr>
          <p:cNvPr id="9" name="Picture 8">
            <a:extLst>
              <a:ext uri="{FF2B5EF4-FFF2-40B4-BE49-F238E27FC236}">
                <a16:creationId xmlns:a16="http://schemas.microsoft.com/office/drawing/2014/main" id="{84DD5F1B-D445-8DF6-D982-C37DEA5BD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1641" y="1068073"/>
            <a:ext cx="4467625" cy="5651814"/>
          </a:xfrm>
          <a:prstGeom prst="rect">
            <a:avLst/>
          </a:prstGeom>
        </p:spPr>
      </p:pic>
    </p:spTree>
    <p:extLst>
      <p:ext uri="{BB962C8B-B14F-4D97-AF65-F5344CB8AC3E}">
        <p14:creationId xmlns:p14="http://schemas.microsoft.com/office/powerpoint/2010/main" val="1686582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452CC-1698-55AB-EE28-5CEF1F9A89D7}"/>
              </a:ext>
            </a:extLst>
          </p:cNvPr>
          <p:cNvSpPr>
            <a:spLocks noGrp="1"/>
          </p:cNvSpPr>
          <p:nvPr>
            <p:ph type="title"/>
          </p:nvPr>
        </p:nvSpPr>
        <p:spPr/>
        <p:txBody>
          <a:bodyPr>
            <a:normAutofit/>
          </a:bodyPr>
          <a:lstStyle/>
          <a:p>
            <a:r>
              <a:rPr lang="en-IN" sz="3200" dirty="0"/>
              <a:t>Training Parameters - Test Case 2.1 </a:t>
            </a:r>
          </a:p>
        </p:txBody>
      </p:sp>
      <p:sp>
        <p:nvSpPr>
          <p:cNvPr id="4" name="Date Placeholder 3">
            <a:extLst>
              <a:ext uri="{FF2B5EF4-FFF2-40B4-BE49-F238E27FC236}">
                <a16:creationId xmlns:a16="http://schemas.microsoft.com/office/drawing/2014/main" id="{E7EDF8AF-5152-E85D-DD62-0144201929ED}"/>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531089F7-6746-5FCD-2BEC-78DE6065FC85}"/>
              </a:ext>
            </a:extLst>
          </p:cNvPr>
          <p:cNvSpPr>
            <a:spLocks noGrp="1"/>
          </p:cNvSpPr>
          <p:nvPr>
            <p:ph type="sldNum" sz="quarter" idx="12"/>
          </p:nvPr>
        </p:nvSpPr>
        <p:spPr/>
        <p:txBody>
          <a:bodyPr/>
          <a:lstStyle/>
          <a:p>
            <a:fld id="{EECF65F8-F24C-4BCD-B573-6D272FD28F94}" type="slidenum">
              <a:rPr lang="en-GB" smtClean="0"/>
              <a:t>38</a:t>
            </a:fld>
            <a:endParaRPr lang="en-GB" dirty="0"/>
          </a:p>
        </p:txBody>
      </p:sp>
      <p:pic>
        <p:nvPicPr>
          <p:cNvPr id="7" name="Picture 6">
            <a:extLst>
              <a:ext uri="{FF2B5EF4-FFF2-40B4-BE49-F238E27FC236}">
                <a16:creationId xmlns:a16="http://schemas.microsoft.com/office/drawing/2014/main" id="{31ED9511-DAC2-5663-4DF6-5CD4B01D3807}"/>
              </a:ext>
            </a:extLst>
          </p:cNvPr>
          <p:cNvPicPr>
            <a:picLocks noChangeAspect="1"/>
          </p:cNvPicPr>
          <p:nvPr/>
        </p:nvPicPr>
        <p:blipFill rotWithShape="1">
          <a:blip r:embed="rId2">
            <a:extLst>
              <a:ext uri="{28A0092B-C50C-407E-A947-70E740481C1C}">
                <a14:useLocalDpi xmlns:a14="http://schemas.microsoft.com/office/drawing/2010/main" val="0"/>
              </a:ext>
            </a:extLst>
          </a:blip>
          <a:srcRect b="64799"/>
          <a:stretch/>
        </p:blipFill>
        <p:spPr>
          <a:xfrm>
            <a:off x="759456" y="3283497"/>
            <a:ext cx="4344006" cy="1996715"/>
          </a:xfrm>
          <a:prstGeom prst="rect">
            <a:avLst/>
          </a:prstGeom>
        </p:spPr>
      </p:pic>
      <p:pic>
        <p:nvPicPr>
          <p:cNvPr id="9" name="Picture 8">
            <a:extLst>
              <a:ext uri="{FF2B5EF4-FFF2-40B4-BE49-F238E27FC236}">
                <a16:creationId xmlns:a16="http://schemas.microsoft.com/office/drawing/2014/main" id="{88BF3EEF-48EE-28C2-A5B0-CDAC50B95311}"/>
              </a:ext>
            </a:extLst>
          </p:cNvPr>
          <p:cNvPicPr>
            <a:picLocks noChangeAspect="1"/>
          </p:cNvPicPr>
          <p:nvPr/>
        </p:nvPicPr>
        <p:blipFill rotWithShape="1">
          <a:blip r:embed="rId2">
            <a:extLst>
              <a:ext uri="{28A0092B-C50C-407E-A947-70E740481C1C}">
                <a14:useLocalDpi xmlns:a14="http://schemas.microsoft.com/office/drawing/2010/main" val="0"/>
              </a:ext>
            </a:extLst>
          </a:blip>
          <a:srcRect t="50000" b="6748"/>
          <a:stretch/>
        </p:blipFill>
        <p:spPr>
          <a:xfrm>
            <a:off x="6573068" y="2868879"/>
            <a:ext cx="4344006" cy="2398043"/>
          </a:xfrm>
          <a:prstGeom prst="rect">
            <a:avLst/>
          </a:prstGeom>
        </p:spPr>
      </p:pic>
      <p:sp>
        <p:nvSpPr>
          <p:cNvPr id="8" name="TextBox 7">
            <a:extLst>
              <a:ext uri="{FF2B5EF4-FFF2-40B4-BE49-F238E27FC236}">
                <a16:creationId xmlns:a16="http://schemas.microsoft.com/office/drawing/2014/main" id="{536A2344-CDB9-AA6D-CC7A-B0CD25F640FE}"/>
              </a:ext>
            </a:extLst>
          </p:cNvPr>
          <p:cNvSpPr txBox="1"/>
          <p:nvPr/>
        </p:nvSpPr>
        <p:spPr>
          <a:xfrm>
            <a:off x="1055695" y="5266922"/>
            <a:ext cx="404776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2.1 Case D Environment Parameters</a:t>
            </a:r>
          </a:p>
        </p:txBody>
      </p:sp>
      <p:sp>
        <p:nvSpPr>
          <p:cNvPr id="10" name="TextBox 9">
            <a:extLst>
              <a:ext uri="{FF2B5EF4-FFF2-40B4-BE49-F238E27FC236}">
                <a16:creationId xmlns:a16="http://schemas.microsoft.com/office/drawing/2014/main" id="{9EB38C55-361A-7FB4-B2FD-F2D8F9A5558B}"/>
              </a:ext>
            </a:extLst>
          </p:cNvPr>
          <p:cNvSpPr txBox="1"/>
          <p:nvPr/>
        </p:nvSpPr>
        <p:spPr>
          <a:xfrm>
            <a:off x="6981570" y="5260277"/>
            <a:ext cx="404776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2.1 Case L Environment Parameters</a:t>
            </a:r>
          </a:p>
        </p:txBody>
      </p:sp>
    </p:spTree>
    <p:extLst>
      <p:ext uri="{BB962C8B-B14F-4D97-AF65-F5344CB8AC3E}">
        <p14:creationId xmlns:p14="http://schemas.microsoft.com/office/powerpoint/2010/main" val="2582823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p:txBody>
              <a:bodyPr>
                <a:normAutofit/>
              </a:bodyPr>
              <a:lstStyle/>
              <a:p>
                <a:r>
                  <a:rPr lang="en-IN" sz="2000" dirty="0"/>
                  <a:t>Random point generation increases complexity.</a:t>
                </a:r>
              </a:p>
              <a:p>
                <a:r>
                  <a:rPr lang="en-IN" sz="2000" dirty="0"/>
                  <a:t>Start with an existing monotone decreasing convex shape and then optimise.</a:t>
                </a:r>
              </a:p>
              <a:p>
                <a:r>
                  <a:rPr lang="en-IN" sz="2000" dirty="0"/>
                  <a:t>Decaying exponential function:  </a:t>
                </a:r>
                <a14:m>
                  <m:oMath xmlns:m="http://schemas.openxmlformats.org/officeDocument/2006/math">
                    <m:sSup>
                      <m:sSupPr>
                        <m:ctrlPr>
                          <a:rPr lang="en-IN" sz="2400" i="1" smtClean="0">
                            <a:latin typeface="Cambria Math" panose="02040503050406030204" pitchFamily="18" charset="0"/>
                          </a:rPr>
                        </m:ctrlPr>
                      </m:sSupPr>
                      <m:e>
                        <m:r>
                          <a:rPr lang="en-IN" sz="2400" b="0" i="1" smtClean="0">
                            <a:latin typeface="Cambria Math" panose="02040503050406030204" pitchFamily="18" charset="0"/>
                          </a:rPr>
                          <m:t>𝑒</m:t>
                        </m:r>
                      </m:e>
                      <m:sup>
                        <m:r>
                          <a:rPr lang="en-IN" sz="2400" b="0" i="1" smtClean="0">
                            <a:latin typeface="Cambria Math" panose="02040503050406030204" pitchFamily="18" charset="0"/>
                          </a:rPr>
                          <m:t>−</m:t>
                        </m:r>
                        <m:r>
                          <a:rPr lang="en-IN" sz="2400" b="0" i="1" smtClean="0">
                            <a:latin typeface="Cambria Math" panose="02040503050406030204" pitchFamily="18" charset="0"/>
                          </a:rPr>
                          <m:t>𝑥</m:t>
                        </m:r>
                      </m:sup>
                    </m:sSup>
                  </m:oMath>
                </a14:m>
                <a:endParaRPr lang="en-IN" sz="2400" dirty="0"/>
              </a:p>
              <a:p>
                <a14:m>
                  <m:oMath xmlns:m="http://schemas.openxmlformats.org/officeDocument/2006/math">
                    <m:acc>
                      <m:accPr>
                        <m:chr m:val="̂"/>
                        <m:ctrlPr>
                          <a:rPr lang="en-IN" sz="2000" i="1" smtClean="0">
                            <a:latin typeface="Cambria Math" panose="02040503050406030204" pitchFamily="18" charset="0"/>
                          </a:rPr>
                        </m:ctrlPr>
                      </m:accPr>
                      <m:e>
                        <m:r>
                          <a:rPr lang="en-IN" sz="2000" b="0" i="1" smtClean="0">
                            <a:latin typeface="Cambria Math" panose="02040503050406030204" pitchFamily="18" charset="0"/>
                          </a:rPr>
                          <m:t>𝐴</m:t>
                        </m:r>
                      </m:e>
                    </m:acc>
                    <m:r>
                      <a:rPr lang="en-IN" sz="2000" b="0" i="1" smtClean="0">
                        <a:latin typeface="Cambria Math" panose="02040503050406030204" pitchFamily="18" charset="0"/>
                      </a:rPr>
                      <m:t> </m:t>
                    </m:r>
                  </m:oMath>
                </a14:m>
                <a:r>
                  <a:rPr lang="en-US" sz="2000" dirty="0"/>
                  <a:t>is the action value. This is used as a compression factor as shown in the equation.</a:t>
                </a:r>
              </a:p>
              <a:p>
                <a:endParaRPr lang="en-US" sz="2000" dirty="0"/>
              </a:p>
              <a:p>
                <a:endParaRPr lang="en-IN" sz="2000" dirty="0"/>
              </a:p>
              <a:p>
                <a:pPr marL="0" indent="0">
                  <a:buNone/>
                </a:pPr>
                <a:endParaRPr lang="en-IN" sz="2000" dirty="0"/>
              </a:p>
              <a:p>
                <a:pPr marL="0" indent="0">
                  <a:buNone/>
                </a:pPr>
                <a:endParaRPr lang="en-IN" sz="2000" dirty="0"/>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blipFill>
                <a:blip r:embed="rId2"/>
                <a:stretch>
                  <a:fillRect l="-485" t="-1261"/>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39</a:t>
            </a:fld>
            <a:endParaRPr lang="en-GB" dirty="0"/>
          </a:p>
        </p:txBody>
      </p:sp>
      <p:pic>
        <p:nvPicPr>
          <p:cNvPr id="9" name="Content Placeholder 6">
            <a:extLst>
              <a:ext uri="{FF2B5EF4-FFF2-40B4-BE49-F238E27FC236}">
                <a16:creationId xmlns:a16="http://schemas.microsoft.com/office/drawing/2014/main" id="{A66C0F6A-4607-86E5-BA77-88088DCFB0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 y="3593821"/>
            <a:ext cx="3852842" cy="2222433"/>
          </a:xfrm>
          <a:prstGeom prst="rect">
            <a:avLst/>
          </a:prstGeom>
        </p:spPr>
      </p:pic>
      <p:pic>
        <p:nvPicPr>
          <p:cNvPr id="14" name="Picture 13">
            <a:extLst>
              <a:ext uri="{FF2B5EF4-FFF2-40B4-BE49-F238E27FC236}">
                <a16:creationId xmlns:a16="http://schemas.microsoft.com/office/drawing/2014/main" id="{CAEE0603-F78C-23E3-5124-837C7C5E03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9147" y="3678770"/>
            <a:ext cx="4020111" cy="857370"/>
          </a:xfrm>
          <a:prstGeom prst="rect">
            <a:avLst/>
          </a:prstGeom>
        </p:spPr>
      </p:pic>
      <p:pic>
        <p:nvPicPr>
          <p:cNvPr id="16" name="Picture 15">
            <a:extLst>
              <a:ext uri="{FF2B5EF4-FFF2-40B4-BE49-F238E27FC236}">
                <a16:creationId xmlns:a16="http://schemas.microsoft.com/office/drawing/2014/main" id="{ED89FA8B-8B31-FA50-4F68-5DA29C1D9B12}"/>
              </a:ext>
            </a:extLst>
          </p:cNvPr>
          <p:cNvPicPr>
            <a:picLocks noChangeAspect="1"/>
          </p:cNvPicPr>
          <p:nvPr/>
        </p:nvPicPr>
        <p:blipFill>
          <a:blip r:embed="rId5">
            <a:extLst>
              <a:ext uri="{28A0092B-C50C-407E-A947-70E740481C1C}">
                <a14:useLocalDpi xmlns:a14="http://schemas.microsoft.com/office/drawing/2010/main" val="0"/>
              </a:ext>
            </a:extLst>
          </a:blip>
          <a:srcRect b="23124"/>
          <a:stretch/>
        </p:blipFill>
        <p:spPr>
          <a:xfrm>
            <a:off x="6665084" y="4536140"/>
            <a:ext cx="4519570" cy="1138519"/>
          </a:xfrm>
          <a:prstGeom prst="rect">
            <a:avLst/>
          </a:prstGeom>
        </p:spPr>
      </p:pic>
      <p:sp>
        <p:nvSpPr>
          <p:cNvPr id="6" name="Rectangle 5">
            <a:extLst>
              <a:ext uri="{FF2B5EF4-FFF2-40B4-BE49-F238E27FC236}">
                <a16:creationId xmlns:a16="http://schemas.microsoft.com/office/drawing/2014/main" id="{0094D70A-B2DB-8D62-4482-F87A2ECAA587}"/>
              </a:ext>
            </a:extLst>
          </p:cNvPr>
          <p:cNvSpPr/>
          <p:nvPr/>
        </p:nvSpPr>
        <p:spPr>
          <a:xfrm>
            <a:off x="443344" y="6119812"/>
            <a:ext cx="6024283" cy="320675"/>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202093F-3515-B4B1-48E5-29D5E8FFFAFE}"/>
              </a:ext>
            </a:extLst>
          </p:cNvPr>
          <p:cNvSpPr txBox="1"/>
          <p:nvPr/>
        </p:nvSpPr>
        <p:spPr>
          <a:xfrm>
            <a:off x="443345" y="6122796"/>
            <a:ext cx="6024282" cy="3693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Image source: By Plot-exponential-decay.png: </a:t>
            </a:r>
            <a:r>
              <a:rPr lang="en-US" sz="900" dirty="0" err="1">
                <a:latin typeface="Arial" panose="020B0604020202020204" pitchFamily="34" charset="0"/>
                <a:cs typeface="Arial" panose="020B0604020202020204" pitchFamily="34" charset="0"/>
              </a:rPr>
              <a:t>PeterQderivative</a:t>
            </a:r>
            <a:r>
              <a:rPr lang="en-US" sz="900" dirty="0">
                <a:latin typeface="Arial" panose="020B0604020202020204" pitchFamily="34" charset="0"/>
                <a:cs typeface="Arial" panose="020B0604020202020204" pitchFamily="34" charset="0"/>
              </a:rPr>
              <a:t> work: Autopilot (talk) - Plot-exponential-decay.png, CC BY-SA 3.0, https://commons.wikimedia.org/w/index.php?curid=11042679</a:t>
            </a:r>
            <a:endParaRPr lang="en-IN" sz="9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3BD03FC-5B2B-558D-BB73-F43CF6F30C80}"/>
              </a:ext>
            </a:extLst>
          </p:cNvPr>
          <p:cNvSpPr txBox="1"/>
          <p:nvPr/>
        </p:nvSpPr>
        <p:spPr>
          <a:xfrm>
            <a:off x="8125791" y="5674659"/>
            <a:ext cx="1759325"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Action for Method 2</a:t>
            </a:r>
          </a:p>
        </p:txBody>
      </p:sp>
    </p:spTree>
    <p:extLst>
      <p:ext uri="{BB962C8B-B14F-4D97-AF65-F5344CB8AC3E}">
        <p14:creationId xmlns:p14="http://schemas.microsoft.com/office/powerpoint/2010/main" val="1562883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7394517" y="1825625"/>
                <a:ext cx="4354137" cy="4351338"/>
              </a:xfrm>
            </p:spPr>
            <p:txBody>
              <a:bodyPr>
                <a:normAutofit/>
              </a:bodyPr>
              <a:lstStyle/>
              <a:p>
                <a:r>
                  <a:rPr lang="en-US" sz="2000" dirty="0"/>
                  <a:t>Unlike Method 1, the necessary conditions will be satisfied by default. </a:t>
                </a:r>
              </a:p>
              <a:p>
                <a:r>
                  <a:rPr lang="en-US" sz="2000" dirty="0"/>
                  <a:t>Hence, the reward scheme only focuses on obtaining the minimum energy shape. </a:t>
                </a:r>
              </a:p>
              <a:p>
                <a14:m>
                  <m:oMath xmlns:m="http://schemas.openxmlformats.org/officeDocument/2006/math">
                    <m:r>
                      <a:rPr lang="en-IN" sz="2000" b="0" i="1" smtClean="0">
                        <a:latin typeface="Cambria Math" panose="02040503050406030204" pitchFamily="18" charset="0"/>
                      </a:rPr>
                      <m:t>𝑟𝑒𝑤𝑎𝑟𝑑</m:t>
                    </m:r>
                    <m:r>
                      <a:rPr lang="en-IN" sz="2000" b="0" i="1" smtClean="0">
                        <a:latin typeface="Cambria Math" panose="02040503050406030204" pitchFamily="18" charset="0"/>
                        <a:ea typeface="Cambria Math" panose="02040503050406030204" pitchFamily="18" charset="0"/>
                      </a:rPr>
                      <m:t>←</m:t>
                    </m:r>
                    <m:f>
                      <m:fPr>
                        <m:ctrlPr>
                          <a:rPr lang="en-IN" sz="2000" b="0" i="1" smtClean="0">
                            <a:latin typeface="Cambria Math" panose="02040503050406030204" pitchFamily="18" charset="0"/>
                            <a:ea typeface="Cambria Math" panose="02040503050406030204" pitchFamily="18" charset="0"/>
                          </a:rPr>
                        </m:ctrlPr>
                      </m:fPr>
                      <m:num>
                        <m:r>
                          <a:rPr lang="en-IN" sz="2000" b="0" i="1" smtClean="0">
                            <a:latin typeface="Cambria Math" panose="02040503050406030204" pitchFamily="18" charset="0"/>
                            <a:ea typeface="Cambria Math" panose="02040503050406030204" pitchFamily="18" charset="0"/>
                          </a:rPr>
                          <m:t>1</m:t>
                        </m:r>
                      </m:num>
                      <m:den>
                        <m:r>
                          <a:rPr lang="en-IN" sz="2000" b="0" i="1" smtClean="0">
                            <a:latin typeface="Cambria Math" panose="02040503050406030204" pitchFamily="18" charset="0"/>
                            <a:ea typeface="Cambria Math" panose="02040503050406030204" pitchFamily="18" charset="0"/>
                          </a:rPr>
                          <m:t>𝑊</m:t>
                        </m:r>
                      </m:den>
                    </m:f>
                    <m:r>
                      <a:rPr lang="en-IN" sz="2000" b="0" i="1" smtClean="0">
                        <a:latin typeface="Cambria Math" panose="02040503050406030204" pitchFamily="18" charset="0"/>
                        <a:ea typeface="Cambria Math" panose="02040503050406030204" pitchFamily="18" charset="0"/>
                      </a:rPr>
                      <m:t>, </m:t>
                    </m:r>
                  </m:oMath>
                </a14:m>
                <a:endParaRPr lang="en-IN" sz="2000"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ea typeface="Cambria Math" panose="02040503050406030204" pitchFamily="18" charset="0"/>
                        </a:rPr>
                        <m:t>𝑤h𝑒𝑟𝑒</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𝑊</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𝑖𝑠</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𝑡h𝑒</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𝑒𝑛𝑒𝑟𝑔𝑦</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𝑜𝑓</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𝑡h𝑒</m:t>
                      </m:r>
                      <m:r>
                        <a:rPr lang="en-IN" sz="2000" b="0" i="1" smtClean="0">
                          <a:latin typeface="Cambria Math" panose="02040503050406030204" pitchFamily="18" charset="0"/>
                          <a:ea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𝑟𝑒𝑔𝑖𝑜𝑛</m:t>
                      </m:r>
                    </m:oMath>
                  </m:oMathPara>
                </a14:m>
                <a:endParaRPr lang="en-IN" sz="2000" b="0" dirty="0">
                  <a:ea typeface="Cambria Math" panose="02040503050406030204" pitchFamily="18" charset="0"/>
                </a:endParaRPr>
              </a:p>
              <a:p>
                <a:r>
                  <a:rPr lang="en-IN" sz="2000" dirty="0">
                    <a:ea typeface="Cambria Math" panose="02040503050406030204" pitchFamily="18" charset="0"/>
                  </a:rPr>
                  <a:t>Less the energy more the reward</a:t>
                </a:r>
              </a:p>
              <a:p>
                <a:r>
                  <a:rPr lang="en-US" sz="2000" dirty="0"/>
                  <a:t>PPO with an MLP policy is deployed. </a:t>
                </a:r>
              </a:p>
              <a:p>
                <a:endParaRPr lang="en-IN" sz="2000" b="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7394517" y="1825625"/>
                <a:ext cx="4354137" cy="4351338"/>
              </a:xfrm>
              <a:blipFill>
                <a:blip r:embed="rId2"/>
                <a:stretch>
                  <a:fillRect l="-1261" t="-1261" r="-1120"/>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40</a:t>
            </a:fld>
            <a:endParaRPr lang="en-GB" dirty="0"/>
          </a:p>
        </p:txBody>
      </p:sp>
      <p:pic>
        <p:nvPicPr>
          <p:cNvPr id="7" name="Picture 6">
            <a:extLst>
              <a:ext uri="{FF2B5EF4-FFF2-40B4-BE49-F238E27FC236}">
                <a16:creationId xmlns:a16="http://schemas.microsoft.com/office/drawing/2014/main" id="{9B3E8023-DC58-5A1B-3993-E0D54C54B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 y="1647825"/>
            <a:ext cx="6951172" cy="4529137"/>
          </a:xfrm>
          <a:prstGeom prst="rect">
            <a:avLst/>
          </a:prstGeom>
        </p:spPr>
      </p:pic>
    </p:spTree>
    <p:extLst>
      <p:ext uri="{BB962C8B-B14F-4D97-AF65-F5344CB8AC3E}">
        <p14:creationId xmlns:p14="http://schemas.microsoft.com/office/powerpoint/2010/main" val="3984071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2</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7602073" y="1283907"/>
            <a:ext cx="4146581" cy="5201257"/>
          </a:xfrm>
        </p:spPr>
        <p:txBody>
          <a:bodyPr>
            <a:normAutofit/>
          </a:bodyPr>
          <a:lstStyle/>
          <a:p>
            <a:r>
              <a:rPr lang="en-US" sz="2000" dirty="0"/>
              <a:t>Better results obtained.</a:t>
            </a:r>
          </a:p>
          <a:p>
            <a:r>
              <a:rPr lang="en-IN" sz="2000" dirty="0"/>
              <a:t>The rewards and losses have not converged even after 50 hours of training.</a:t>
            </a:r>
          </a:p>
          <a:p>
            <a:pPr marL="0" indent="0">
              <a:buNone/>
            </a:pPr>
            <a:r>
              <a:rPr lang="en-IN" sz="2000" dirty="0"/>
              <a:t>Inferences:</a:t>
            </a:r>
          </a:p>
          <a:p>
            <a:r>
              <a:rPr lang="en-US" sz="2000" dirty="0"/>
              <a:t>The decaying exponential function method solves the problem of satisfying the necessary conditions, </a:t>
            </a:r>
          </a:p>
          <a:p>
            <a:r>
              <a:rPr lang="en-US" sz="2000" dirty="0"/>
              <a:t>but limited flexibility as the exponential function always has a base fixed shape.</a:t>
            </a:r>
          </a:p>
          <a:p>
            <a:r>
              <a:rPr lang="en-US" sz="2000" dirty="0"/>
              <a:t>Higher Fourier coefficients increases calculation complexity. Slow training.</a:t>
            </a:r>
          </a:p>
          <a:p>
            <a:pPr marL="0" indent="0">
              <a:buNone/>
            </a:pPr>
            <a:endParaRPr lang="en-IN" sz="2000" dirty="0"/>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41</a:t>
            </a:fld>
            <a:endParaRPr lang="en-GB" dirty="0"/>
          </a:p>
        </p:txBody>
      </p:sp>
      <p:pic>
        <p:nvPicPr>
          <p:cNvPr id="8" name="Picture 7">
            <a:extLst>
              <a:ext uri="{FF2B5EF4-FFF2-40B4-BE49-F238E27FC236}">
                <a16:creationId xmlns:a16="http://schemas.microsoft.com/office/drawing/2014/main" id="{F7CD123D-C9DC-8FC3-1738-FB709B803B9E}"/>
              </a:ext>
            </a:extLst>
          </p:cNvPr>
          <p:cNvPicPr>
            <a:picLocks noChangeAspect="1"/>
          </p:cNvPicPr>
          <p:nvPr/>
        </p:nvPicPr>
        <p:blipFill>
          <a:blip r:embed="rId2">
            <a:extLst>
              <a:ext uri="{28A0092B-C50C-407E-A947-70E740481C1C}">
                <a14:useLocalDpi xmlns:a14="http://schemas.microsoft.com/office/drawing/2010/main" val="0"/>
              </a:ext>
            </a:extLst>
          </a:blip>
          <a:srcRect b="84466"/>
          <a:stretch/>
        </p:blipFill>
        <p:spPr>
          <a:xfrm>
            <a:off x="89647" y="1894097"/>
            <a:ext cx="3800269" cy="535338"/>
          </a:xfrm>
          <a:prstGeom prst="rect">
            <a:avLst/>
          </a:prstGeom>
        </p:spPr>
      </p:pic>
      <p:pic>
        <p:nvPicPr>
          <p:cNvPr id="6" name="Picture 5">
            <a:extLst>
              <a:ext uri="{FF2B5EF4-FFF2-40B4-BE49-F238E27FC236}">
                <a16:creationId xmlns:a16="http://schemas.microsoft.com/office/drawing/2014/main" id="{41F23947-FBD2-D3C9-EF41-F3D1A49398A6}"/>
              </a:ext>
            </a:extLst>
          </p:cNvPr>
          <p:cNvPicPr>
            <a:picLocks noChangeAspect="1"/>
          </p:cNvPicPr>
          <p:nvPr/>
        </p:nvPicPr>
        <p:blipFill rotWithShape="1">
          <a:blip r:embed="rId3">
            <a:extLst>
              <a:ext uri="{28A0092B-C50C-407E-A947-70E740481C1C}">
                <a14:useLocalDpi xmlns:a14="http://schemas.microsoft.com/office/drawing/2010/main" val="0"/>
              </a:ext>
            </a:extLst>
          </a:blip>
          <a:srcRect l="7881" t="-463" r="6151" b="55782"/>
          <a:stretch/>
        </p:blipFill>
        <p:spPr>
          <a:xfrm>
            <a:off x="3499301" y="1283908"/>
            <a:ext cx="4027983" cy="2059928"/>
          </a:xfrm>
          <a:prstGeom prst="rect">
            <a:avLst/>
          </a:prstGeom>
        </p:spPr>
      </p:pic>
      <p:pic>
        <p:nvPicPr>
          <p:cNvPr id="7" name="Picture 6">
            <a:extLst>
              <a:ext uri="{FF2B5EF4-FFF2-40B4-BE49-F238E27FC236}">
                <a16:creationId xmlns:a16="http://schemas.microsoft.com/office/drawing/2014/main" id="{A816FFF6-291C-CB92-8DCC-656B9BC0FE6E}"/>
              </a:ext>
            </a:extLst>
          </p:cNvPr>
          <p:cNvPicPr>
            <a:picLocks noChangeAspect="1"/>
          </p:cNvPicPr>
          <p:nvPr/>
        </p:nvPicPr>
        <p:blipFill>
          <a:blip r:embed="rId2">
            <a:extLst>
              <a:ext uri="{28A0092B-C50C-407E-A947-70E740481C1C}">
                <a14:useLocalDpi xmlns:a14="http://schemas.microsoft.com/office/drawing/2010/main" val="0"/>
              </a:ext>
            </a:extLst>
          </a:blip>
          <a:srcRect t="24638" b="7210"/>
          <a:stretch/>
        </p:blipFill>
        <p:spPr>
          <a:xfrm>
            <a:off x="89647" y="3031838"/>
            <a:ext cx="3800269" cy="2348754"/>
          </a:xfrm>
          <a:prstGeom prst="rect">
            <a:avLst/>
          </a:prstGeom>
        </p:spPr>
      </p:pic>
      <p:sp>
        <p:nvSpPr>
          <p:cNvPr id="9" name="TextBox 8">
            <a:extLst>
              <a:ext uri="{FF2B5EF4-FFF2-40B4-BE49-F238E27FC236}">
                <a16:creationId xmlns:a16="http://schemas.microsoft.com/office/drawing/2014/main" id="{6C041EE3-E0C2-DF58-FC7C-43CB6C163E2A}"/>
              </a:ext>
            </a:extLst>
          </p:cNvPr>
          <p:cNvSpPr txBox="1"/>
          <p:nvPr/>
        </p:nvSpPr>
        <p:spPr>
          <a:xfrm>
            <a:off x="749439" y="2493424"/>
            <a:ext cx="267507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Prediction Energy for Method 2</a:t>
            </a:r>
          </a:p>
        </p:txBody>
      </p:sp>
      <p:sp>
        <p:nvSpPr>
          <p:cNvPr id="10" name="TextBox 9">
            <a:extLst>
              <a:ext uri="{FF2B5EF4-FFF2-40B4-BE49-F238E27FC236}">
                <a16:creationId xmlns:a16="http://schemas.microsoft.com/office/drawing/2014/main" id="{E43CB2A9-5E5A-94AD-1C2B-B18A759FE294}"/>
              </a:ext>
            </a:extLst>
          </p:cNvPr>
          <p:cNvSpPr txBox="1"/>
          <p:nvPr/>
        </p:nvSpPr>
        <p:spPr>
          <a:xfrm>
            <a:off x="1136335" y="5406011"/>
            <a:ext cx="170689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G Points Method 2</a:t>
            </a:r>
          </a:p>
        </p:txBody>
      </p:sp>
      <p:pic>
        <p:nvPicPr>
          <p:cNvPr id="11" name="Picture 10">
            <a:extLst>
              <a:ext uri="{FF2B5EF4-FFF2-40B4-BE49-F238E27FC236}">
                <a16:creationId xmlns:a16="http://schemas.microsoft.com/office/drawing/2014/main" id="{BDEFC2D1-D383-F683-E20C-5CFC6B17D4D6}"/>
              </a:ext>
            </a:extLst>
          </p:cNvPr>
          <p:cNvPicPr>
            <a:picLocks noChangeAspect="1"/>
          </p:cNvPicPr>
          <p:nvPr/>
        </p:nvPicPr>
        <p:blipFill rotWithShape="1">
          <a:blip r:embed="rId3">
            <a:extLst>
              <a:ext uri="{28A0092B-C50C-407E-A947-70E740481C1C}">
                <a14:useLocalDpi xmlns:a14="http://schemas.microsoft.com/office/drawing/2010/main" val="0"/>
              </a:ext>
            </a:extLst>
          </a:blip>
          <a:srcRect l="7881" t="50737" r="6151" b="7407"/>
          <a:stretch/>
        </p:blipFill>
        <p:spPr>
          <a:xfrm>
            <a:off x="3732003" y="3681553"/>
            <a:ext cx="4027983" cy="1929676"/>
          </a:xfrm>
          <a:prstGeom prst="rect">
            <a:avLst/>
          </a:prstGeom>
        </p:spPr>
      </p:pic>
      <p:sp>
        <p:nvSpPr>
          <p:cNvPr id="12" name="TextBox 11">
            <a:extLst>
              <a:ext uri="{FF2B5EF4-FFF2-40B4-BE49-F238E27FC236}">
                <a16:creationId xmlns:a16="http://schemas.microsoft.com/office/drawing/2014/main" id="{F3047266-527A-F173-EA68-153D7B4C2DB5}"/>
              </a:ext>
            </a:extLst>
          </p:cNvPr>
          <p:cNvSpPr txBox="1"/>
          <p:nvPr/>
        </p:nvSpPr>
        <p:spPr>
          <a:xfrm>
            <a:off x="4776006" y="3336640"/>
            <a:ext cx="1706891"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Rewards Method 2</a:t>
            </a:r>
          </a:p>
        </p:txBody>
      </p:sp>
      <p:sp>
        <p:nvSpPr>
          <p:cNvPr id="13" name="TextBox 12">
            <a:extLst>
              <a:ext uri="{FF2B5EF4-FFF2-40B4-BE49-F238E27FC236}">
                <a16:creationId xmlns:a16="http://schemas.microsoft.com/office/drawing/2014/main" id="{9E17B3C6-122E-5E2E-08CE-FA5D10C7BDD4}"/>
              </a:ext>
            </a:extLst>
          </p:cNvPr>
          <p:cNvSpPr txBox="1"/>
          <p:nvPr/>
        </p:nvSpPr>
        <p:spPr>
          <a:xfrm>
            <a:off x="3958949" y="5789989"/>
            <a:ext cx="3801037" cy="523220"/>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Value Loss (left), Policy Gradient Loss (right) for Method 2</a:t>
            </a:r>
          </a:p>
        </p:txBody>
      </p:sp>
    </p:spTree>
    <p:extLst>
      <p:ext uri="{BB962C8B-B14F-4D97-AF65-F5344CB8AC3E}">
        <p14:creationId xmlns:p14="http://schemas.microsoft.com/office/powerpoint/2010/main" val="3076948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615953" y="1825625"/>
                <a:ext cx="5132701" cy="4351338"/>
              </a:xfrm>
            </p:spPr>
            <p:txBody>
              <a:bodyPr>
                <a:normAutofit/>
              </a:bodyPr>
              <a:lstStyle/>
              <a:p>
                <a:r>
                  <a:rPr lang="en-US" sz="2000" dirty="0"/>
                  <a:t>Search space (0, 1) </a:t>
                </a:r>
                <a14:m>
                  <m:oMath xmlns:m="http://schemas.openxmlformats.org/officeDocument/2006/math">
                    <m:r>
                      <a:rPr lang="en-IN" sz="1800" b="0" i="1" kern="1200" smtClean="0">
                        <a:solidFill>
                          <a:srgbClr val="000000"/>
                        </a:solidFill>
                        <a:effectLst/>
                        <a:latin typeface="Cambria Math" panose="02040503050406030204" pitchFamily="18" charset="0"/>
                        <a:ea typeface="+mn-ea"/>
                        <a:cs typeface="Arial" panose="020B0604020202020204" pitchFamily="34" charset="0"/>
                      </a:rPr>
                      <m:t>→ </m:t>
                    </m:r>
                  </m:oMath>
                </a14:m>
                <a:r>
                  <a:rPr lang="en-US" sz="2000" dirty="0"/>
                  <a:t> no guarantee for necessary conditions.</a:t>
                </a:r>
              </a:p>
              <a:p>
                <a:r>
                  <a:rPr lang="en-US" sz="2000" dirty="0"/>
                  <a:t> Threshold parameter in reward scheme to meet monotonicity. Monotonicity guarantees convexity.</a:t>
                </a:r>
              </a:p>
              <a:p>
                <a:endParaRPr lang="en-US" sz="2000" dirty="0"/>
              </a:p>
              <a:p>
                <a:pPr marL="0" indent="0">
                  <a:buNone/>
                </a:pPr>
                <a:endParaRPr lang="en-US" sz="2000" dirty="0"/>
              </a:p>
              <a:p>
                <a:pPr marL="0" indent="0">
                  <a:buNone/>
                </a:pPr>
                <a:endParaRPr lang="en-US" sz="2000" dirty="0"/>
              </a:p>
              <a:p>
                <a:pPr marL="0" indent="0">
                  <a:buNone/>
                </a:pPr>
                <a:endParaRPr lang="en-IN" sz="2000" dirty="0"/>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6615953" y="1825625"/>
                <a:ext cx="5132701" cy="4351338"/>
              </a:xfrm>
              <a:blipFill>
                <a:blip r:embed="rId2"/>
                <a:stretch>
                  <a:fillRect l="-1069" t="-1261"/>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42</a:t>
            </a:fld>
            <a:endParaRPr lang="en-GB" dirty="0"/>
          </a:p>
        </p:txBody>
      </p:sp>
      <p:pic>
        <p:nvPicPr>
          <p:cNvPr id="7" name="Picture 6">
            <a:extLst>
              <a:ext uri="{FF2B5EF4-FFF2-40B4-BE49-F238E27FC236}">
                <a16:creationId xmlns:a16="http://schemas.microsoft.com/office/drawing/2014/main" id="{A9BD94C5-F444-8287-D78E-E1FD89E73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524" y="3513846"/>
            <a:ext cx="4824446" cy="2663117"/>
          </a:xfrm>
          <a:prstGeom prst="rect">
            <a:avLst/>
          </a:prstGeom>
        </p:spPr>
      </p:pic>
      <p:pic>
        <p:nvPicPr>
          <p:cNvPr id="6" name="Picture 5">
            <a:extLst>
              <a:ext uri="{FF2B5EF4-FFF2-40B4-BE49-F238E27FC236}">
                <a16:creationId xmlns:a16="http://schemas.microsoft.com/office/drawing/2014/main" id="{BB95BE0D-E563-D77A-A7B2-C4EF4156B0C3}"/>
              </a:ext>
            </a:extLst>
          </p:cNvPr>
          <p:cNvPicPr>
            <a:picLocks noChangeAspect="1"/>
          </p:cNvPicPr>
          <p:nvPr/>
        </p:nvPicPr>
        <p:blipFill rotWithShape="1">
          <a:blip r:embed="rId4">
            <a:extLst>
              <a:ext uri="{28A0092B-C50C-407E-A947-70E740481C1C}">
                <a14:useLocalDpi xmlns:a14="http://schemas.microsoft.com/office/drawing/2010/main" val="0"/>
              </a:ext>
            </a:extLst>
          </a:blip>
          <a:srcRect l="4296" r="5744"/>
          <a:stretch/>
        </p:blipFill>
        <p:spPr>
          <a:xfrm>
            <a:off x="264051" y="1727788"/>
            <a:ext cx="6096000" cy="4547011"/>
          </a:xfrm>
          <a:prstGeom prst="rect">
            <a:avLst/>
          </a:prstGeom>
        </p:spPr>
      </p:pic>
    </p:spTree>
    <p:extLst>
      <p:ext uri="{BB962C8B-B14F-4D97-AF65-F5344CB8AC3E}">
        <p14:creationId xmlns:p14="http://schemas.microsoft.com/office/powerpoint/2010/main" val="2839725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6377376" y="1562047"/>
                <a:ext cx="5385132" cy="4637928"/>
              </a:xfrm>
            </p:spPr>
            <p:txBody>
              <a:bodyPr>
                <a:normAutofit/>
              </a:bodyPr>
              <a:lstStyle/>
              <a:p>
                <a:r>
                  <a:rPr lang="en-IN" sz="2000" dirty="0"/>
                  <a:t>Number of Fourier coefficients have direct relation with speed of training.</a:t>
                </a:r>
              </a:p>
              <a:p>
                <a:r>
                  <a:rPr lang="en-IN" sz="2000" dirty="0"/>
                  <a:t>Non nominal curves have lower energy than nominal curves for certain combinations of number of g-points and number of Fourier coefficients. - </a:t>
                </a:r>
                <a:r>
                  <a:rPr lang="en-US" sz="2000" dirty="0"/>
                  <a:t>Results from </a:t>
                </a:r>
                <a:r>
                  <a:rPr lang="en-IN" sz="2000" dirty="0">
                    <a:latin typeface="Arial" panose="020B0604020202020204" pitchFamily="34" charset="0"/>
                    <a:cs typeface="Arial" panose="020B0604020202020204" pitchFamily="34" charset="0"/>
                  </a:rPr>
                  <a:t>M.Sc. Emre </a:t>
                </a:r>
                <a:r>
                  <a:rPr lang="en-IN" sz="2000" dirty="0" err="1">
                    <a:latin typeface="Arial" panose="020B0604020202020204" pitchFamily="34" charset="0"/>
                    <a:cs typeface="Arial" panose="020B0604020202020204" pitchFamily="34" charset="0"/>
                  </a:rPr>
                  <a:t>Ecik</a:t>
                </a:r>
                <a:endParaRPr lang="en-IN" sz="2000" dirty="0"/>
              </a:p>
              <a:p>
                <a:r>
                  <a:rPr lang="en-US" sz="2000" dirty="0"/>
                  <a:t>For testing this should be considered.</a:t>
                </a:r>
              </a:p>
              <a:p>
                <a:r>
                  <a:rPr lang="en-US" sz="2000" dirty="0"/>
                  <a:t>Used SAC agent instead of PPO: SAC is chosen for its sample efficiency and exploration flexibility.</a:t>
                </a:r>
              </a:p>
              <a:p>
                <a:r>
                  <a:rPr lang="en-US" sz="2000" dirty="0"/>
                  <a:t>SAC requires a symmetric action space </a:t>
                </a:r>
                <a14:m>
                  <m:oMath xmlns:m="http://schemas.openxmlformats.org/officeDocument/2006/math">
                    <m:r>
                      <a:rPr lang="en-IN" sz="2000" b="0" i="1" kern="1200" smtClean="0">
                        <a:solidFill>
                          <a:srgbClr val="000000"/>
                        </a:solidFill>
                        <a:effectLst/>
                        <a:latin typeface="Cambria Math" panose="02040503050406030204" pitchFamily="18" charset="0"/>
                        <a:ea typeface="+mn-ea"/>
                        <a:cs typeface="Arial" panose="020B0604020202020204" pitchFamily="34" charset="0"/>
                      </a:rPr>
                      <m:t>→</m:t>
                    </m:r>
                  </m:oMath>
                </a14:m>
                <a:r>
                  <a:rPr lang="en-US" sz="2000" dirty="0"/>
                  <a:t> take absolute of the prediction.</a:t>
                </a:r>
              </a:p>
              <a:p>
                <a:endParaRPr lang="en-IN" sz="2000" dirty="0"/>
              </a:p>
              <a:p>
                <a:endParaRPr lang="en-IN" sz="2000" dirty="0"/>
              </a:p>
            </p:txBody>
          </p:sp>
        </mc:Choice>
        <mc:Fallback xmlns="">
          <p:sp>
            <p:nvSpPr>
              <p:cNvPr id="3" name="Content Placeholder 2">
                <a:extLst>
                  <a:ext uri="{FF2B5EF4-FFF2-40B4-BE49-F238E27FC236}">
                    <a16:creationId xmlns:a16="http://schemas.microsoft.com/office/drawing/2014/main" id="{8DD1CB4E-9E31-6C84-05BC-BEB2EDA4FF6E}"/>
                  </a:ext>
                </a:extLst>
              </p:cNvPr>
              <p:cNvSpPr>
                <a:spLocks noGrp="1" noRot="1" noChangeAspect="1" noMove="1" noResize="1" noEditPoints="1" noAdjustHandles="1" noChangeArrowheads="1" noChangeShapeType="1" noTextEdit="1"/>
              </p:cNvSpPr>
              <p:nvPr>
                <p:ph idx="1"/>
              </p:nvPr>
            </p:nvSpPr>
            <p:spPr>
              <a:xfrm>
                <a:off x="6377376" y="1562047"/>
                <a:ext cx="5385132" cy="4637928"/>
              </a:xfrm>
              <a:blipFill>
                <a:blip r:embed="rId2"/>
                <a:stretch>
                  <a:fillRect l="-1018" t="-1183" r="-2149"/>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43</a:t>
            </a:fld>
            <a:endParaRPr lang="en-GB" dirty="0"/>
          </a:p>
        </p:txBody>
      </p:sp>
      <p:pic>
        <p:nvPicPr>
          <p:cNvPr id="7" name="Picture 6">
            <a:extLst>
              <a:ext uri="{FF2B5EF4-FFF2-40B4-BE49-F238E27FC236}">
                <a16:creationId xmlns:a16="http://schemas.microsoft.com/office/drawing/2014/main" id="{6BFA5E54-7E3B-A772-73D2-0996119054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18" y="1707680"/>
            <a:ext cx="6291804" cy="4346662"/>
          </a:xfrm>
          <a:prstGeom prst="rect">
            <a:avLst/>
          </a:prstGeom>
        </p:spPr>
      </p:pic>
      <p:sp>
        <p:nvSpPr>
          <p:cNvPr id="8" name="TextBox 7">
            <a:extLst>
              <a:ext uri="{FF2B5EF4-FFF2-40B4-BE49-F238E27FC236}">
                <a16:creationId xmlns:a16="http://schemas.microsoft.com/office/drawing/2014/main" id="{441DFF49-9522-9BDF-17CF-BE07903DA5AD}"/>
              </a:ext>
            </a:extLst>
          </p:cNvPr>
          <p:cNvSpPr txBox="1"/>
          <p:nvPr/>
        </p:nvSpPr>
        <p:spPr>
          <a:xfrm>
            <a:off x="860611" y="5869186"/>
            <a:ext cx="337072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Experiment results of M.Sc. Emre </a:t>
            </a:r>
            <a:r>
              <a:rPr lang="en-IN" sz="1400" dirty="0" err="1">
                <a:latin typeface="Arial" panose="020B0604020202020204" pitchFamily="34" charset="0"/>
                <a:cs typeface="Arial" panose="020B0604020202020204" pitchFamily="34" charset="0"/>
              </a:rPr>
              <a:t>Ecik</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19832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Concept Development – Method 3</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3877540" y="1493673"/>
            <a:ext cx="8108271" cy="2307104"/>
          </a:xfrm>
        </p:spPr>
        <p:txBody>
          <a:bodyPr>
            <a:normAutofit/>
          </a:bodyPr>
          <a:lstStyle/>
          <a:p>
            <a:r>
              <a:rPr lang="en-IN" sz="2000" dirty="0"/>
              <a:t>With method 3 model final prediction for test case 2.1 Case D and L</a:t>
            </a:r>
          </a:p>
          <a:p>
            <a:pPr lvl="1"/>
            <a:r>
              <a:rPr lang="en-IN" sz="1600" dirty="0"/>
              <a:t>Considerably close to the nominal  </a:t>
            </a:r>
          </a:p>
          <a:p>
            <a:pPr marL="0" indent="0">
              <a:buNone/>
            </a:pPr>
            <a:r>
              <a:rPr lang="en-IN" sz="2000" dirty="0"/>
              <a:t>Inferences:</a:t>
            </a:r>
          </a:p>
          <a:p>
            <a:r>
              <a:rPr lang="en-IN" sz="2000" dirty="0"/>
              <a:t>Better flexibility achieved with </a:t>
            </a:r>
            <a:r>
              <a:rPr lang="en-US" sz="1800" kern="1200" dirty="0" err="1">
                <a:solidFill>
                  <a:srgbClr val="000000"/>
                </a:solidFill>
                <a:effectLst/>
                <a:latin typeface="Arial" panose="020B0604020202020204" pitchFamily="34" charset="0"/>
                <a:ea typeface="+mn-ea"/>
                <a:cs typeface="Arial" panose="020B0604020202020204" pitchFamily="34" charset="0"/>
              </a:rPr>
              <a:t>Bézier</a:t>
            </a:r>
            <a:r>
              <a:rPr lang="en-IN" sz="2000" kern="1200" dirty="0">
                <a:solidFill>
                  <a:srgbClr val="000000"/>
                </a:solidFill>
                <a:effectLst/>
                <a:latin typeface="Arial" panose="020B0604020202020204" pitchFamily="34" charset="0"/>
                <a:ea typeface="+mn-ea"/>
                <a:cs typeface="Arial" panose="020B0604020202020204" pitchFamily="34" charset="0"/>
              </a:rPr>
              <a:t> curve.</a:t>
            </a:r>
          </a:p>
          <a:p>
            <a:r>
              <a:rPr lang="en-IN" sz="2000" dirty="0">
                <a:solidFill>
                  <a:srgbClr val="000000"/>
                </a:solidFill>
              </a:rPr>
              <a:t>Rewards are not properly scaled and exploration not boosted, resulting in fast convergence. </a:t>
            </a:r>
            <a:endParaRPr lang="en-IN" sz="2000" dirty="0"/>
          </a:p>
          <a:p>
            <a:endParaRPr lang="en-IN" sz="2000" dirty="0"/>
          </a:p>
          <a:p>
            <a:endParaRPr lang="en-IN" sz="20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44</a:t>
            </a:fld>
            <a:endParaRPr lang="en-GB" dirty="0"/>
          </a:p>
        </p:txBody>
      </p:sp>
      <p:pic>
        <p:nvPicPr>
          <p:cNvPr id="11" name="Picture 10">
            <a:extLst>
              <a:ext uri="{FF2B5EF4-FFF2-40B4-BE49-F238E27FC236}">
                <a16:creationId xmlns:a16="http://schemas.microsoft.com/office/drawing/2014/main" id="{BD97317A-24E5-2779-F801-AC1244EC16BD}"/>
              </a:ext>
            </a:extLst>
          </p:cNvPr>
          <p:cNvPicPr>
            <a:picLocks noChangeAspect="1"/>
          </p:cNvPicPr>
          <p:nvPr/>
        </p:nvPicPr>
        <p:blipFill rotWithShape="1">
          <a:blip r:embed="rId2">
            <a:extLst>
              <a:ext uri="{28A0092B-C50C-407E-A947-70E740481C1C}">
                <a14:useLocalDpi xmlns:a14="http://schemas.microsoft.com/office/drawing/2010/main" val="0"/>
              </a:ext>
            </a:extLst>
          </a:blip>
          <a:srcRect l="6596" r="10942" b="8944"/>
          <a:stretch/>
        </p:blipFill>
        <p:spPr>
          <a:xfrm>
            <a:off x="362663" y="1393656"/>
            <a:ext cx="3352800" cy="2282907"/>
          </a:xfrm>
          <a:prstGeom prst="rect">
            <a:avLst/>
          </a:prstGeom>
        </p:spPr>
      </p:pic>
      <p:pic>
        <p:nvPicPr>
          <p:cNvPr id="7" name="Picture 6">
            <a:extLst>
              <a:ext uri="{FF2B5EF4-FFF2-40B4-BE49-F238E27FC236}">
                <a16:creationId xmlns:a16="http://schemas.microsoft.com/office/drawing/2014/main" id="{5A0DE74A-EB7F-E394-D1D3-18820FDDA5B7}"/>
              </a:ext>
            </a:extLst>
          </p:cNvPr>
          <p:cNvPicPr>
            <a:picLocks noChangeAspect="1"/>
          </p:cNvPicPr>
          <p:nvPr/>
        </p:nvPicPr>
        <p:blipFill>
          <a:blip r:embed="rId3">
            <a:extLst>
              <a:ext uri="{28A0092B-C50C-407E-A947-70E740481C1C}">
                <a14:useLocalDpi xmlns:a14="http://schemas.microsoft.com/office/drawing/2010/main" val="0"/>
              </a:ext>
            </a:extLst>
          </a:blip>
          <a:srcRect b="12117"/>
          <a:stretch/>
        </p:blipFill>
        <p:spPr>
          <a:xfrm>
            <a:off x="3345690" y="4014445"/>
            <a:ext cx="2997327" cy="1924377"/>
          </a:xfrm>
          <a:prstGeom prst="rect">
            <a:avLst/>
          </a:prstGeom>
        </p:spPr>
      </p:pic>
      <p:pic>
        <p:nvPicPr>
          <p:cNvPr id="9" name="Picture 8">
            <a:extLst>
              <a:ext uri="{FF2B5EF4-FFF2-40B4-BE49-F238E27FC236}">
                <a16:creationId xmlns:a16="http://schemas.microsoft.com/office/drawing/2014/main" id="{1E435873-8A11-035A-E4B6-AF4549510D93}"/>
              </a:ext>
            </a:extLst>
          </p:cNvPr>
          <p:cNvPicPr>
            <a:picLocks noChangeAspect="1"/>
          </p:cNvPicPr>
          <p:nvPr/>
        </p:nvPicPr>
        <p:blipFill rotWithShape="1">
          <a:blip r:embed="rId4">
            <a:extLst>
              <a:ext uri="{28A0092B-C50C-407E-A947-70E740481C1C}">
                <a14:useLocalDpi xmlns:a14="http://schemas.microsoft.com/office/drawing/2010/main" val="0"/>
              </a:ext>
            </a:extLst>
          </a:blip>
          <a:srcRect l="4274" r="5823" b="15705"/>
          <a:stretch/>
        </p:blipFill>
        <p:spPr>
          <a:xfrm>
            <a:off x="111651" y="4001294"/>
            <a:ext cx="3074894" cy="1924377"/>
          </a:xfrm>
          <a:prstGeom prst="rect">
            <a:avLst/>
          </a:prstGeom>
        </p:spPr>
      </p:pic>
      <p:pic>
        <p:nvPicPr>
          <p:cNvPr id="6" name="Picture 5">
            <a:extLst>
              <a:ext uri="{FF2B5EF4-FFF2-40B4-BE49-F238E27FC236}">
                <a16:creationId xmlns:a16="http://schemas.microsoft.com/office/drawing/2014/main" id="{E4DC7C79-CAA7-3458-7A39-094929E35534}"/>
              </a:ext>
            </a:extLst>
          </p:cNvPr>
          <p:cNvPicPr>
            <a:picLocks noChangeAspect="1"/>
          </p:cNvPicPr>
          <p:nvPr/>
        </p:nvPicPr>
        <p:blipFill rotWithShape="1">
          <a:blip r:embed="rId5">
            <a:extLst>
              <a:ext uri="{28A0092B-C50C-407E-A947-70E740481C1C}">
                <a14:useLocalDpi xmlns:a14="http://schemas.microsoft.com/office/drawing/2010/main" val="0"/>
              </a:ext>
            </a:extLst>
          </a:blip>
          <a:srcRect l="1704" t="11905" r="1835" b="32099"/>
          <a:stretch/>
        </p:blipFill>
        <p:spPr>
          <a:xfrm>
            <a:off x="6400799" y="4703992"/>
            <a:ext cx="5585012" cy="660335"/>
          </a:xfrm>
          <a:prstGeom prst="rect">
            <a:avLst/>
          </a:prstGeom>
        </p:spPr>
      </p:pic>
      <p:sp>
        <p:nvSpPr>
          <p:cNvPr id="8" name="TextBox 7">
            <a:extLst>
              <a:ext uri="{FF2B5EF4-FFF2-40B4-BE49-F238E27FC236}">
                <a16:creationId xmlns:a16="http://schemas.microsoft.com/office/drawing/2014/main" id="{882654AC-6CC9-6E66-893B-204C9B500844}"/>
              </a:ext>
            </a:extLst>
          </p:cNvPr>
          <p:cNvSpPr txBox="1"/>
          <p:nvPr/>
        </p:nvSpPr>
        <p:spPr>
          <a:xfrm>
            <a:off x="976188" y="3685040"/>
            <a:ext cx="2479298"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G Points Method 3 Case D</a:t>
            </a:r>
          </a:p>
        </p:txBody>
      </p:sp>
      <p:sp>
        <p:nvSpPr>
          <p:cNvPr id="10" name="TextBox 9">
            <a:extLst>
              <a:ext uri="{FF2B5EF4-FFF2-40B4-BE49-F238E27FC236}">
                <a16:creationId xmlns:a16="http://schemas.microsoft.com/office/drawing/2014/main" id="{B95B5930-C9F2-2D31-4ABB-677C94C11C9C}"/>
              </a:ext>
            </a:extLst>
          </p:cNvPr>
          <p:cNvSpPr txBox="1"/>
          <p:nvPr/>
        </p:nvSpPr>
        <p:spPr>
          <a:xfrm>
            <a:off x="305980" y="5925671"/>
            <a:ext cx="2909456" cy="523220"/>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Value Loss (left), Policy Gradient Loss (right) for Method 3 Case D</a:t>
            </a:r>
          </a:p>
        </p:txBody>
      </p:sp>
      <p:sp>
        <p:nvSpPr>
          <p:cNvPr id="12" name="TextBox 11">
            <a:extLst>
              <a:ext uri="{FF2B5EF4-FFF2-40B4-BE49-F238E27FC236}">
                <a16:creationId xmlns:a16="http://schemas.microsoft.com/office/drawing/2014/main" id="{F9D52E29-D1FE-263D-96AF-7D27D1F045A9}"/>
              </a:ext>
            </a:extLst>
          </p:cNvPr>
          <p:cNvSpPr txBox="1"/>
          <p:nvPr/>
        </p:nvSpPr>
        <p:spPr>
          <a:xfrm>
            <a:off x="3877540" y="5968927"/>
            <a:ext cx="2380537"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Rewards Method 3 Case D</a:t>
            </a:r>
          </a:p>
        </p:txBody>
      </p:sp>
      <p:sp>
        <p:nvSpPr>
          <p:cNvPr id="13" name="TextBox 12">
            <a:extLst>
              <a:ext uri="{FF2B5EF4-FFF2-40B4-BE49-F238E27FC236}">
                <a16:creationId xmlns:a16="http://schemas.microsoft.com/office/drawing/2014/main" id="{4F518132-EE5D-4F9E-D979-31B5F03A67F9}"/>
              </a:ext>
            </a:extLst>
          </p:cNvPr>
          <p:cNvSpPr txBox="1"/>
          <p:nvPr/>
        </p:nvSpPr>
        <p:spPr>
          <a:xfrm>
            <a:off x="6931753" y="5397879"/>
            <a:ext cx="488372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Prediction Energy Values for Method 3 Case D and Case L</a:t>
            </a:r>
          </a:p>
        </p:txBody>
      </p:sp>
    </p:spTree>
    <p:extLst>
      <p:ext uri="{BB962C8B-B14F-4D97-AF65-F5344CB8AC3E}">
        <p14:creationId xmlns:p14="http://schemas.microsoft.com/office/powerpoint/2010/main" val="3311008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570A-04F7-17D4-7491-A8131D9AAEA1}"/>
              </a:ext>
            </a:extLst>
          </p:cNvPr>
          <p:cNvSpPr>
            <a:spLocks noGrp="1"/>
          </p:cNvSpPr>
          <p:nvPr>
            <p:ph type="title"/>
          </p:nvPr>
        </p:nvSpPr>
        <p:spPr/>
        <p:txBody>
          <a:bodyPr/>
          <a:lstStyle/>
          <a:p>
            <a:r>
              <a:rPr kumimoji="0" lang="en-IN" sz="3200" b="0" i="0" u="none" strike="noStrike" kern="1200" cap="none" spc="0" normalizeH="0" baseline="0" noProof="0" dirty="0">
                <a:ln>
                  <a:noFill/>
                </a:ln>
                <a:solidFill>
                  <a:srgbClr val="84B819"/>
                </a:solidFill>
                <a:effectLst/>
                <a:uLnTx/>
                <a:uFillTx/>
                <a:latin typeface="Arial" panose="020B0604020202020204" pitchFamily="34" charset="0"/>
                <a:ea typeface="+mj-ea"/>
                <a:cs typeface="Arial" panose="020B0604020202020204" pitchFamily="34" charset="0"/>
              </a:rPr>
              <a:t>Concept Development – Soft Actor Critic</a:t>
            </a:r>
            <a:endParaRPr lang="en-IN" dirty="0"/>
          </a:p>
        </p:txBody>
      </p:sp>
      <p:sp>
        <p:nvSpPr>
          <p:cNvPr id="3" name="Content Placeholder 2">
            <a:extLst>
              <a:ext uri="{FF2B5EF4-FFF2-40B4-BE49-F238E27FC236}">
                <a16:creationId xmlns:a16="http://schemas.microsoft.com/office/drawing/2014/main" id="{C007A6B3-B314-4F29-C29B-9E3EB572B2D7}"/>
              </a:ext>
            </a:extLst>
          </p:cNvPr>
          <p:cNvSpPr>
            <a:spLocks noGrp="1"/>
          </p:cNvSpPr>
          <p:nvPr>
            <p:ph idx="1"/>
          </p:nvPr>
        </p:nvSpPr>
        <p:spPr/>
        <p:txBody>
          <a:bodyPr>
            <a:normAutofit/>
          </a:bodyPr>
          <a:lstStyle/>
          <a:p>
            <a:pPr marL="0" indent="0">
              <a:buNone/>
            </a:pPr>
            <a:r>
              <a:rPr lang="en-US" sz="2000" dirty="0"/>
              <a:t>In entropy-regularized reinforcement learning, the agent gets a bonus reward at each time step proportional to the entropy of the policy at that timestep. </a:t>
            </a: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r>
              <a:rPr lang="en-IN" sz="2000" dirty="0"/>
              <a:t>Where </a:t>
            </a:r>
            <a:r>
              <a:rPr lang="el-GR" sz="2000" dirty="0">
                <a:latin typeface="Cambria Math" panose="02040503050406030204" pitchFamily="18" charset="0"/>
                <a:ea typeface="Cambria Math" panose="02040503050406030204" pitchFamily="18" charset="0"/>
              </a:rPr>
              <a:t>α</a:t>
            </a:r>
            <a:r>
              <a:rPr lang="en-IN" sz="2000" dirty="0">
                <a:latin typeface="Cambria Math" panose="02040503050406030204" pitchFamily="18" charset="0"/>
                <a:ea typeface="Cambria Math" panose="02040503050406030204" pitchFamily="18" charset="0"/>
              </a:rPr>
              <a:t> </a:t>
            </a:r>
            <a:r>
              <a:rPr lang="en-IN" sz="2000" dirty="0">
                <a:ea typeface="Cambria Math" panose="02040503050406030204" pitchFamily="18" charset="0"/>
              </a:rPr>
              <a:t>is the entropy coefficient(trade off coefficient). </a:t>
            </a:r>
            <a:r>
              <a:rPr lang="en-IN" sz="2000" dirty="0">
                <a:latin typeface="Cambria Math" panose="02040503050406030204" pitchFamily="18" charset="0"/>
                <a:ea typeface="Cambria Math" panose="02040503050406030204" pitchFamily="18" charset="0"/>
              </a:rPr>
              <a:t>  </a:t>
            </a:r>
            <a:endParaRPr lang="en-IN" sz="2000" dirty="0"/>
          </a:p>
        </p:txBody>
      </p:sp>
      <p:sp>
        <p:nvSpPr>
          <p:cNvPr id="4" name="Date Placeholder 3">
            <a:extLst>
              <a:ext uri="{FF2B5EF4-FFF2-40B4-BE49-F238E27FC236}">
                <a16:creationId xmlns:a16="http://schemas.microsoft.com/office/drawing/2014/main" id="{C46F0D7D-4C29-C31B-A24F-956D770328D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488C8063-8171-5FFB-4D46-8D04EA423FAD}"/>
              </a:ext>
            </a:extLst>
          </p:cNvPr>
          <p:cNvSpPr>
            <a:spLocks noGrp="1"/>
          </p:cNvSpPr>
          <p:nvPr>
            <p:ph type="sldNum" sz="quarter" idx="12"/>
          </p:nvPr>
        </p:nvSpPr>
        <p:spPr/>
        <p:txBody>
          <a:bodyPr/>
          <a:lstStyle/>
          <a:p>
            <a:fld id="{EECF65F8-F24C-4BCD-B573-6D272FD28F94}" type="slidenum">
              <a:rPr lang="en-GB" smtClean="0"/>
              <a:t>45</a:t>
            </a:fld>
            <a:endParaRPr lang="en-GB" dirty="0"/>
          </a:p>
        </p:txBody>
      </p:sp>
      <p:pic>
        <p:nvPicPr>
          <p:cNvPr id="7" name="Picture 6">
            <a:extLst>
              <a:ext uri="{FF2B5EF4-FFF2-40B4-BE49-F238E27FC236}">
                <a16:creationId xmlns:a16="http://schemas.microsoft.com/office/drawing/2014/main" id="{F272B53E-F420-6894-868C-EDB52569AD5C}"/>
              </a:ext>
            </a:extLst>
          </p:cNvPr>
          <p:cNvPicPr>
            <a:picLocks noChangeAspect="1"/>
          </p:cNvPicPr>
          <p:nvPr/>
        </p:nvPicPr>
        <p:blipFill>
          <a:blip r:embed="rId2"/>
          <a:stretch>
            <a:fillRect/>
          </a:stretch>
        </p:blipFill>
        <p:spPr>
          <a:xfrm>
            <a:off x="2541307" y="2492945"/>
            <a:ext cx="6697010" cy="1190791"/>
          </a:xfrm>
          <a:prstGeom prst="rect">
            <a:avLst/>
          </a:prstGeom>
        </p:spPr>
      </p:pic>
      <p:sp>
        <p:nvSpPr>
          <p:cNvPr id="8" name="TextBox 7">
            <a:extLst>
              <a:ext uri="{FF2B5EF4-FFF2-40B4-BE49-F238E27FC236}">
                <a16:creationId xmlns:a16="http://schemas.microsoft.com/office/drawing/2014/main" id="{6D3DBEBF-825E-4CE9-6D2D-0C7A23D5D447}"/>
              </a:ext>
            </a:extLst>
          </p:cNvPr>
          <p:cNvSpPr txBox="1"/>
          <p:nvPr/>
        </p:nvSpPr>
        <p:spPr>
          <a:xfrm>
            <a:off x="4829735" y="3847405"/>
            <a:ext cx="2120153"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SAC Policy Optimisation</a:t>
            </a:r>
          </a:p>
        </p:txBody>
      </p:sp>
    </p:spTree>
    <p:extLst>
      <p:ext uri="{BB962C8B-B14F-4D97-AF65-F5344CB8AC3E}">
        <p14:creationId xmlns:p14="http://schemas.microsoft.com/office/powerpoint/2010/main" val="375260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9398-29C2-4338-1E79-98959E58A9CB}"/>
              </a:ext>
            </a:extLst>
          </p:cNvPr>
          <p:cNvSpPr>
            <a:spLocks noGrp="1"/>
          </p:cNvSpPr>
          <p:nvPr>
            <p:ph type="title"/>
          </p:nvPr>
        </p:nvSpPr>
        <p:spPr/>
        <p:txBody>
          <a:bodyPr>
            <a:normAutofit/>
          </a:bodyPr>
          <a:lstStyle/>
          <a:p>
            <a:r>
              <a:rPr lang="en-IN" sz="3200" dirty="0"/>
              <a:t>Test Cases</a:t>
            </a:r>
          </a:p>
        </p:txBody>
      </p:sp>
      <p:sp>
        <p:nvSpPr>
          <p:cNvPr id="4" name="Date Placeholder 3">
            <a:extLst>
              <a:ext uri="{FF2B5EF4-FFF2-40B4-BE49-F238E27FC236}">
                <a16:creationId xmlns:a16="http://schemas.microsoft.com/office/drawing/2014/main" id="{BC4777C4-7F0C-FF97-9BD4-F73C778C09D0}"/>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CE647E96-9495-ADB2-3883-079A457EB5F0}"/>
              </a:ext>
            </a:extLst>
          </p:cNvPr>
          <p:cNvSpPr>
            <a:spLocks noGrp="1"/>
          </p:cNvSpPr>
          <p:nvPr>
            <p:ph type="sldNum" sz="quarter" idx="12"/>
          </p:nvPr>
        </p:nvSpPr>
        <p:spPr/>
        <p:txBody>
          <a:bodyPr/>
          <a:lstStyle/>
          <a:p>
            <a:fld id="{EECF65F8-F24C-4BCD-B573-6D272FD28F94}" type="slidenum">
              <a:rPr lang="en-GB" smtClean="0"/>
              <a:t>46</a:t>
            </a:fld>
            <a:endParaRPr lang="en-GB" dirty="0"/>
          </a:p>
        </p:txBody>
      </p:sp>
      <p:pic>
        <p:nvPicPr>
          <p:cNvPr id="7" name="Picture 6">
            <a:extLst>
              <a:ext uri="{FF2B5EF4-FFF2-40B4-BE49-F238E27FC236}">
                <a16:creationId xmlns:a16="http://schemas.microsoft.com/office/drawing/2014/main" id="{0CCB40EA-6C05-B24F-898A-DF9F9F5995C8}"/>
              </a:ext>
            </a:extLst>
          </p:cNvPr>
          <p:cNvPicPr>
            <a:picLocks noChangeAspect="1"/>
          </p:cNvPicPr>
          <p:nvPr/>
        </p:nvPicPr>
        <p:blipFill rotWithShape="1">
          <a:blip r:embed="rId2">
            <a:extLst>
              <a:ext uri="{28A0092B-C50C-407E-A947-70E740481C1C}">
                <a14:useLocalDpi xmlns:a14="http://schemas.microsoft.com/office/drawing/2010/main" val="0"/>
              </a:ext>
            </a:extLst>
          </a:blip>
          <a:srcRect l="5492" r="7016"/>
          <a:stretch/>
        </p:blipFill>
        <p:spPr>
          <a:xfrm>
            <a:off x="240085" y="1433103"/>
            <a:ext cx="3793752" cy="4529230"/>
          </a:xfrm>
          <a:prstGeom prst="rect">
            <a:avLst/>
          </a:prstGeom>
        </p:spPr>
      </p:pic>
      <p:pic>
        <p:nvPicPr>
          <p:cNvPr id="8" name="Picture 7">
            <a:extLst>
              <a:ext uri="{FF2B5EF4-FFF2-40B4-BE49-F238E27FC236}">
                <a16:creationId xmlns:a16="http://schemas.microsoft.com/office/drawing/2014/main" id="{476C1B9E-C99B-2727-EDDE-7E2B93CC3124}"/>
              </a:ext>
            </a:extLst>
          </p:cNvPr>
          <p:cNvPicPr>
            <a:picLocks noChangeAspect="1"/>
          </p:cNvPicPr>
          <p:nvPr/>
        </p:nvPicPr>
        <p:blipFill rotWithShape="1">
          <a:blip r:embed="rId3"/>
          <a:srcRect l="7578"/>
          <a:stretch/>
        </p:blipFill>
        <p:spPr>
          <a:xfrm>
            <a:off x="4245350" y="1352531"/>
            <a:ext cx="4031875" cy="4524375"/>
          </a:xfrm>
          <a:prstGeom prst="rect">
            <a:avLst/>
          </a:prstGeom>
        </p:spPr>
      </p:pic>
      <p:pic>
        <p:nvPicPr>
          <p:cNvPr id="10" name="Picture 9">
            <a:extLst>
              <a:ext uri="{FF2B5EF4-FFF2-40B4-BE49-F238E27FC236}">
                <a16:creationId xmlns:a16="http://schemas.microsoft.com/office/drawing/2014/main" id="{18E2C583-4796-8050-92B8-F1768F2F99A8}"/>
              </a:ext>
            </a:extLst>
          </p:cNvPr>
          <p:cNvPicPr>
            <a:picLocks noChangeAspect="1"/>
          </p:cNvPicPr>
          <p:nvPr/>
        </p:nvPicPr>
        <p:blipFill rotWithShape="1">
          <a:blip r:embed="rId4"/>
          <a:srcRect l="5001" r="2780"/>
          <a:stretch/>
        </p:blipFill>
        <p:spPr>
          <a:xfrm>
            <a:off x="8289789" y="1325874"/>
            <a:ext cx="3812197" cy="4572000"/>
          </a:xfrm>
          <a:prstGeom prst="rect">
            <a:avLst/>
          </a:prstGeom>
        </p:spPr>
      </p:pic>
      <p:sp>
        <p:nvSpPr>
          <p:cNvPr id="6" name="Rectangle 5">
            <a:extLst>
              <a:ext uri="{FF2B5EF4-FFF2-40B4-BE49-F238E27FC236}">
                <a16:creationId xmlns:a16="http://schemas.microsoft.com/office/drawing/2014/main" id="{20914699-5F90-9B39-056C-7093EA8E9B66}"/>
              </a:ext>
            </a:extLst>
          </p:cNvPr>
          <p:cNvSpPr/>
          <p:nvPr/>
        </p:nvSpPr>
        <p:spPr>
          <a:xfrm>
            <a:off x="292895" y="3347279"/>
            <a:ext cx="3670357" cy="1579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ABB4C880-8204-D674-B4DF-69DBACC5E3DA}"/>
              </a:ext>
            </a:extLst>
          </p:cNvPr>
          <p:cNvSpPr/>
          <p:nvPr/>
        </p:nvSpPr>
        <p:spPr>
          <a:xfrm>
            <a:off x="4443694" y="3330389"/>
            <a:ext cx="3635185" cy="170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82A74E1-FB37-F83D-8B19-30FDA22BC31C}"/>
              </a:ext>
            </a:extLst>
          </p:cNvPr>
          <p:cNvSpPr/>
          <p:nvPr/>
        </p:nvSpPr>
        <p:spPr>
          <a:xfrm>
            <a:off x="4337938" y="3325907"/>
            <a:ext cx="3635185" cy="170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43F9DE5-E2AF-AEB0-A890-7A0B01879052}"/>
              </a:ext>
            </a:extLst>
          </p:cNvPr>
          <p:cNvSpPr/>
          <p:nvPr/>
        </p:nvSpPr>
        <p:spPr>
          <a:xfrm>
            <a:off x="4126425" y="3334871"/>
            <a:ext cx="3635185" cy="170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CF24D931-E447-534C-4E5C-2D2B66FDD019}"/>
              </a:ext>
            </a:extLst>
          </p:cNvPr>
          <p:cNvSpPr/>
          <p:nvPr/>
        </p:nvSpPr>
        <p:spPr>
          <a:xfrm>
            <a:off x="8241312" y="3286307"/>
            <a:ext cx="3776250" cy="1540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C18ECD30-C718-C942-FCC0-D3EF407433CE}"/>
              </a:ext>
            </a:extLst>
          </p:cNvPr>
          <p:cNvSpPr/>
          <p:nvPr/>
        </p:nvSpPr>
        <p:spPr>
          <a:xfrm>
            <a:off x="-20234" y="5660054"/>
            <a:ext cx="3670357" cy="1579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DBC28C82-FB45-D9AA-4F28-031BA53BCD36}"/>
              </a:ext>
            </a:extLst>
          </p:cNvPr>
          <p:cNvSpPr/>
          <p:nvPr/>
        </p:nvSpPr>
        <p:spPr>
          <a:xfrm>
            <a:off x="283868" y="5626156"/>
            <a:ext cx="3670357" cy="1579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A279963D-8533-CDFE-2474-8F0DDAB208C7}"/>
              </a:ext>
            </a:extLst>
          </p:cNvPr>
          <p:cNvSpPr/>
          <p:nvPr/>
        </p:nvSpPr>
        <p:spPr>
          <a:xfrm>
            <a:off x="4232183" y="5626156"/>
            <a:ext cx="3793752" cy="191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C5E2EAE7-DDC5-F64B-C3FE-1F146E229F6C}"/>
              </a:ext>
            </a:extLst>
          </p:cNvPr>
          <p:cNvSpPr/>
          <p:nvPr/>
        </p:nvSpPr>
        <p:spPr>
          <a:xfrm>
            <a:off x="8211246" y="5546911"/>
            <a:ext cx="3793752" cy="1918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AD5FE67-F929-EB37-6002-4E00B1FC8D70}"/>
              </a:ext>
            </a:extLst>
          </p:cNvPr>
          <p:cNvSpPr txBox="1"/>
          <p:nvPr/>
        </p:nvSpPr>
        <p:spPr>
          <a:xfrm>
            <a:off x="218777" y="3320849"/>
            <a:ext cx="417203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2.2 Case D Environment Parameters</a:t>
            </a:r>
          </a:p>
        </p:txBody>
      </p:sp>
      <p:sp>
        <p:nvSpPr>
          <p:cNvPr id="19" name="TextBox 18">
            <a:extLst>
              <a:ext uri="{FF2B5EF4-FFF2-40B4-BE49-F238E27FC236}">
                <a16:creationId xmlns:a16="http://schemas.microsoft.com/office/drawing/2014/main" id="{4E4993F8-F85A-3002-52EB-AC6037363005}"/>
              </a:ext>
            </a:extLst>
          </p:cNvPr>
          <p:cNvSpPr txBox="1"/>
          <p:nvPr/>
        </p:nvSpPr>
        <p:spPr>
          <a:xfrm>
            <a:off x="4126425" y="3304548"/>
            <a:ext cx="417203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2.3 Case D Environment Parameters</a:t>
            </a:r>
          </a:p>
        </p:txBody>
      </p:sp>
      <p:sp>
        <p:nvSpPr>
          <p:cNvPr id="20" name="TextBox 19">
            <a:extLst>
              <a:ext uri="{FF2B5EF4-FFF2-40B4-BE49-F238E27FC236}">
                <a16:creationId xmlns:a16="http://schemas.microsoft.com/office/drawing/2014/main" id="{D24FA8D2-CE1A-3E0B-17FC-14074BE3C41C}"/>
              </a:ext>
            </a:extLst>
          </p:cNvPr>
          <p:cNvSpPr txBox="1"/>
          <p:nvPr/>
        </p:nvSpPr>
        <p:spPr>
          <a:xfrm>
            <a:off x="8185324" y="3304097"/>
            <a:ext cx="394537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2.4 Case D Environment Parameters</a:t>
            </a:r>
          </a:p>
        </p:txBody>
      </p:sp>
      <p:sp>
        <p:nvSpPr>
          <p:cNvPr id="3" name="TextBox 2">
            <a:extLst>
              <a:ext uri="{FF2B5EF4-FFF2-40B4-BE49-F238E27FC236}">
                <a16:creationId xmlns:a16="http://schemas.microsoft.com/office/drawing/2014/main" id="{56469332-D65D-F908-8DED-299D996A43FC}"/>
              </a:ext>
            </a:extLst>
          </p:cNvPr>
          <p:cNvSpPr txBox="1"/>
          <p:nvPr/>
        </p:nvSpPr>
        <p:spPr>
          <a:xfrm>
            <a:off x="218777" y="5556325"/>
            <a:ext cx="417203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2.2 Case L Environment Parameters</a:t>
            </a:r>
          </a:p>
        </p:txBody>
      </p:sp>
      <p:sp>
        <p:nvSpPr>
          <p:cNvPr id="21" name="TextBox 20">
            <a:extLst>
              <a:ext uri="{FF2B5EF4-FFF2-40B4-BE49-F238E27FC236}">
                <a16:creationId xmlns:a16="http://schemas.microsoft.com/office/drawing/2014/main" id="{498E528D-9AF3-1DCA-5820-0146BE8F7532}"/>
              </a:ext>
            </a:extLst>
          </p:cNvPr>
          <p:cNvSpPr txBox="1"/>
          <p:nvPr/>
        </p:nvSpPr>
        <p:spPr>
          <a:xfrm>
            <a:off x="8277225" y="5538587"/>
            <a:ext cx="417203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2.4 Case L Environment Parameters</a:t>
            </a:r>
          </a:p>
        </p:txBody>
      </p:sp>
      <p:sp>
        <p:nvSpPr>
          <p:cNvPr id="22" name="TextBox 21">
            <a:extLst>
              <a:ext uri="{FF2B5EF4-FFF2-40B4-BE49-F238E27FC236}">
                <a16:creationId xmlns:a16="http://schemas.microsoft.com/office/drawing/2014/main" id="{9C39FCA0-5A84-2AFC-92B2-0B5F84909180}"/>
              </a:ext>
            </a:extLst>
          </p:cNvPr>
          <p:cNvSpPr txBox="1"/>
          <p:nvPr/>
        </p:nvSpPr>
        <p:spPr>
          <a:xfrm>
            <a:off x="4126425" y="5564739"/>
            <a:ext cx="4172039" cy="307777"/>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Test Case 2.3 Case L Environment Parameters</a:t>
            </a:r>
          </a:p>
        </p:txBody>
      </p:sp>
    </p:spTree>
    <p:extLst>
      <p:ext uri="{BB962C8B-B14F-4D97-AF65-F5344CB8AC3E}">
        <p14:creationId xmlns:p14="http://schemas.microsoft.com/office/powerpoint/2010/main" val="1627848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References</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p:txBody>
          <a:bodyPr>
            <a:noAutofit/>
          </a:bodyPr>
          <a:lstStyle/>
          <a:p>
            <a:pPr marL="0" indent="0">
              <a:buNone/>
            </a:pPr>
            <a:r>
              <a:rPr lang="en-US" sz="1200" dirty="0"/>
              <a:t>[1] MMRNDEV. (2024) Understanding </a:t>
            </a:r>
            <a:r>
              <a:rPr lang="en-US" sz="1200" dirty="0" err="1"/>
              <a:t>bézier</a:t>
            </a:r>
            <a:r>
              <a:rPr lang="en-US" sz="1200" dirty="0"/>
              <a:t> curves. [Online]. Available: https: //mmrndev.medium.com/understanding-b%C3%A9zier-curves-f6eaa0fa6c7d</a:t>
            </a:r>
          </a:p>
          <a:p>
            <a:pPr marL="0" indent="0">
              <a:buNone/>
            </a:pPr>
            <a:r>
              <a:rPr lang="en-US" sz="1200" dirty="0"/>
              <a:t>[2] M. S. Emre </a:t>
            </a:r>
            <a:r>
              <a:rPr lang="en-US" sz="1200" dirty="0" err="1"/>
              <a:t>Ecik</a:t>
            </a:r>
            <a:r>
              <a:rPr lang="en-US" sz="1200" dirty="0"/>
              <a:t>, “Relation of </a:t>
            </a:r>
            <a:r>
              <a:rPr lang="en-US" sz="1200" dirty="0" err="1"/>
              <a:t>fourier</a:t>
            </a:r>
            <a:r>
              <a:rPr lang="en-US" sz="1200" dirty="0"/>
              <a:t> coefficients and number of g points for energy calculation,” 2024, internal Communication.</a:t>
            </a:r>
          </a:p>
          <a:p>
            <a:pPr marL="0" indent="0" algn="l">
              <a:buNone/>
            </a:pPr>
            <a:r>
              <a:rPr lang="en-US" sz="1200" b="0" i="0" u="none" strike="noStrike" baseline="0" dirty="0"/>
              <a:t>[3] A. </a:t>
            </a:r>
            <a:r>
              <a:rPr lang="en-US" sz="1200" b="0" i="0" u="none" strike="noStrike" baseline="0" dirty="0" err="1"/>
              <a:t>Fawzy</a:t>
            </a:r>
            <a:r>
              <a:rPr lang="en-US" sz="1200" b="0" i="0" u="none" strike="noStrike" baseline="0" dirty="0"/>
              <a:t>, “An introduction to genetic algorithms: The concept of biological evolution in optimization,” Towards Data Science, 2019.</a:t>
            </a:r>
          </a:p>
          <a:p>
            <a:pPr marL="0" indent="0">
              <a:buNone/>
            </a:pPr>
            <a:r>
              <a:rPr lang="en-IN" sz="1200" dirty="0"/>
              <a:t>[4] W. John, “</a:t>
            </a:r>
            <a:r>
              <a:rPr lang="en-IN" sz="1200" dirty="0" err="1"/>
              <a:t>Charakteristische</a:t>
            </a:r>
            <a:r>
              <a:rPr lang="en-IN" sz="1200" dirty="0"/>
              <a:t> parameter von </a:t>
            </a:r>
            <a:r>
              <a:rPr lang="en-IN" sz="1200" dirty="0" err="1"/>
              <a:t>leitungsstrukturen</a:t>
            </a:r>
            <a:r>
              <a:rPr lang="en-IN" sz="1200" dirty="0"/>
              <a:t> auf </a:t>
            </a:r>
            <a:r>
              <a:rPr lang="en-IN" sz="1200" dirty="0" err="1"/>
              <a:t>quasiplanaren</a:t>
            </a:r>
            <a:r>
              <a:rPr lang="en-IN" sz="1200" dirty="0"/>
              <a:t> </a:t>
            </a:r>
            <a:r>
              <a:rPr lang="en-IN" sz="1200" dirty="0" err="1"/>
              <a:t>substraten</a:t>
            </a:r>
            <a:r>
              <a:rPr lang="en-IN" sz="1200" dirty="0"/>
              <a:t>,” Dissertation, </a:t>
            </a:r>
            <a:r>
              <a:rPr lang="en-IN" sz="1200" dirty="0" err="1"/>
              <a:t>Brandenburgische</a:t>
            </a:r>
            <a:r>
              <a:rPr lang="en-IN" sz="1200" dirty="0"/>
              <a:t> </a:t>
            </a:r>
            <a:r>
              <a:rPr lang="en-IN" sz="1200" dirty="0" err="1"/>
              <a:t>Technische</a:t>
            </a:r>
            <a:r>
              <a:rPr lang="en-IN" sz="1200" dirty="0"/>
              <a:t> Universität Cottbus, 2008.</a:t>
            </a:r>
          </a:p>
          <a:p>
            <a:pPr marL="0" indent="0">
              <a:buNone/>
            </a:pPr>
            <a:r>
              <a:rPr lang="en-IN" sz="1200" dirty="0"/>
              <a:t>[5] E. Yamashita, H. Ohashi, and K. </a:t>
            </a:r>
            <a:r>
              <a:rPr lang="en-IN" sz="1200" dirty="0" err="1"/>
              <a:t>Atsuki</a:t>
            </a:r>
            <a:r>
              <a:rPr lang="en-IN" sz="1200" dirty="0"/>
              <a:t>, “Characterization of microstrip lines near a substrate edge and design formulas of edge-compensated microstrip lines (</a:t>
            </a:r>
            <a:r>
              <a:rPr lang="en-IN" sz="1200" dirty="0" err="1"/>
              <a:t>mmics</a:t>
            </a:r>
            <a:r>
              <a:rPr lang="en-IN" sz="1200" dirty="0"/>
              <a:t>),” IEEE transactions on microwave theory and techniques, vol. 37, no. 5, pp. 890–896, 1989.</a:t>
            </a:r>
          </a:p>
          <a:p>
            <a:pPr marL="0" indent="0">
              <a:buNone/>
            </a:pPr>
            <a:r>
              <a:rPr lang="en-IN" sz="1200" dirty="0"/>
              <a:t>[6] H. A. Wheeler, “Transmission-line properties of parallel wide strips by a conformal-mapping approximation,” IEEE Transactions on Microwave Theory and Techniques, vol. 12, no. 3, pp. 280–289, 1964.</a:t>
            </a:r>
          </a:p>
          <a:p>
            <a:pPr marL="0" indent="0">
              <a:buNone/>
            </a:pPr>
            <a:r>
              <a:rPr lang="en-IN" sz="1200" dirty="0"/>
              <a:t>[7] “Transmission-line properties of parallel strips separated by a dielectric sheet,” IEEE Transactions on Microwave Theory and Techniques, vol. 13, no. 2, pp. 172–185, 1965.</a:t>
            </a:r>
          </a:p>
          <a:p>
            <a:pPr marL="0" indent="0">
              <a:buNone/>
            </a:pPr>
            <a:r>
              <a:rPr lang="en-IN" sz="1200" dirty="0"/>
              <a:t>[8] H. Lee and V. Tripathi, “New perspectives on the green’s function for quasi-</a:t>
            </a:r>
            <a:r>
              <a:rPr lang="en-IN" sz="1200" dirty="0" err="1"/>
              <a:t>tem</a:t>
            </a:r>
            <a:r>
              <a:rPr lang="en-IN" sz="1200" dirty="0"/>
              <a:t> planar structures,” in 1983 IEEE MTT-S International Microwave Symposium Digest. IEEE, 1983, pp.571–573.</a:t>
            </a:r>
          </a:p>
          <a:p>
            <a:pPr marL="0" indent="0">
              <a:buNone/>
            </a:pPr>
            <a:r>
              <a:rPr lang="en-IN" sz="1200" dirty="0"/>
              <a:t>[9] J. G. </a:t>
            </a:r>
            <a:r>
              <a:rPr lang="en-IN" sz="1200" dirty="0" err="1"/>
              <a:t>Fikioris</a:t>
            </a:r>
            <a:r>
              <a:rPr lang="en-IN" sz="1200" dirty="0"/>
              <a:t>, J. L. </a:t>
            </a:r>
            <a:r>
              <a:rPr lang="en-IN" sz="1200" dirty="0" err="1"/>
              <a:t>Tsalamengas</a:t>
            </a:r>
            <a:r>
              <a:rPr lang="en-IN" sz="1200" dirty="0"/>
              <a:t>, and G. J. </a:t>
            </a:r>
            <a:r>
              <a:rPr lang="en-IN" sz="1200" dirty="0" err="1"/>
              <a:t>Fikioris</a:t>
            </a:r>
            <a:r>
              <a:rPr lang="en-IN" sz="1200" dirty="0"/>
              <a:t>, “Strongly convergent green’s function expansions for rectangularly shielded microstrip lines,” IEEE transactions on microwave theory and techniques, vol. 36, no. 10, pp. 1386–1396, 1988.</a:t>
            </a:r>
          </a:p>
          <a:p>
            <a:pPr marL="0" indent="0">
              <a:buNone/>
            </a:pPr>
            <a:r>
              <a:rPr lang="en-IN" sz="1200" dirty="0"/>
              <a:t>[10] W. John, “Prerequisites for the calculation of the characteristic parameters of a single microstrip by solving a mixed boundary value problem,” Internal Report– TU Dortmund AG DAT, 2024.</a:t>
            </a:r>
          </a:p>
          <a:p>
            <a:pPr marL="0" indent="0">
              <a:buNone/>
            </a:pPr>
            <a:endParaRPr lang="en-IN" sz="1200" dirty="0"/>
          </a:p>
          <a:p>
            <a:pPr marL="0" indent="0" algn="l">
              <a:buNone/>
            </a:pPr>
            <a:endParaRPr lang="en-US" sz="2000" b="0" i="0" u="none" strike="noStrike" baseline="0" dirty="0"/>
          </a:p>
          <a:p>
            <a:pPr marL="0" indent="0" algn="l">
              <a:buNone/>
            </a:pPr>
            <a:endParaRPr lang="en-US" sz="2000" b="0" i="0" u="none" strike="noStrike" baseline="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47</a:t>
            </a:fld>
            <a:endParaRPr lang="en-GB" dirty="0"/>
          </a:p>
        </p:txBody>
      </p:sp>
    </p:spTree>
    <p:extLst>
      <p:ext uri="{BB962C8B-B14F-4D97-AF65-F5344CB8AC3E}">
        <p14:creationId xmlns:p14="http://schemas.microsoft.com/office/powerpoint/2010/main" val="372248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BDD5-B224-544F-F853-6E3A4A553D11}"/>
              </a:ext>
            </a:extLst>
          </p:cNvPr>
          <p:cNvSpPr>
            <a:spLocks noGrp="1"/>
          </p:cNvSpPr>
          <p:nvPr>
            <p:ph type="title"/>
          </p:nvPr>
        </p:nvSpPr>
        <p:spPr/>
        <p:txBody>
          <a:bodyPr>
            <a:normAutofit/>
          </a:bodyPr>
          <a:lstStyle/>
          <a:p>
            <a:r>
              <a:rPr lang="en-IN" sz="3200" dirty="0"/>
              <a:t>References</a:t>
            </a:r>
          </a:p>
        </p:txBody>
      </p:sp>
      <p:sp>
        <p:nvSpPr>
          <p:cNvPr id="3" name="Content Placeholder 2">
            <a:extLst>
              <a:ext uri="{FF2B5EF4-FFF2-40B4-BE49-F238E27FC236}">
                <a16:creationId xmlns:a16="http://schemas.microsoft.com/office/drawing/2014/main" id="{8DD1CB4E-9E31-6C84-05BC-BEB2EDA4FF6E}"/>
              </a:ext>
            </a:extLst>
          </p:cNvPr>
          <p:cNvSpPr>
            <a:spLocks noGrp="1"/>
          </p:cNvSpPr>
          <p:nvPr>
            <p:ph idx="1"/>
          </p:nvPr>
        </p:nvSpPr>
        <p:spPr>
          <a:xfrm>
            <a:off x="443345" y="1368425"/>
            <a:ext cx="11305309" cy="4351338"/>
          </a:xfrm>
        </p:spPr>
        <p:txBody>
          <a:bodyPr>
            <a:noAutofit/>
          </a:bodyPr>
          <a:lstStyle/>
          <a:p>
            <a:pPr marL="0" indent="0">
              <a:buNone/>
            </a:pPr>
            <a:r>
              <a:rPr lang="en-IN" sz="1200" dirty="0"/>
              <a:t>[11] E. G. </a:t>
            </a:r>
            <a:r>
              <a:rPr lang="en-IN" sz="1200" dirty="0" err="1"/>
              <a:t>Bakhoum</a:t>
            </a:r>
            <a:r>
              <a:rPr lang="en-IN" sz="1200" dirty="0"/>
              <a:t>, “Proof of </a:t>
            </a:r>
            <a:r>
              <a:rPr lang="en-IN" sz="1200" dirty="0" err="1"/>
              <a:t>thomson’s</a:t>
            </a:r>
            <a:r>
              <a:rPr lang="en-IN" sz="1200" dirty="0"/>
              <a:t> theorem of electrostatics,” Journal of electrostatics, vol. 66, no. 11-12, pp. 561–563, 2008.</a:t>
            </a:r>
          </a:p>
          <a:p>
            <a:pPr marL="0" indent="0">
              <a:buNone/>
            </a:pPr>
            <a:r>
              <a:rPr lang="en-IN" sz="1200" dirty="0"/>
              <a:t>[12] H. Ghraieb, J. </a:t>
            </a:r>
            <a:r>
              <a:rPr lang="en-IN" sz="1200" dirty="0" err="1"/>
              <a:t>Viquerat</a:t>
            </a:r>
            <a:r>
              <a:rPr lang="en-IN" sz="1200" dirty="0"/>
              <a:t>, A. </a:t>
            </a:r>
            <a:r>
              <a:rPr lang="en-IN" sz="1200" dirty="0" err="1"/>
              <a:t>Larcher</a:t>
            </a:r>
            <a:r>
              <a:rPr lang="en-IN" sz="1200" dirty="0"/>
              <a:t>, P. </a:t>
            </a:r>
            <a:r>
              <a:rPr lang="en-IN" sz="1200" dirty="0" err="1"/>
              <a:t>Meliga</a:t>
            </a:r>
            <a:r>
              <a:rPr lang="en-IN" sz="1200" dirty="0"/>
              <a:t>, and E. </a:t>
            </a:r>
            <a:r>
              <a:rPr lang="en-IN" sz="1200" dirty="0" err="1"/>
              <a:t>Hachem</a:t>
            </a:r>
            <a:r>
              <a:rPr lang="en-IN" sz="1200" dirty="0"/>
              <a:t>, “Single-step deep reinforcement learning for two-and three-dimensional optimal shape design,” AIP Advances, vol. 12, no. 8, p. 110080, 2022.</a:t>
            </a:r>
          </a:p>
          <a:p>
            <a:pPr marL="0" indent="0">
              <a:buNone/>
            </a:pPr>
            <a:r>
              <a:rPr lang="en-IN" sz="1200" dirty="0"/>
              <a:t>[13] J. </a:t>
            </a:r>
            <a:r>
              <a:rPr lang="en-IN" sz="1200" dirty="0" err="1"/>
              <a:t>Viquerat</a:t>
            </a:r>
            <a:r>
              <a:rPr lang="en-IN" sz="1200" dirty="0"/>
              <a:t>, J. </a:t>
            </a:r>
            <a:r>
              <a:rPr lang="en-IN" sz="1200" dirty="0" err="1"/>
              <a:t>Rabault</a:t>
            </a:r>
            <a:r>
              <a:rPr lang="en-IN" sz="1200" dirty="0"/>
              <a:t>, A. </a:t>
            </a:r>
            <a:r>
              <a:rPr lang="en-IN" sz="1200" dirty="0" err="1"/>
              <a:t>Kuhnle</a:t>
            </a:r>
            <a:r>
              <a:rPr lang="en-IN" sz="1200" dirty="0"/>
              <a:t>, H. Ghraieb, A. </a:t>
            </a:r>
            <a:r>
              <a:rPr lang="en-IN" sz="1200" dirty="0" err="1"/>
              <a:t>Larcher</a:t>
            </a:r>
            <a:r>
              <a:rPr lang="en-IN" sz="1200" dirty="0"/>
              <a:t>, and E. </a:t>
            </a:r>
            <a:r>
              <a:rPr lang="en-IN" sz="1200" dirty="0" err="1"/>
              <a:t>Hachem</a:t>
            </a:r>
            <a:r>
              <a:rPr lang="en-IN" sz="1200" dirty="0"/>
              <a:t>, “Direct shape optimization through deep reinforcement learning,” Journal of Computational Physics, vol. 428, p. 110080, 2021.</a:t>
            </a:r>
          </a:p>
          <a:p>
            <a:pPr marL="0" indent="0">
              <a:buNone/>
            </a:pPr>
            <a:r>
              <a:rPr lang="en-IN" sz="1200" dirty="0"/>
              <a:t>[14] W. John and G. </a:t>
            </a:r>
            <a:r>
              <a:rPr lang="en-IN" sz="1200" dirty="0" err="1"/>
              <a:t>Mrozynski</a:t>
            </a:r>
            <a:r>
              <a:rPr lang="en-IN" sz="1200" dirty="0"/>
              <a:t>, Calculation of the parameters of microstrip lines by solving a mixed boundary value problem. </a:t>
            </a:r>
            <a:r>
              <a:rPr lang="en-IN" sz="1200" dirty="0" err="1"/>
              <a:t>Cadlab</a:t>
            </a:r>
            <a:r>
              <a:rPr lang="en-IN" sz="1200" dirty="0"/>
              <a:t>, 1990.</a:t>
            </a:r>
          </a:p>
          <a:p>
            <a:pPr marL="0" indent="0">
              <a:buNone/>
            </a:pPr>
            <a:r>
              <a:rPr lang="en-IN" sz="1200" dirty="0"/>
              <a:t>[15] C. Hwang, “Machine learning applications in hardware design: </a:t>
            </a:r>
            <a:r>
              <a:rPr lang="en-IN" sz="1200" dirty="0" err="1"/>
              <a:t>Sipi</a:t>
            </a:r>
            <a:r>
              <a:rPr lang="en-IN" sz="1200" dirty="0"/>
              <a:t> </a:t>
            </a:r>
            <a:r>
              <a:rPr lang="en-IN" sz="1200" dirty="0" err="1"/>
              <a:t>perspective,”PowerPoint</a:t>
            </a:r>
            <a:r>
              <a:rPr lang="en-IN" sz="1200" dirty="0"/>
              <a:t> presentation, 2024, </a:t>
            </a:r>
            <a:r>
              <a:rPr lang="en-IN" sz="1200" dirty="0" err="1"/>
              <a:t>eMC</a:t>
            </a:r>
            <a:r>
              <a:rPr lang="en-IN" sz="1200" dirty="0"/>
              <a:t> Laboratory, Missouri S&amp;T, Rolla MO.</a:t>
            </a:r>
          </a:p>
          <a:p>
            <a:pPr marL="0" indent="0">
              <a:buNone/>
            </a:pPr>
            <a:r>
              <a:rPr lang="en-IN" sz="1200" dirty="0"/>
              <a:t>[16] M. S. </a:t>
            </a:r>
            <a:r>
              <a:rPr lang="en-IN" sz="1200" dirty="0" err="1"/>
              <a:t>Withöft</a:t>
            </a:r>
            <a:r>
              <a:rPr lang="en-IN" sz="1200" dirty="0"/>
              <a:t>, Julian, “Ga optimization program,” internal Communication.</a:t>
            </a:r>
          </a:p>
          <a:p>
            <a:pPr marL="0" indent="0">
              <a:buNone/>
            </a:pPr>
            <a:endParaRPr lang="en-IN" sz="1200" dirty="0"/>
          </a:p>
          <a:p>
            <a:pPr marL="0" indent="0">
              <a:buNone/>
            </a:pPr>
            <a:endParaRPr lang="en-IN" sz="1200" dirty="0"/>
          </a:p>
        </p:txBody>
      </p:sp>
      <p:sp>
        <p:nvSpPr>
          <p:cNvPr id="4" name="Date Placeholder 3">
            <a:extLst>
              <a:ext uri="{FF2B5EF4-FFF2-40B4-BE49-F238E27FC236}">
                <a16:creationId xmlns:a16="http://schemas.microsoft.com/office/drawing/2014/main" id="{7458BC5E-709A-4EDA-E617-F660DE9C491A}"/>
              </a:ext>
            </a:extLst>
          </p:cNvPr>
          <p:cNvSpPr>
            <a:spLocks noGrp="1"/>
          </p:cNvSpPr>
          <p:nvPr>
            <p:ph type="dt" sz="half" idx="10"/>
          </p:nvPr>
        </p:nvSpPr>
        <p:spPr/>
        <p:txBody>
          <a:bodyPr/>
          <a:lstStyle/>
          <a:p>
            <a:fld id="{E6248180-5DBD-4BD1-B27D-923A120346AF}" type="datetime2">
              <a:rPr lang="de-DE" smtClean="0"/>
              <a:t>Donnerstag, 12. September 2024</a:t>
            </a:fld>
            <a:endParaRPr lang="en-GB" dirty="0"/>
          </a:p>
        </p:txBody>
      </p:sp>
      <p:sp>
        <p:nvSpPr>
          <p:cNvPr id="5" name="Slide Number Placeholder 4">
            <a:extLst>
              <a:ext uri="{FF2B5EF4-FFF2-40B4-BE49-F238E27FC236}">
                <a16:creationId xmlns:a16="http://schemas.microsoft.com/office/drawing/2014/main" id="{35985C7A-67F9-A26D-A7B9-E3F6A93CACF9}"/>
              </a:ext>
            </a:extLst>
          </p:cNvPr>
          <p:cNvSpPr>
            <a:spLocks noGrp="1"/>
          </p:cNvSpPr>
          <p:nvPr>
            <p:ph type="sldNum" sz="quarter" idx="12"/>
          </p:nvPr>
        </p:nvSpPr>
        <p:spPr/>
        <p:txBody>
          <a:bodyPr/>
          <a:lstStyle/>
          <a:p>
            <a:fld id="{EECF65F8-F24C-4BCD-B573-6D272FD28F94}" type="slidenum">
              <a:rPr lang="en-GB" smtClean="0"/>
              <a:t>48</a:t>
            </a:fld>
            <a:endParaRPr lang="en-GB" dirty="0"/>
          </a:p>
        </p:txBody>
      </p:sp>
    </p:spTree>
    <p:extLst>
      <p:ext uri="{BB962C8B-B14F-4D97-AF65-F5344CB8AC3E}">
        <p14:creationId xmlns:p14="http://schemas.microsoft.com/office/powerpoint/2010/main" val="1428573978"/>
      </p:ext>
    </p:extLst>
  </p:cSld>
  <p:clrMapOvr>
    <a:masterClrMapping/>
  </p:clrMapOvr>
</p:sld>
</file>

<file path=ppt/theme/theme1.xml><?xml version="1.0" encoding="utf-8"?>
<a:theme xmlns:a="http://schemas.openxmlformats.org/drawingml/2006/main" name="Office">
  <a:themeElements>
    <a:clrScheme name="TU/DT">
      <a:dk1>
        <a:sysClr val="windowText" lastClr="000000"/>
      </a:dk1>
      <a:lt1>
        <a:sysClr val="window" lastClr="FFFFFF"/>
      </a:lt1>
      <a:dk2>
        <a:srgbClr val="999999"/>
      </a:dk2>
      <a:lt2>
        <a:srgbClr val="E7E6E6"/>
      </a:lt2>
      <a:accent1>
        <a:srgbClr val="84B81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4332</TotalTime>
  <Words>4012</Words>
  <Application>Microsoft Office PowerPoint</Application>
  <PresentationFormat>Widescreen</PresentationFormat>
  <Paragraphs>585</Paragraphs>
  <Slides>48</Slides>
  <Notes>9</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Cambria Math</vt:lpstr>
      <vt:lpstr>Wingdings</vt:lpstr>
      <vt:lpstr>Wingdings 3</vt:lpstr>
      <vt:lpstr>Office</vt:lpstr>
      <vt:lpstr>SHAPE OPTIMISATION USING DEEP REINFORCEMENT LEARNING METHODS</vt:lpstr>
      <vt:lpstr>Contents</vt:lpstr>
      <vt:lpstr>PowerPoint Presentation</vt:lpstr>
      <vt:lpstr>Motivation</vt:lpstr>
      <vt:lpstr>Motivation</vt:lpstr>
      <vt:lpstr>Motivation – Deep Reinforcement Learning</vt:lpstr>
      <vt:lpstr>Necessary Equations – Shape Optimisation</vt:lpstr>
      <vt:lpstr>Necessary Equations – Shape Optimisation</vt:lpstr>
      <vt:lpstr>Concept Development</vt:lpstr>
      <vt:lpstr>Methods Overview</vt:lpstr>
      <vt:lpstr>Degenerate Deep Reinforcement Learning</vt:lpstr>
      <vt:lpstr>Cubic Bézier Curve</vt:lpstr>
      <vt:lpstr>DRL Methods – Method 4</vt:lpstr>
      <vt:lpstr>DRL Methods – Method 4</vt:lpstr>
      <vt:lpstr>DRL Methods – Method 4 Training Results</vt:lpstr>
      <vt:lpstr>DRL Methods – Method 4</vt:lpstr>
      <vt:lpstr>DRL Methods – Method 4</vt:lpstr>
      <vt:lpstr>DRL Methods – Method 4</vt:lpstr>
      <vt:lpstr>DRL Methods – Method 4</vt:lpstr>
      <vt:lpstr>Test Case Results</vt:lpstr>
      <vt:lpstr>Test Case Results </vt:lpstr>
      <vt:lpstr>Reinforcement Learning &amp; Genetic Algorithm</vt:lpstr>
      <vt:lpstr>Reinforcement Learning &amp; Genetic Algorithm</vt:lpstr>
      <vt:lpstr>Reinforcement Learning &amp; Genetic Algorithm</vt:lpstr>
      <vt:lpstr>Reinforcement Learning &amp; Genetic Algorithm</vt:lpstr>
      <vt:lpstr>Reinforcement Learning &amp; Genetic Algorithm</vt:lpstr>
      <vt:lpstr>Conclusion and Future Scope</vt:lpstr>
      <vt:lpstr>PowerPoint Presentation</vt:lpstr>
      <vt:lpstr>Conclusion and Future Scope</vt:lpstr>
      <vt:lpstr>PowerPoint Presentation</vt:lpstr>
      <vt:lpstr>PowerPoint Presentation</vt:lpstr>
      <vt:lpstr>Shape Optimisation</vt:lpstr>
      <vt:lpstr>Deep Reinforcement Learning</vt:lpstr>
      <vt:lpstr>Concept Development – Method 1</vt:lpstr>
      <vt:lpstr>Concept Development – Method 1</vt:lpstr>
      <vt:lpstr>Concept Development – Method 1</vt:lpstr>
      <vt:lpstr>Concept Development – Method 1</vt:lpstr>
      <vt:lpstr>Training Parameters - Test Case 2.1 </vt:lpstr>
      <vt:lpstr>Concept Development – Method 2</vt:lpstr>
      <vt:lpstr>Concept Development – Method 2</vt:lpstr>
      <vt:lpstr>Concept Development – Method 2</vt:lpstr>
      <vt:lpstr>Concept Development – Method 3</vt:lpstr>
      <vt:lpstr>Concept Development – Method 3</vt:lpstr>
      <vt:lpstr>Concept Development – Method 3</vt:lpstr>
      <vt:lpstr>Concept Development – Soft Actor Critic</vt:lpstr>
      <vt:lpstr>Test Cases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daniel</dc:creator>
  <cp:lastModifiedBy>Philip Varghese Modayil</cp:lastModifiedBy>
  <cp:revision>113</cp:revision>
  <dcterms:created xsi:type="dcterms:W3CDTF">2021-04-16T13:05:27Z</dcterms:created>
  <dcterms:modified xsi:type="dcterms:W3CDTF">2024-09-12T09:01:38Z</dcterms:modified>
</cp:coreProperties>
</file>